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y="5143500" cx="9144000"/>
  <p:notesSz cx="6858000" cy="9144000"/>
  <p:embeddedFontLst>
    <p:embeddedFont>
      <p:font typeface="Roboto"/>
      <p:regular r:id="rId62"/>
      <p:bold r:id="rId63"/>
      <p:italic r:id="rId64"/>
      <p:boldItalic r:id="rId65"/>
    </p:embeddedFont>
    <p:embeddedFont>
      <p:font typeface="Helvetica Neue"/>
      <p:regular r:id="rId66"/>
      <p:bold r:id="rId67"/>
      <p:italic r:id="rId68"/>
      <p:boldItalic r:id="rId69"/>
    </p:embeddedFont>
    <p:embeddedFont>
      <p:font typeface="Helvetica Neue Light"/>
      <p:regular r:id="rId70"/>
      <p:bold r:id="rId71"/>
      <p:italic r:id="rId72"/>
      <p:boldItalic r:id="rId73"/>
    </p:embeddedFont>
    <p:embeddedFont>
      <p:font typeface="Comfortaa"/>
      <p:regular r:id="rId74"/>
      <p:bold r:id="rId75"/>
    </p:embeddedFont>
    <p:embeddedFont>
      <p:font typeface="IBM Plex Sans KR"/>
      <p:regular r:id="rId76"/>
      <p:bold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528319-6F98-4B39-B0ED-26271DCD7A62}">
  <a:tblStyle styleId="{FA528319-6F98-4B39-B0ED-26271DCD7A6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0967DA15-EF89-4B88-9AFB-408770A3312D}" styleName="Table_1">
    <a:wholeTbl>
      <a:tcTxStyle b="off" i="off">
        <a:font>
          <a:latin typeface="Helvetica Light"/>
          <a:ea typeface="Helvetica Light"/>
          <a:cs typeface="Helvetica Light"/>
        </a:font>
        <a:srgbClr val="141414"/>
      </a:tcTxStyle>
      <a:tcStyle>
        <a:tcBdr>
          <a:left>
            <a:ln cap="flat" cmpd="sng" w="12700">
              <a:solidFill>
                <a:srgbClr val="141414"/>
              </a:solidFill>
              <a:prstDash val="solid"/>
              <a:round/>
              <a:headEnd len="sm" w="sm" type="none"/>
              <a:tailEnd len="sm" w="sm" type="none"/>
            </a:ln>
          </a:left>
          <a:right>
            <a:ln cap="flat" cmpd="sng" w="12700">
              <a:solidFill>
                <a:srgbClr val="141414"/>
              </a:solidFill>
              <a:prstDash val="solid"/>
              <a:round/>
              <a:headEnd len="sm" w="sm" type="none"/>
              <a:tailEnd len="sm" w="sm" type="none"/>
            </a:ln>
          </a:right>
          <a:top>
            <a:ln cap="flat" cmpd="sng" w="12700">
              <a:solidFill>
                <a:srgbClr val="141414"/>
              </a:solidFill>
              <a:prstDash val="solid"/>
              <a:round/>
              <a:headEnd len="sm" w="sm" type="none"/>
              <a:tailEnd len="sm" w="sm" type="none"/>
            </a:ln>
          </a:top>
          <a:bottom>
            <a:ln cap="flat" cmpd="sng" w="12700">
              <a:solidFill>
                <a:srgbClr val="141414"/>
              </a:solidFill>
              <a:prstDash val="solid"/>
              <a:round/>
              <a:headEnd len="sm" w="sm" type="none"/>
              <a:tailEnd len="sm" w="sm" type="none"/>
            </a:ln>
          </a:bottom>
          <a:insideH>
            <a:ln cap="flat" cmpd="sng" w="12700">
              <a:solidFill>
                <a:srgbClr val="141414"/>
              </a:solidFill>
              <a:prstDash val="solid"/>
              <a:round/>
              <a:headEnd len="sm" w="sm" type="none"/>
              <a:tailEnd len="sm" w="sm" type="none"/>
            </a:ln>
          </a:insideH>
          <a:insideV>
            <a:ln cap="flat" cmpd="sng" w="12700">
              <a:solidFill>
                <a:srgbClr val="141414"/>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1084519-4279-44A9-911C-BBCF0D6E2461}" styleName="Table_2">
    <a:wholeTbl>
      <a:tcTxStyle b="off" i="off">
        <a:font>
          <a:latin typeface="Helvetica Light"/>
          <a:ea typeface="Helvetica Light"/>
          <a:cs typeface="Helvetica Light"/>
        </a:font>
        <a:srgbClr val="141414"/>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141414"/>
              </a:solidFill>
              <a:prstDash val="solid"/>
              <a:round/>
              <a:headEnd len="sm" w="sm" type="none"/>
              <a:tailEnd len="sm" w="sm" type="none"/>
            </a:ln>
          </a:top>
          <a:bottom>
            <a:ln cap="flat" cmpd="sng" w="12700">
              <a:solidFill>
                <a:srgbClr val="14141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141414">
              <a:alpha val="20000"/>
            </a:srgbClr>
          </a:solidFill>
        </a:fill>
      </a:tcStyle>
    </a:band1H>
    <a:band2H>
      <a:tcTxStyle b="off" i="off"/>
    </a:band2H>
    <a:band1V>
      <a:tcTxStyle b="off" i="off"/>
      <a:tcStyle>
        <a:fill>
          <a:solidFill>
            <a:srgbClr val="141414">
              <a:alpha val="20000"/>
            </a:srgbClr>
          </a:solidFill>
        </a:fill>
      </a:tcStyle>
    </a:band1V>
    <a:band2V>
      <a:tcTxStyle b="off" i="off"/>
    </a:band2V>
    <a:lastCol>
      <a:tcTxStyle b="on" i="off"/>
    </a:lastCol>
    <a:firstCol>
      <a:tcTxStyle b="on" i="off"/>
    </a:firstCol>
    <a:lastRow>
      <a:tcTxStyle b="on" i="off"/>
      <a:tcStyle>
        <a:tcBdr>
          <a:top>
            <a:ln cap="flat" cmpd="sng" w="12700">
              <a:solidFill>
                <a:srgbClr val="141414"/>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141414"/>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HelveticaNeueLight-boldItalic.fntdata"/><Relationship Id="rId72" Type="http://schemas.openxmlformats.org/officeDocument/2006/relationships/font" Target="fonts/HelveticaNeueLight-italic.fntdata"/><Relationship Id="rId31" Type="http://schemas.openxmlformats.org/officeDocument/2006/relationships/slide" Target="slides/slide24.xml"/><Relationship Id="rId75" Type="http://schemas.openxmlformats.org/officeDocument/2006/relationships/font" Target="fonts/Comfortaa-bold.fntdata"/><Relationship Id="rId30" Type="http://schemas.openxmlformats.org/officeDocument/2006/relationships/slide" Target="slides/slide23.xml"/><Relationship Id="rId74" Type="http://schemas.openxmlformats.org/officeDocument/2006/relationships/font" Target="fonts/Comfortaa-regular.fntdata"/><Relationship Id="rId33" Type="http://schemas.openxmlformats.org/officeDocument/2006/relationships/slide" Target="slides/slide26.xml"/><Relationship Id="rId77" Type="http://schemas.openxmlformats.org/officeDocument/2006/relationships/font" Target="fonts/IBMPlexSansKR-bold.fntdata"/><Relationship Id="rId32" Type="http://schemas.openxmlformats.org/officeDocument/2006/relationships/slide" Target="slides/slide25.xml"/><Relationship Id="rId76" Type="http://schemas.openxmlformats.org/officeDocument/2006/relationships/font" Target="fonts/IBMPlexSansKR-regular.fntdata"/><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HelveticaNeueLight-bold.fntdata"/><Relationship Id="rId70" Type="http://schemas.openxmlformats.org/officeDocument/2006/relationships/font" Target="fonts/HelveticaNeueLight-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Roboto-regular.fntdata"/><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Roboto-italic.fntdata"/><Relationship Id="rId63" Type="http://schemas.openxmlformats.org/officeDocument/2006/relationships/font" Target="fonts/Roboto-bold.fntdata"/><Relationship Id="rId22" Type="http://schemas.openxmlformats.org/officeDocument/2006/relationships/slide" Target="slides/slide15.xml"/><Relationship Id="rId66" Type="http://schemas.openxmlformats.org/officeDocument/2006/relationships/font" Target="fonts/HelveticaNeue-regular.fntdata"/><Relationship Id="rId21" Type="http://schemas.openxmlformats.org/officeDocument/2006/relationships/slide" Target="slides/slide14.xml"/><Relationship Id="rId65" Type="http://schemas.openxmlformats.org/officeDocument/2006/relationships/font" Target="fonts/Roboto-boldItalic.fntdata"/><Relationship Id="rId24" Type="http://schemas.openxmlformats.org/officeDocument/2006/relationships/slide" Target="slides/slide17.xml"/><Relationship Id="rId68" Type="http://schemas.openxmlformats.org/officeDocument/2006/relationships/font" Target="fonts/HelveticaNeue-italic.fntdata"/><Relationship Id="rId23" Type="http://schemas.openxmlformats.org/officeDocument/2006/relationships/slide" Target="slides/slide16.xml"/><Relationship Id="rId67" Type="http://schemas.openxmlformats.org/officeDocument/2006/relationships/font" Target="fonts/HelveticaNeue-bold.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HelveticaNeue-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409b080f9e9_2_54: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409b080f9e9_2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09b080f9e9_2_63: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g409b080f9e9_2_63: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409b080f9e9_2_69: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122" name="Google Shape;122;g409b080f9e9_2_69:notes"/>
          <p:cNvSpPr/>
          <p:nvPr>
            <p:ph idx="2" type="sldImg"/>
          </p:nvPr>
        </p:nvSpPr>
        <p:spPr>
          <a:xfrm>
            <a:off x="391617" y="685250"/>
            <a:ext cx="60747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409b080f9e9_2_76: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g409b080f9e9_2_76: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409b080f9e9_2_82:notes"/>
          <p:cNvSpPr/>
          <p:nvPr>
            <p:ph idx="2" type="sldImg"/>
          </p:nvPr>
        </p:nvSpPr>
        <p:spPr>
          <a:xfrm>
            <a:off x="390051" y="685250"/>
            <a:ext cx="6077899" cy="342939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g409b080f9e9_2_82: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409b080f9e9_2_91: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147" name="Google Shape;147;g409b080f9e9_2_91:notes"/>
          <p:cNvSpPr/>
          <p:nvPr>
            <p:ph idx="2" type="sldImg"/>
          </p:nvPr>
        </p:nvSpPr>
        <p:spPr>
          <a:xfrm>
            <a:off x="391617" y="685250"/>
            <a:ext cx="60747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409b080f9e9_2_102: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g409b080f9e9_2_102: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409b080f9e9_2_108:notes"/>
          <p:cNvSpPr/>
          <p:nvPr>
            <p:ph idx="2" type="sldImg"/>
          </p:nvPr>
        </p:nvSpPr>
        <p:spPr>
          <a:xfrm>
            <a:off x="390051" y="685250"/>
            <a:ext cx="6077899" cy="3429393"/>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g409b080f9e9_2_108: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409b080f9e9_2_115: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g409b080f9e9_2_115: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409b080f9e9_2_121: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g409b080f9e9_2_121: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409b080f9e9_2_127: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g409b080f9e9_2_127: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409b080f9e9_2_133: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g409b080f9e9_2_133: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409b080f9e9_2_139: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409b080f9e9_2_139: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409b080f9e9_2_145: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g409b080f9e9_2_145: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409b080f9e9_2_151: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g409b080f9e9_2_151: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409b080f9e9_2_157: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g409b080f9e9_2_157: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409b080f9e9_2_163: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g409b080f9e9_2_163: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409b080f9e9_2_169: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g409b080f9e9_2_169: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409b080f9e9_2_175: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g409b080f9e9_2_175: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409b080f9e9_2_182: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g409b080f9e9_2_182: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409b080f9e9_2_188: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g409b080f9e9_2_188: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409b080f9e9_2_194: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g409b080f9e9_2_194: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409b080f9e9_2_200: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g409b080f9e9_2_200: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409b080f9e9_2_206: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409b080f9e9_2_206: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409b080f9e9_2_212: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g409b080f9e9_2_212: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409b080f9e9_2_218: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g409b080f9e9_2_218: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409b080f9e9_2_224: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g409b080f9e9_2_224: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409b080f9e9_2_230: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g409b080f9e9_2_230: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409b080f9e9_2_236: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g409b080f9e9_2_236: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409b080f9e9_2_242: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g409b080f9e9_2_242: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409b080f9e9_2_248: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g409b080f9e9_2_248: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409b080f9e9_2_254: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g409b080f9e9_2_254: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409b080f9e9_2_261: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g409b080f9e9_2_261: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409b080f9e9_2_267: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g409b080f9e9_2_267: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409b080f9e9_2_273: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g409b080f9e9_2_273: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409b080f9e9_2_280: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g409b080f9e9_2_280: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409b080f9e9_2_291: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378" name="Google Shape;378;g409b080f9e9_2_291:notes"/>
          <p:cNvSpPr/>
          <p:nvPr>
            <p:ph idx="2" type="sldImg"/>
          </p:nvPr>
        </p:nvSpPr>
        <p:spPr>
          <a:xfrm>
            <a:off x="391617" y="685250"/>
            <a:ext cx="6074766" cy="342939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409b080f9e9_2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409b080f9e9_2_2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409b080f9e9_2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g409b080f9e9_2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409b080f9e9_2_310: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g409b080f9e9_2_310: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409b080f9e9_2_316: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407" name="Google Shape;407;g409b080f9e9_2_316:notes"/>
          <p:cNvSpPr/>
          <p:nvPr>
            <p:ph idx="2" type="sldImg"/>
          </p:nvPr>
        </p:nvSpPr>
        <p:spPr>
          <a:xfrm>
            <a:off x="391617" y="685250"/>
            <a:ext cx="60747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409b080f9e9_2_324: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416" name="Google Shape;416;g409b080f9e9_2_324:notes"/>
          <p:cNvSpPr/>
          <p:nvPr>
            <p:ph idx="2" type="sldImg"/>
          </p:nvPr>
        </p:nvSpPr>
        <p:spPr>
          <a:xfrm>
            <a:off x="391617" y="685250"/>
            <a:ext cx="60747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409b080f9e9_2_330: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423" name="Google Shape;423;g409b080f9e9_2_330:notes"/>
          <p:cNvSpPr/>
          <p:nvPr>
            <p:ph idx="2" type="sldImg"/>
          </p:nvPr>
        </p:nvSpPr>
        <p:spPr>
          <a:xfrm>
            <a:off x="391617" y="685250"/>
            <a:ext cx="60747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409b080f9e9_2_336: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430" name="Google Shape;430;g409b080f9e9_2_336:notes"/>
          <p:cNvSpPr/>
          <p:nvPr>
            <p:ph idx="2" type="sldImg"/>
          </p:nvPr>
        </p:nvSpPr>
        <p:spPr>
          <a:xfrm>
            <a:off x="391617" y="685250"/>
            <a:ext cx="60747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409b080f9e9_2_342: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437" name="Google Shape;437;g409b080f9e9_2_342:notes"/>
          <p:cNvSpPr/>
          <p:nvPr>
            <p:ph idx="2" type="sldImg"/>
          </p:nvPr>
        </p:nvSpPr>
        <p:spPr>
          <a:xfrm>
            <a:off x="391617" y="685250"/>
            <a:ext cx="60747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409b080f9e9_2_348:notes"/>
          <p:cNvSpPr txBox="1"/>
          <p:nvPr>
            <p:ph idx="1" type="body"/>
          </p:nvPr>
        </p:nvSpPr>
        <p:spPr>
          <a:xfrm>
            <a:off x="914400" y="4343400"/>
            <a:ext cx="5029200" cy="4114800"/>
          </a:xfrm>
          <a:prstGeom prst="rect">
            <a:avLst/>
          </a:prstGeom>
          <a:noFill/>
          <a:ln>
            <a:noFill/>
          </a:ln>
        </p:spPr>
        <p:txBody>
          <a:bodyPr anchorCtr="0" anchor="t" bIns="90325" lIns="90325" spcFirstLastPara="1" rIns="90325" wrap="square" tIns="90325">
            <a:noAutofit/>
          </a:bodyPr>
          <a:lstStyle/>
          <a:p>
            <a:pPr indent="0" lvl="0" marL="0" rtl="0" algn="l">
              <a:lnSpc>
                <a:spcPct val="100000"/>
              </a:lnSpc>
              <a:spcBef>
                <a:spcPts val="0"/>
              </a:spcBef>
              <a:spcAft>
                <a:spcPts val="0"/>
              </a:spcAft>
              <a:buSzPts val="1100"/>
              <a:buNone/>
            </a:pPr>
            <a:r>
              <a:t/>
            </a:r>
            <a:endParaRPr/>
          </a:p>
        </p:txBody>
      </p:sp>
      <p:sp>
        <p:nvSpPr>
          <p:cNvPr id="444" name="Google Shape;444;g409b080f9e9_2_348:notes"/>
          <p:cNvSpPr/>
          <p:nvPr>
            <p:ph idx="2" type="sldImg"/>
          </p:nvPr>
        </p:nvSpPr>
        <p:spPr>
          <a:xfrm>
            <a:off x="391617" y="685250"/>
            <a:ext cx="60747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409b080f9e9_2_354:notes"/>
          <p:cNvSpPr/>
          <p:nvPr>
            <p:ph idx="2" type="sldImg"/>
          </p:nvPr>
        </p:nvSpPr>
        <p:spPr>
          <a:xfrm>
            <a:off x="390051" y="685250"/>
            <a:ext cx="6078000" cy="3429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g409b080f9e9_2_354: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409b080f9e9_2_360:notes"/>
          <p:cNvSpPr/>
          <p:nvPr>
            <p:ph idx="2" type="sldImg"/>
          </p:nvPr>
        </p:nvSpPr>
        <p:spPr>
          <a:xfrm>
            <a:off x="390051" y="685250"/>
            <a:ext cx="6077899" cy="3429393"/>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g409b080f9e9_2_360:notes"/>
          <p:cNvSpPr txBox="1"/>
          <p:nvPr>
            <p:ph idx="1" type="body"/>
          </p:nvPr>
        </p:nvSpPr>
        <p:spPr>
          <a:xfrm>
            <a:off x="685800" y="4343400"/>
            <a:ext cx="5486400" cy="4114800"/>
          </a:xfrm>
          <a:prstGeom prst="rect">
            <a:avLst/>
          </a:prstGeom>
          <a:noFill/>
          <a:ln>
            <a:noFill/>
          </a:ln>
        </p:spPr>
        <p:txBody>
          <a:bodyPr anchorCtr="0" anchor="t" bIns="91350" lIns="91350" spcFirstLastPara="1" rIns="91350" wrap="square" tIns="91350">
            <a:noAutofit/>
          </a:bodyPr>
          <a:lstStyle/>
          <a:p>
            <a:pPr indent="0" lvl="0" marL="0" rtl="0" algn="l">
              <a:lnSpc>
                <a:spcPct val="117999"/>
              </a:lnSpc>
              <a:spcBef>
                <a:spcPts val="0"/>
              </a:spcBef>
              <a:spcAft>
                <a:spcPts val="0"/>
              </a:spcAft>
              <a:buSzPts val="1100"/>
              <a:buNone/>
            </a:pPr>
            <a:r>
              <a:t/>
            </a:r>
            <a:endParaRPr sz="14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409b080f9e9_2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g409b080f9e9_2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409b080f9e9_2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g409b080f9e9_2_3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409b080f9e9_2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g409b080f9e9_2_3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409b080f9e9_2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g409b080f9e9_2_3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409b080f9e9_2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g409b080f9e9_2_3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409b080f9e9_2_392:notes"/>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6" name="Google Shape;496;g409b080f9e9_2_3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A (white logo)">
  <p:cSld name="1_Title slide A (white logo)">
    <p:spTree>
      <p:nvGrpSpPr>
        <p:cNvPr id="53" name="Shape 53"/>
        <p:cNvGrpSpPr/>
        <p:nvPr/>
      </p:nvGrpSpPr>
      <p:grpSpPr>
        <a:xfrm>
          <a:off x="0" y="0"/>
          <a:ext cx="0" cy="0"/>
          <a:chOff x="0" y="0"/>
          <a:chExt cx="0" cy="0"/>
        </a:xfrm>
      </p:grpSpPr>
      <p:sp>
        <p:nvSpPr>
          <p:cNvPr id="54" name="Google Shape;54;p14"/>
          <p:cNvSpPr/>
          <p:nvPr>
            <p:ph idx="2" type="pic"/>
          </p:nvPr>
        </p:nvSpPr>
        <p:spPr>
          <a:xfrm>
            <a:off x="0" y="0"/>
            <a:ext cx="9144000" cy="3215100"/>
          </a:xfrm>
          <a:prstGeom prst="rect">
            <a:avLst/>
          </a:prstGeom>
          <a:solidFill>
            <a:schemeClr val="dk1"/>
          </a:solidFill>
          <a:ln>
            <a:noFill/>
          </a:ln>
        </p:spPr>
      </p:sp>
      <p:sp>
        <p:nvSpPr>
          <p:cNvPr id="55" name="Google Shape;55;p14"/>
          <p:cNvSpPr txBox="1"/>
          <p:nvPr>
            <p:ph type="title"/>
          </p:nvPr>
        </p:nvSpPr>
        <p:spPr>
          <a:xfrm>
            <a:off x="264007" y="3331836"/>
            <a:ext cx="7020000" cy="10638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1"/>
              </a:buClr>
              <a:buSzPts val="3800"/>
              <a:buFont typeface="Roboto"/>
              <a:buNone/>
              <a:defRPr b="1" i="0" sz="38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14"/>
          <p:cNvSpPr txBox="1"/>
          <p:nvPr>
            <p:ph idx="1" type="subTitle"/>
          </p:nvPr>
        </p:nvSpPr>
        <p:spPr>
          <a:xfrm>
            <a:off x="264008" y="4446814"/>
            <a:ext cx="1515300" cy="4599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1pPr>
            <a:lvl2pPr lvl="1" marR="0" rtl="0" algn="ctr">
              <a:lnSpc>
                <a:spcPct val="11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lvl="2" marR="0" rtl="0" algn="ctr">
              <a:lnSpc>
                <a:spcPct val="110000"/>
              </a:lnSpc>
              <a:spcBef>
                <a:spcPts val="9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lvl="3" marR="0" rtl="0" algn="ctr">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lvl="4" marR="0" rtl="0" algn="ctr">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lvl="5" marR="0" rtl="0" algn="ctr">
              <a:lnSpc>
                <a:spcPct val="9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pic>
        <p:nvPicPr>
          <p:cNvPr id="57" name="Google Shape;57;p14"/>
          <p:cNvPicPr preferRelativeResize="0"/>
          <p:nvPr/>
        </p:nvPicPr>
        <p:blipFill rotWithShape="1">
          <a:blip r:embed="rId2">
            <a:alphaModFix/>
          </a:blip>
          <a:srcRect b="0" l="0" r="0" t="0"/>
          <a:stretch/>
        </p:blipFill>
        <p:spPr>
          <a:xfrm>
            <a:off x="6640522" y="3304696"/>
            <a:ext cx="2239473" cy="85383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Helvetica Neue Light"/>
              <a:buNone/>
              <a:defRPr b="0" i="0" sz="1400" u="none" cap="none" strike="noStrike">
                <a:solidFill>
                  <a:srgbClr val="000000"/>
                </a:solidFill>
                <a:latin typeface="Arial"/>
                <a:ea typeface="Arial"/>
                <a:cs typeface="Arial"/>
                <a:sym typeface="Arial"/>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0"/>
              </a:spcBef>
              <a:spcAft>
                <a:spcPts val="0"/>
              </a:spcAft>
              <a:buClr>
                <a:srgbClr val="000000"/>
              </a:buClr>
              <a:buSzPts val="1800"/>
              <a:buFont typeface="Helvetica Neue Light"/>
              <a:buChar char="●"/>
              <a:defRPr b="0" i="0" sz="14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Helvetica Neue Light"/>
              <a:buChar char="○"/>
              <a:defRPr b="0" i="0" sz="14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Helvetica Neue Light"/>
              <a:buChar char="■"/>
              <a:defRPr b="0" i="0" sz="14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Helvetica Neue Light"/>
              <a:buChar char="●"/>
              <a:defRPr b="0" i="0" sz="14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Helvetica Neue Light"/>
              <a:buChar char="○"/>
              <a:defRPr b="0" i="0" sz="14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Helvetica Neue Light"/>
              <a:buChar char="■"/>
              <a:defRPr b="0" i="0" sz="14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Helvetica Neue Light"/>
              <a:buChar char="●"/>
              <a:defRPr b="0" i="0" sz="14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Helvetica Neue Light"/>
              <a:buChar char="○"/>
              <a:defRPr b="0" i="0" sz="14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Helvetica Neue Light"/>
              <a:buChar char="■"/>
              <a:defRPr b="0" i="0" sz="1400" u="none" cap="none" strike="noStrike">
                <a:solidFill>
                  <a:srgbClr val="000000"/>
                </a:solidFill>
                <a:latin typeface="Arial"/>
                <a:ea typeface="Arial"/>
                <a:cs typeface="Arial"/>
                <a:sym typeface="Arial"/>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100"/>
              <a:buFont typeface="Helvetica Neue Light"/>
              <a:buNone/>
              <a:defRPr b="0" i="0" sz="1100" u="none" cap="none" strike="noStrike">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62" name="Shape 62"/>
        <p:cNvGrpSpPr/>
        <p:nvPr/>
      </p:nvGrpSpPr>
      <p:grpSpPr>
        <a:xfrm>
          <a:off x="0" y="0"/>
          <a:ext cx="0" cy="0"/>
          <a:chOff x="0" y="0"/>
          <a:chExt cx="0" cy="0"/>
        </a:xfrm>
      </p:grpSpPr>
      <p:sp>
        <p:nvSpPr>
          <p:cNvPr id="63" name="Google Shape;63;p16"/>
          <p:cNvSpPr txBox="1"/>
          <p:nvPr>
            <p:ph idx="1" type="body"/>
          </p:nvPr>
        </p:nvSpPr>
        <p:spPr>
          <a:xfrm>
            <a:off x="892969" y="3355330"/>
            <a:ext cx="7358100" cy="295200"/>
          </a:xfrm>
          <a:prstGeom prst="rect">
            <a:avLst/>
          </a:prstGeom>
          <a:noFill/>
          <a:ln>
            <a:noFill/>
          </a:ln>
        </p:spPr>
        <p:txBody>
          <a:bodyPr anchorCtr="0" anchor="t" bIns="31875" lIns="31875" spcFirstLastPara="1" rIns="31875" wrap="square" tIns="31875">
            <a:spAutoFit/>
          </a:bodyPr>
          <a:lstStyle>
            <a:lvl1pPr indent="-228600" lvl="0" marL="457200" marR="0" rtl="0" algn="ctr">
              <a:lnSpc>
                <a:spcPct val="100000"/>
              </a:lnSpc>
              <a:spcBef>
                <a:spcPts val="0"/>
              </a:spcBef>
              <a:spcAft>
                <a:spcPts val="0"/>
              </a:spcAft>
              <a:buClr>
                <a:srgbClr val="000000"/>
              </a:buClr>
              <a:buSzPts val="1500"/>
              <a:buFont typeface="Helvetica Neue Light"/>
              <a:buNone/>
              <a:defRPr b="0" i="0" sz="1500" u="none" cap="none" strike="noStrike">
                <a:solidFill>
                  <a:srgbClr val="000000"/>
                </a:solidFill>
                <a:latin typeface="Arial"/>
                <a:ea typeface="Arial"/>
                <a:cs typeface="Arial"/>
                <a:sym typeface="Arial"/>
              </a:defRPr>
            </a:lvl1pPr>
            <a:lvl2pPr indent="-314325" lvl="1" marL="9144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2pPr>
            <a:lvl3pPr indent="-314325" lvl="2" marL="13716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3pPr>
            <a:lvl4pPr indent="-314325" lvl="3" marL="18288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4pPr>
            <a:lvl5pPr indent="-314325" lvl="4" marL="22860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5pPr>
            <a:lvl6pPr indent="-314325" lvl="5" marL="27432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6pPr>
            <a:lvl7pPr indent="-314325" lvl="6" marL="32004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7pPr>
            <a:lvl8pPr indent="-314325" lvl="7" marL="36576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8pPr>
            <a:lvl9pPr indent="-314325" lvl="8" marL="41148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9pPr>
          </a:lstStyle>
          <a:p/>
        </p:txBody>
      </p:sp>
      <p:sp>
        <p:nvSpPr>
          <p:cNvPr id="64" name="Google Shape;64;p16"/>
          <p:cNvSpPr txBox="1"/>
          <p:nvPr>
            <p:ph idx="2" type="body"/>
          </p:nvPr>
        </p:nvSpPr>
        <p:spPr>
          <a:xfrm>
            <a:off x="892969" y="2214243"/>
            <a:ext cx="7358100" cy="433800"/>
          </a:xfrm>
          <a:prstGeom prst="rect">
            <a:avLst/>
          </a:prstGeom>
          <a:noFill/>
          <a:ln>
            <a:noFill/>
          </a:ln>
        </p:spPr>
        <p:txBody>
          <a:bodyPr anchorCtr="0" anchor="ctr" bIns="31875" lIns="31875" spcFirstLastPara="1" rIns="31875" wrap="square" tIns="31875">
            <a:spAutoFit/>
          </a:bodyPr>
          <a:lstStyle>
            <a:lvl1pPr indent="-228600" lvl="0" marL="45720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Arial"/>
                <a:ea typeface="Arial"/>
                <a:cs typeface="Arial"/>
                <a:sym typeface="Arial"/>
              </a:defRPr>
            </a:lvl1pPr>
            <a:lvl2pPr indent="-314325" lvl="1" marL="9144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2pPr>
            <a:lvl3pPr indent="-314325" lvl="2" marL="13716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3pPr>
            <a:lvl4pPr indent="-314325" lvl="3" marL="18288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4pPr>
            <a:lvl5pPr indent="-314325" lvl="4" marL="22860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5pPr>
            <a:lvl6pPr indent="-314325" lvl="5" marL="27432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6pPr>
            <a:lvl7pPr indent="-314325" lvl="6" marL="32004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7pPr>
            <a:lvl8pPr indent="-314325" lvl="7" marL="36576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8pPr>
            <a:lvl9pPr indent="-314325" lvl="8" marL="41148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9pPr>
          </a:lstStyle>
          <a:p/>
        </p:txBody>
      </p:sp>
      <p:sp>
        <p:nvSpPr>
          <p:cNvPr id="65" name="Google Shape;65;p16"/>
          <p:cNvSpPr txBox="1"/>
          <p:nvPr>
            <p:ph idx="12" type="sldNum"/>
          </p:nvPr>
        </p:nvSpPr>
        <p:spPr>
          <a:xfrm>
            <a:off x="4449575" y="4878958"/>
            <a:ext cx="235800" cy="233700"/>
          </a:xfrm>
          <a:prstGeom prst="rect">
            <a:avLst/>
          </a:prstGeom>
          <a:noFill/>
          <a:ln>
            <a:noFill/>
          </a:ln>
        </p:spPr>
        <p:txBody>
          <a:bodyPr anchorCtr="0" anchor="t" bIns="31875" lIns="31875" spcFirstLastPara="1" rIns="31875" wrap="square" tIns="31875">
            <a:spAutoFit/>
          </a:bodyPr>
          <a:lstStyle>
            <a:lvl1pPr indent="0" lvl="0"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sz="8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B (black logo)">
  <p:cSld name="1_Title slide B (black logo)">
    <p:spTree>
      <p:nvGrpSpPr>
        <p:cNvPr id="66" name="Shape 66"/>
        <p:cNvGrpSpPr/>
        <p:nvPr/>
      </p:nvGrpSpPr>
      <p:grpSpPr>
        <a:xfrm>
          <a:off x="0" y="0"/>
          <a:ext cx="0" cy="0"/>
          <a:chOff x="0" y="0"/>
          <a:chExt cx="0" cy="0"/>
        </a:xfrm>
      </p:grpSpPr>
      <p:sp>
        <p:nvSpPr>
          <p:cNvPr id="67" name="Google Shape;67;p17"/>
          <p:cNvSpPr/>
          <p:nvPr>
            <p:ph idx="2" type="pic"/>
          </p:nvPr>
        </p:nvSpPr>
        <p:spPr>
          <a:xfrm>
            <a:off x="0" y="0"/>
            <a:ext cx="9144000" cy="3215100"/>
          </a:xfrm>
          <a:prstGeom prst="rect">
            <a:avLst/>
          </a:prstGeom>
          <a:solidFill>
            <a:schemeClr val="dk2"/>
          </a:solidFill>
          <a:ln>
            <a:noFill/>
          </a:ln>
        </p:spPr>
      </p:sp>
      <p:sp>
        <p:nvSpPr>
          <p:cNvPr id="68" name="Google Shape;68;p17"/>
          <p:cNvSpPr txBox="1"/>
          <p:nvPr>
            <p:ph type="title"/>
          </p:nvPr>
        </p:nvSpPr>
        <p:spPr>
          <a:xfrm>
            <a:off x="264007" y="3331836"/>
            <a:ext cx="7020000" cy="10638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1"/>
              </a:buClr>
              <a:buSzPts val="3800"/>
              <a:buFont typeface="Roboto"/>
              <a:buNone/>
              <a:defRPr b="1" i="0" sz="38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9" name="Google Shape;69;p17"/>
          <p:cNvSpPr txBox="1"/>
          <p:nvPr>
            <p:ph idx="1" type="subTitle"/>
          </p:nvPr>
        </p:nvSpPr>
        <p:spPr>
          <a:xfrm>
            <a:off x="264008" y="4446814"/>
            <a:ext cx="1515300" cy="4599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1pPr>
            <a:lvl2pPr lvl="1" marR="0" rtl="0" algn="ctr">
              <a:lnSpc>
                <a:spcPct val="11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lvl="2" marR="0" rtl="0" algn="ctr">
              <a:lnSpc>
                <a:spcPct val="110000"/>
              </a:lnSpc>
              <a:spcBef>
                <a:spcPts val="9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lvl="3" marR="0" rtl="0" algn="ctr">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lvl="4" marR="0" rtl="0" algn="ctr">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lvl="5" marR="0" rtl="0" algn="ctr">
              <a:lnSpc>
                <a:spcPct val="9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pic>
        <p:nvPicPr>
          <p:cNvPr id="70" name="Google Shape;70;p17"/>
          <p:cNvPicPr preferRelativeResize="0"/>
          <p:nvPr/>
        </p:nvPicPr>
        <p:blipFill rotWithShape="1">
          <a:blip r:embed="rId2">
            <a:alphaModFix/>
          </a:blip>
          <a:srcRect b="0" l="0" r="0" t="0"/>
          <a:stretch/>
        </p:blipFill>
        <p:spPr>
          <a:xfrm>
            <a:off x="6640522" y="3304696"/>
            <a:ext cx="2239473" cy="85383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1" name="Shape 71"/>
        <p:cNvGrpSpPr/>
        <p:nvPr/>
      </p:nvGrpSpPr>
      <p:grpSpPr>
        <a:xfrm>
          <a:off x="0" y="0"/>
          <a:ext cx="0" cy="0"/>
          <a:chOff x="0" y="0"/>
          <a:chExt cx="0" cy="0"/>
        </a:xfrm>
      </p:grpSpPr>
      <p:sp>
        <p:nvSpPr>
          <p:cNvPr id="72" name="Google Shape;72;p18"/>
          <p:cNvSpPr txBox="1"/>
          <p:nvPr>
            <p:ph type="title"/>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1"/>
              </a:buClr>
              <a:buSzPts val="2100"/>
              <a:buFont typeface="Arial"/>
              <a:buNone/>
              <a:defRPr b="1" i="0" sz="2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3" name="Google Shape;73;p18"/>
          <p:cNvSpPr txBox="1"/>
          <p:nvPr>
            <p:ph idx="1" type="body"/>
          </p:nvPr>
        </p:nvSpPr>
        <p:spPr>
          <a:xfrm>
            <a:off x="0" y="0"/>
            <a:ext cx="2250000" cy="2250000"/>
          </a:xfrm>
          <a:prstGeom prst="rect">
            <a:avLst/>
          </a:prstGeom>
          <a:noFill/>
          <a:ln>
            <a:noFill/>
          </a:ln>
        </p:spPr>
        <p:txBody>
          <a:bodyPr anchorCtr="0" anchor="t" bIns="34275" lIns="68575" spcFirstLastPara="1" rIns="68575" wrap="square" tIns="34275">
            <a:noAutofit/>
          </a:bodyPr>
          <a:lstStyle>
            <a:lvl1pPr indent="-304800" lvl="0" marL="457200" marR="0" rtl="0" algn="l">
              <a:lnSpc>
                <a:spcPct val="11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1pPr>
            <a:lvl2pPr indent="-304800" lvl="1" marL="9144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17500" lvl="3" marL="18288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4" name="Google Shape;74;p18"/>
          <p:cNvSpPr txBox="1"/>
          <p:nvPr>
            <p:ph idx="10" type="dt"/>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75" name="Google Shape;75;p18"/>
          <p:cNvSpPr txBox="1"/>
          <p:nvPr>
            <p:ph idx="11" type="ftr"/>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76" name="Google Shape;76;p18"/>
          <p:cNvSpPr txBox="1"/>
          <p:nvPr>
            <p:ph idx="12" type="sldNum"/>
          </p:nvPr>
        </p:nvSpPr>
        <p:spPr>
          <a:xfrm>
            <a:off x="8501063" y="4686895"/>
            <a:ext cx="310800" cy="156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C (white logo + lime line)">
  <p:cSld name="1_Title slide C (white logo + lime line)">
    <p:spTree>
      <p:nvGrpSpPr>
        <p:cNvPr id="77" name="Shape 77"/>
        <p:cNvGrpSpPr/>
        <p:nvPr/>
      </p:nvGrpSpPr>
      <p:grpSpPr>
        <a:xfrm>
          <a:off x="0" y="0"/>
          <a:ext cx="0" cy="0"/>
          <a:chOff x="0" y="0"/>
          <a:chExt cx="0" cy="0"/>
        </a:xfrm>
      </p:grpSpPr>
      <p:sp>
        <p:nvSpPr>
          <p:cNvPr id="78" name="Google Shape;78;p19"/>
          <p:cNvSpPr/>
          <p:nvPr>
            <p:ph idx="2" type="pic"/>
          </p:nvPr>
        </p:nvSpPr>
        <p:spPr>
          <a:xfrm>
            <a:off x="0" y="0"/>
            <a:ext cx="9144000" cy="4995000"/>
          </a:xfrm>
          <a:prstGeom prst="rect">
            <a:avLst/>
          </a:prstGeom>
          <a:solidFill>
            <a:srgbClr val="595959"/>
          </a:solidFill>
          <a:ln>
            <a:noFill/>
          </a:ln>
        </p:spPr>
      </p:sp>
      <p:sp>
        <p:nvSpPr>
          <p:cNvPr id="79" name="Google Shape;79;p19"/>
          <p:cNvSpPr/>
          <p:nvPr/>
        </p:nvSpPr>
        <p:spPr>
          <a:xfrm>
            <a:off x="0" y="4994910"/>
            <a:ext cx="9144000" cy="148500"/>
          </a:xfrm>
          <a:prstGeom prst="rect">
            <a:avLst/>
          </a:prstGeom>
          <a:gradFill>
            <a:gsLst>
              <a:gs pos="0">
                <a:srgbClr val="00569F"/>
              </a:gs>
              <a:gs pos="100000">
                <a:srgbClr val="63FFBD"/>
              </a:gs>
            </a:gsLst>
            <a:lin ang="0" scaled="0"/>
          </a:gradFill>
          <a:ln>
            <a:noFill/>
          </a:ln>
        </p:spPr>
        <p:txBody>
          <a:bodyPr anchorCtr="0" anchor="ctr" bIns="34275" lIns="68575" spcFirstLastPara="1" rIns="68575" wrap="square" tIns="34275">
            <a:noAutofit/>
          </a:bodyPr>
          <a:lstStyle/>
          <a:p>
            <a:pPr indent="0" lvl="0" marL="0" marR="0" rtl="0" algn="ctr">
              <a:lnSpc>
                <a:spcPct val="11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80" name="Google Shape;80;p19"/>
          <p:cNvSpPr txBox="1"/>
          <p:nvPr>
            <p:ph type="title"/>
          </p:nvPr>
        </p:nvSpPr>
        <p:spPr>
          <a:xfrm>
            <a:off x="264007" y="3331836"/>
            <a:ext cx="7020000" cy="10638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3800"/>
              <a:buFont typeface="Roboto"/>
              <a:buNone/>
              <a:defRPr b="1" i="0" sz="38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81" name="Google Shape;81;p19"/>
          <p:cNvSpPr txBox="1"/>
          <p:nvPr>
            <p:ph idx="1" type="subTitle"/>
          </p:nvPr>
        </p:nvSpPr>
        <p:spPr>
          <a:xfrm>
            <a:off x="264008" y="4446814"/>
            <a:ext cx="1515300" cy="4599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Roboto"/>
                <a:ea typeface="Roboto"/>
                <a:cs typeface="Roboto"/>
                <a:sym typeface="Roboto"/>
              </a:defRPr>
            </a:lvl1pPr>
            <a:lvl2pPr lvl="1" marR="0" rtl="0" algn="ctr">
              <a:lnSpc>
                <a:spcPct val="110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2pPr>
            <a:lvl3pPr lvl="2" marR="0" rtl="0" algn="ctr">
              <a:lnSpc>
                <a:spcPct val="110000"/>
              </a:lnSpc>
              <a:spcBef>
                <a:spcPts val="9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lvl="3" marR="0" rtl="0" algn="ctr">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4pPr>
            <a:lvl5pPr lvl="4" marR="0" rtl="0" algn="ctr">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5pPr>
            <a:lvl6pPr lvl="5" marR="0" rtl="0" algn="ctr">
              <a:lnSpc>
                <a:spcPct val="9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pic>
        <p:nvPicPr>
          <p:cNvPr id="82" name="Google Shape;82;p19"/>
          <p:cNvPicPr preferRelativeResize="0"/>
          <p:nvPr/>
        </p:nvPicPr>
        <p:blipFill rotWithShape="1">
          <a:blip r:embed="rId2">
            <a:alphaModFix/>
          </a:blip>
          <a:srcRect b="0" l="0" r="0" t="0"/>
          <a:stretch/>
        </p:blipFill>
        <p:spPr>
          <a:xfrm>
            <a:off x="6640523" y="3304696"/>
            <a:ext cx="2239466" cy="85383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 slide">
  <p:cSld name="2_Agenda slide">
    <p:spTree>
      <p:nvGrpSpPr>
        <p:cNvPr id="83" name="Shape 83"/>
        <p:cNvGrpSpPr/>
        <p:nvPr/>
      </p:nvGrpSpPr>
      <p:grpSpPr>
        <a:xfrm>
          <a:off x="0" y="0"/>
          <a:ext cx="0" cy="0"/>
          <a:chOff x="0" y="0"/>
          <a:chExt cx="0" cy="0"/>
        </a:xfrm>
      </p:grpSpPr>
      <p:sp>
        <p:nvSpPr>
          <p:cNvPr id="84" name="Google Shape;84;p20"/>
          <p:cNvSpPr txBox="1"/>
          <p:nvPr>
            <p:ph idx="12" type="sldNum"/>
          </p:nvPr>
        </p:nvSpPr>
        <p:spPr>
          <a:xfrm>
            <a:off x="8501063" y="4686895"/>
            <a:ext cx="310800" cy="156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85" name="Google Shape;85;p20"/>
          <p:cNvSpPr txBox="1"/>
          <p:nvPr>
            <p:ph idx="1" type="body"/>
          </p:nvPr>
        </p:nvSpPr>
        <p:spPr>
          <a:xfrm>
            <a:off x="900113" y="1231074"/>
            <a:ext cx="3644400" cy="3150300"/>
          </a:xfrm>
          <a:prstGeom prst="rect">
            <a:avLst/>
          </a:prstGeom>
          <a:noFill/>
          <a:ln>
            <a:noFill/>
          </a:ln>
        </p:spPr>
        <p:txBody>
          <a:bodyPr anchorCtr="0" anchor="t" bIns="34275" lIns="68575" spcFirstLastPara="1" rIns="68575" wrap="square" tIns="34275">
            <a:noAutofit/>
          </a:bodyPr>
          <a:lstStyle>
            <a:lvl1pPr indent="-304800" lvl="0" marL="457200" marR="0" rtl="0" algn="l">
              <a:lnSpc>
                <a:spcPct val="110000"/>
              </a:lnSpc>
              <a:spcBef>
                <a:spcPts val="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1pPr>
            <a:lvl2pPr indent="-228600" lvl="1" marL="914400" marR="0" rtl="0" algn="l">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304800" lvl="2" marL="13716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28600" lvl="3" marL="1828800" marR="0" rtl="0" algn="l">
              <a:lnSpc>
                <a:spcPct val="110000"/>
              </a:lnSpc>
              <a:spcBef>
                <a:spcPts val="9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lnSpc>
                <a:spcPct val="110000"/>
              </a:lnSpc>
              <a:spcBef>
                <a:spcPts val="9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6" name="Google Shape;86;p20"/>
          <p:cNvSpPr txBox="1"/>
          <p:nvPr/>
        </p:nvSpPr>
        <p:spPr>
          <a:xfrm>
            <a:off x="5395912" y="422315"/>
            <a:ext cx="3672000" cy="514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2100"/>
              <a:buFont typeface="Arial"/>
              <a:buNone/>
            </a:pPr>
            <a:r>
              <a:t/>
            </a:r>
            <a:endParaRPr b="1" i="0" sz="2100" u="none" cap="none" strike="noStrike">
              <a:solidFill>
                <a:schemeClr val="dk1"/>
              </a:solidFill>
              <a:latin typeface="Arial"/>
              <a:ea typeface="Arial"/>
              <a:cs typeface="Arial"/>
              <a:sym typeface="Arial"/>
            </a:endParaRPr>
          </a:p>
        </p:txBody>
      </p:sp>
      <p:sp>
        <p:nvSpPr>
          <p:cNvPr id="87" name="Google Shape;87;p20"/>
          <p:cNvSpPr txBox="1"/>
          <p:nvPr>
            <p:ph idx="2" type="body"/>
          </p:nvPr>
        </p:nvSpPr>
        <p:spPr>
          <a:xfrm>
            <a:off x="900113" y="422315"/>
            <a:ext cx="3644400" cy="5148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10000"/>
              </a:lnSpc>
              <a:spcBef>
                <a:spcPts val="0"/>
              </a:spcBef>
              <a:spcAft>
                <a:spcPts val="0"/>
              </a:spcAft>
              <a:buClr>
                <a:schemeClr val="dk1"/>
              </a:buClr>
              <a:buSzPts val="2100"/>
              <a:buFont typeface="Arial"/>
              <a:buNone/>
              <a:defRPr b="1" i="0" sz="2100" u="none" cap="none" strike="noStrike">
                <a:solidFill>
                  <a:schemeClr val="dk1"/>
                </a:solidFill>
                <a:latin typeface="Arial"/>
                <a:ea typeface="Arial"/>
                <a:cs typeface="Arial"/>
                <a:sym typeface="Arial"/>
              </a:defRPr>
            </a:lvl1pPr>
            <a:lvl2pPr indent="-228600" lvl="1" marL="914400" marR="0" rtl="0" algn="l">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304800" lvl="2" marL="13716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17500" lvl="3" marL="18288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8" name="Google Shape;88;p20"/>
          <p:cNvSpPr/>
          <p:nvPr/>
        </p:nvSpPr>
        <p:spPr>
          <a:xfrm>
            <a:off x="0" y="4994909"/>
            <a:ext cx="9144000" cy="156600"/>
          </a:xfrm>
          <a:prstGeom prst="rect">
            <a:avLst/>
          </a:prstGeom>
          <a:gradFill>
            <a:gsLst>
              <a:gs pos="0">
                <a:srgbClr val="00569F"/>
              </a:gs>
              <a:gs pos="100000">
                <a:srgbClr val="63FFBD"/>
              </a:gs>
            </a:gsLst>
            <a:lin ang="0" scaled="0"/>
          </a:gradFill>
          <a:ln>
            <a:noFill/>
          </a:ln>
        </p:spPr>
        <p:txBody>
          <a:bodyPr anchorCtr="0" anchor="ctr" bIns="34275" lIns="68575" spcFirstLastPara="1" rIns="68575" wrap="square" tIns="34275">
            <a:noAutofit/>
          </a:bodyPr>
          <a:lstStyle/>
          <a:p>
            <a:pPr indent="0" lvl="0" marL="0" marR="0" rtl="0" algn="ctr">
              <a:lnSpc>
                <a:spcPct val="11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mp; Text ">
  <p:cSld name="3_Title &amp; Text ">
    <p:spTree>
      <p:nvGrpSpPr>
        <p:cNvPr id="89" name="Shape 89"/>
        <p:cNvGrpSpPr/>
        <p:nvPr/>
      </p:nvGrpSpPr>
      <p:grpSpPr>
        <a:xfrm>
          <a:off x="0" y="0"/>
          <a:ext cx="0" cy="0"/>
          <a:chOff x="0" y="0"/>
          <a:chExt cx="0" cy="0"/>
        </a:xfrm>
      </p:grpSpPr>
      <p:sp>
        <p:nvSpPr>
          <p:cNvPr id="90" name="Google Shape;90;p21"/>
          <p:cNvSpPr txBox="1"/>
          <p:nvPr>
            <p:ph idx="12" type="sldNum"/>
          </p:nvPr>
        </p:nvSpPr>
        <p:spPr>
          <a:xfrm>
            <a:off x="8501063" y="4686895"/>
            <a:ext cx="310800" cy="156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91" name="Google Shape;91;p21"/>
          <p:cNvSpPr txBox="1"/>
          <p:nvPr>
            <p:ph idx="1" type="body"/>
          </p:nvPr>
        </p:nvSpPr>
        <p:spPr>
          <a:xfrm>
            <a:off x="294640" y="885763"/>
            <a:ext cx="8517300" cy="36576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10000"/>
              </a:lnSpc>
              <a:spcBef>
                <a:spcPts val="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1pPr>
            <a:lvl2pPr indent="-304800" lvl="1" marL="9144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17500" lvl="3" marL="18288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92" name="Google Shape;92;p21"/>
          <p:cNvSpPr txBox="1"/>
          <p:nvPr>
            <p:ph idx="2" type="body"/>
          </p:nvPr>
        </p:nvSpPr>
        <p:spPr>
          <a:xfrm>
            <a:off x="294640" y="219687"/>
            <a:ext cx="6927600" cy="4731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10000"/>
              </a:lnSpc>
              <a:spcBef>
                <a:spcPts val="0"/>
              </a:spcBef>
              <a:spcAft>
                <a:spcPts val="0"/>
              </a:spcAft>
              <a:buClr>
                <a:schemeClr val="dk1"/>
              </a:buClr>
              <a:buSzPts val="1600"/>
              <a:buFont typeface="Arial"/>
              <a:buNone/>
              <a:defRPr b="1" i="0" sz="1600" u="none" cap="none" strike="noStrike">
                <a:solidFill>
                  <a:schemeClr val="dk1"/>
                </a:solidFill>
                <a:latin typeface="Roboto"/>
                <a:ea typeface="Roboto"/>
                <a:cs typeface="Roboto"/>
                <a:sym typeface="Roboto"/>
              </a:defRPr>
            </a:lvl1pPr>
            <a:lvl2pPr indent="-228600" lvl="1" marL="914400" marR="0" rtl="0" algn="l">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304800" lvl="2" marL="13716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17500" lvl="3" marL="18288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cxnSp>
        <p:nvCxnSpPr>
          <p:cNvPr id="93" name="Google Shape;93;p21"/>
          <p:cNvCxnSpPr/>
          <p:nvPr/>
        </p:nvCxnSpPr>
        <p:spPr>
          <a:xfrm>
            <a:off x="294640" y="692836"/>
            <a:ext cx="6927600" cy="0"/>
          </a:xfrm>
          <a:prstGeom prst="straightConnector1">
            <a:avLst/>
          </a:prstGeom>
          <a:noFill/>
          <a:ln cap="flat" cmpd="sng" w="28575">
            <a:solidFill>
              <a:srgbClr val="00569F"/>
            </a:solidFill>
            <a:prstDash val="solid"/>
            <a:miter lim="8000"/>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mp; Text (+lime line)">
  <p:cSld name="3_Title &amp; Text (+lime line)">
    <p:spTree>
      <p:nvGrpSpPr>
        <p:cNvPr id="94" name="Shape 94"/>
        <p:cNvGrpSpPr/>
        <p:nvPr/>
      </p:nvGrpSpPr>
      <p:grpSpPr>
        <a:xfrm>
          <a:off x="0" y="0"/>
          <a:ext cx="0" cy="0"/>
          <a:chOff x="0" y="0"/>
          <a:chExt cx="0" cy="0"/>
        </a:xfrm>
      </p:grpSpPr>
      <p:sp>
        <p:nvSpPr>
          <p:cNvPr id="95" name="Google Shape;95;p22"/>
          <p:cNvSpPr txBox="1"/>
          <p:nvPr>
            <p:ph idx="12" type="sldNum"/>
          </p:nvPr>
        </p:nvSpPr>
        <p:spPr>
          <a:xfrm>
            <a:off x="8501063" y="4686895"/>
            <a:ext cx="310800" cy="156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96" name="Google Shape;96;p22"/>
          <p:cNvSpPr txBox="1"/>
          <p:nvPr>
            <p:ph idx="1" type="body"/>
          </p:nvPr>
        </p:nvSpPr>
        <p:spPr>
          <a:xfrm>
            <a:off x="294640" y="885763"/>
            <a:ext cx="8517300" cy="36576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10000"/>
              </a:lnSpc>
              <a:spcBef>
                <a:spcPts val="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1pPr>
            <a:lvl2pPr indent="-304800" lvl="1" marL="9144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2pPr>
            <a:lvl3pPr indent="-304800" lvl="2" marL="13716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17500" lvl="3" marL="18288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97" name="Google Shape;97;p22"/>
          <p:cNvSpPr txBox="1"/>
          <p:nvPr>
            <p:ph idx="2" type="body"/>
          </p:nvPr>
        </p:nvSpPr>
        <p:spPr>
          <a:xfrm>
            <a:off x="294640" y="219687"/>
            <a:ext cx="6927600" cy="4731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10000"/>
              </a:lnSpc>
              <a:spcBef>
                <a:spcPts val="0"/>
              </a:spcBef>
              <a:spcAft>
                <a:spcPts val="0"/>
              </a:spcAft>
              <a:buClr>
                <a:schemeClr val="dk1"/>
              </a:buClr>
              <a:buSzPts val="1600"/>
              <a:buFont typeface="Arial"/>
              <a:buNone/>
              <a:defRPr b="1" i="0" sz="1600" u="none" cap="none" strike="noStrike">
                <a:solidFill>
                  <a:schemeClr val="dk1"/>
                </a:solidFill>
                <a:latin typeface="Roboto"/>
                <a:ea typeface="Roboto"/>
                <a:cs typeface="Roboto"/>
                <a:sym typeface="Roboto"/>
              </a:defRPr>
            </a:lvl1pPr>
            <a:lvl2pPr indent="-228600" lvl="1" marL="914400" marR="0" rtl="0" algn="l">
              <a:lnSpc>
                <a:spcPct val="110000"/>
              </a:lnSpc>
              <a:spcBef>
                <a:spcPts val="9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2pPr>
            <a:lvl3pPr indent="-304800" lvl="2" marL="1371600" marR="0" rtl="0" algn="l">
              <a:lnSpc>
                <a:spcPct val="110000"/>
              </a:lnSpc>
              <a:spcBef>
                <a:spcPts val="9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317500" lvl="3" marL="18288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9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98" name="Google Shape;98;p22"/>
          <p:cNvSpPr/>
          <p:nvPr/>
        </p:nvSpPr>
        <p:spPr>
          <a:xfrm>
            <a:off x="0" y="4986932"/>
            <a:ext cx="9144000" cy="156600"/>
          </a:xfrm>
          <a:prstGeom prst="rect">
            <a:avLst/>
          </a:prstGeom>
          <a:gradFill>
            <a:gsLst>
              <a:gs pos="0">
                <a:srgbClr val="00569F"/>
              </a:gs>
              <a:gs pos="100000">
                <a:srgbClr val="63FFBD"/>
              </a:gs>
            </a:gsLst>
            <a:lin ang="0" scaled="0"/>
          </a:gradFill>
          <a:ln>
            <a:noFill/>
          </a:ln>
        </p:spPr>
        <p:txBody>
          <a:bodyPr anchorCtr="0" anchor="ctr" bIns="34275" lIns="68575" spcFirstLastPara="1" rIns="68575" wrap="square" tIns="34275">
            <a:noAutofit/>
          </a:bodyPr>
          <a:lstStyle/>
          <a:p>
            <a:pPr indent="0" lvl="0" marL="0" marR="0" rtl="0" algn="ctr">
              <a:lnSpc>
                <a:spcPct val="11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cxnSp>
        <p:nvCxnSpPr>
          <p:cNvPr id="99" name="Google Shape;99;p22"/>
          <p:cNvCxnSpPr/>
          <p:nvPr/>
        </p:nvCxnSpPr>
        <p:spPr>
          <a:xfrm>
            <a:off x="294640" y="692836"/>
            <a:ext cx="6927600" cy="0"/>
          </a:xfrm>
          <a:prstGeom prst="straightConnector1">
            <a:avLst/>
          </a:prstGeom>
          <a:noFill/>
          <a:ln cap="flat" cmpd="sng" w="28575">
            <a:solidFill>
              <a:srgbClr val="00569F"/>
            </a:solidFill>
            <a:prstDash val="solid"/>
            <a:miter lim="8000"/>
            <a:headEnd len="sm" w="sm" type="none"/>
            <a:tailEnd len="sm" w="sm"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itle">
  <p:cSld name="TITLE">
    <p:spTree>
      <p:nvGrpSpPr>
        <p:cNvPr id="100" name="Shape 100"/>
        <p:cNvGrpSpPr/>
        <p:nvPr/>
      </p:nvGrpSpPr>
      <p:grpSpPr>
        <a:xfrm>
          <a:off x="0" y="0"/>
          <a:ext cx="0" cy="0"/>
          <a:chOff x="0" y="0"/>
          <a:chExt cx="0" cy="0"/>
        </a:xfrm>
      </p:grpSpPr>
      <p:sp>
        <p:nvSpPr>
          <p:cNvPr id="101" name="Google Shape;101;p23"/>
          <p:cNvSpPr txBox="1"/>
          <p:nvPr>
            <p:ph type="title"/>
          </p:nvPr>
        </p:nvSpPr>
        <p:spPr>
          <a:xfrm>
            <a:off x="892969" y="863947"/>
            <a:ext cx="7358100" cy="1741200"/>
          </a:xfrm>
          <a:prstGeom prst="rect">
            <a:avLst/>
          </a:prstGeom>
          <a:noFill/>
          <a:ln>
            <a:noFill/>
          </a:ln>
        </p:spPr>
        <p:txBody>
          <a:bodyPr anchorCtr="0" anchor="b" bIns="31875" lIns="31875" spcFirstLastPara="1" rIns="31875" wrap="square" tIns="31875">
            <a:normAutofit/>
          </a:bodyPr>
          <a:lstStyle>
            <a:lvl1pPr lvl="0"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102" name="Google Shape;102;p23"/>
          <p:cNvSpPr txBox="1"/>
          <p:nvPr>
            <p:ph idx="1" type="body"/>
          </p:nvPr>
        </p:nvSpPr>
        <p:spPr>
          <a:xfrm>
            <a:off x="892969" y="2652117"/>
            <a:ext cx="7358100" cy="596100"/>
          </a:xfrm>
          <a:prstGeom prst="rect">
            <a:avLst/>
          </a:prstGeom>
          <a:noFill/>
          <a:ln>
            <a:noFill/>
          </a:ln>
        </p:spPr>
        <p:txBody>
          <a:bodyPr anchorCtr="0" anchor="t" bIns="31875" lIns="31875" spcFirstLastPara="1" rIns="31875" wrap="square" tIns="31875">
            <a:normAutofit/>
          </a:bodyPr>
          <a:lstStyle>
            <a:lvl1pPr indent="-228600" lvl="0" marL="457200" marR="0" rtl="0" algn="ctr">
              <a:lnSpc>
                <a:spcPct val="100000"/>
              </a:lnSpc>
              <a:spcBef>
                <a:spcPts val="0"/>
              </a:spcBef>
              <a:spcAft>
                <a:spcPts val="0"/>
              </a:spcAft>
              <a:buClr>
                <a:srgbClr val="000000"/>
              </a:buClr>
              <a:buSzPts val="2000"/>
              <a:buFont typeface="Helvetica Neue Light"/>
              <a:buNone/>
              <a:defRPr b="0" i="0" sz="20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2000"/>
              <a:buFont typeface="Helvetica Neue Light"/>
              <a:buNone/>
              <a:defRPr b="0" i="0" sz="20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2000"/>
              <a:buFont typeface="Helvetica Neue Light"/>
              <a:buNone/>
              <a:defRPr b="0" i="0" sz="20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2000"/>
              <a:buFont typeface="Helvetica Neue Light"/>
              <a:buNone/>
              <a:defRPr b="0" i="0" sz="20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2000"/>
              <a:buFont typeface="Helvetica Neue Light"/>
              <a:buNone/>
              <a:defRPr b="0" i="0" sz="2000" u="none" cap="none" strike="noStrike">
                <a:solidFill>
                  <a:srgbClr val="000000"/>
                </a:solidFill>
                <a:latin typeface="Arial"/>
                <a:ea typeface="Arial"/>
                <a:cs typeface="Arial"/>
                <a:sym typeface="Arial"/>
              </a:defRPr>
            </a:lvl5pPr>
            <a:lvl6pPr indent="-314325" lvl="5" marL="27432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6pPr>
            <a:lvl7pPr indent="-314325" lvl="6" marL="32004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7pPr>
            <a:lvl8pPr indent="-314325" lvl="7" marL="36576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8pPr>
            <a:lvl9pPr indent="-314325" lvl="8" marL="4114800" marR="0" rtl="0" algn="l">
              <a:lnSpc>
                <a:spcPct val="100000"/>
              </a:lnSpc>
              <a:spcBef>
                <a:spcPts val="2636"/>
              </a:spcBef>
              <a:spcAft>
                <a:spcPts val="0"/>
              </a:spcAft>
              <a:buClr>
                <a:srgbClr val="000000"/>
              </a:buClr>
              <a:buSzPts val="1350"/>
              <a:buFont typeface="Arial"/>
              <a:buChar char="■"/>
              <a:defRPr b="0" i="0" sz="1400" u="none" cap="none" strike="noStrike">
                <a:solidFill>
                  <a:srgbClr val="000000"/>
                </a:solidFill>
                <a:latin typeface="Arial"/>
                <a:ea typeface="Arial"/>
                <a:cs typeface="Arial"/>
                <a:sym typeface="Arial"/>
              </a:defRPr>
            </a:lvl9pPr>
          </a:lstStyle>
          <a:p/>
        </p:txBody>
      </p:sp>
      <p:sp>
        <p:nvSpPr>
          <p:cNvPr id="103" name="Google Shape;103;p23"/>
          <p:cNvSpPr txBox="1"/>
          <p:nvPr>
            <p:ph idx="12" type="sldNum"/>
          </p:nvPr>
        </p:nvSpPr>
        <p:spPr>
          <a:xfrm>
            <a:off x="4449575" y="4878958"/>
            <a:ext cx="235800" cy="233700"/>
          </a:xfrm>
          <a:prstGeom prst="rect">
            <a:avLst/>
          </a:prstGeom>
          <a:noFill/>
          <a:ln>
            <a:noFill/>
          </a:ln>
        </p:spPr>
        <p:txBody>
          <a:bodyPr anchorCtr="0" anchor="t" bIns="31875" lIns="31875" spcFirstLastPara="1" rIns="31875" wrap="square" tIns="31875">
            <a:spAutoFit/>
          </a:bodyPr>
          <a:lstStyle>
            <a:lvl1pPr indent="0" lvl="0"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1100"/>
              <a:buFont typeface="Helvetica Neue Light"/>
              <a:buNone/>
              <a:defRPr b="0" i="0" sz="11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GB"/>
              <a:t>‹#›</a:t>
            </a:fld>
            <a:endParaRPr sz="80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3.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01063" y="4686895"/>
            <a:ext cx="310800" cy="156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2" name="Google Shape;52;p13"/>
          <p:cNvPicPr preferRelativeResize="0"/>
          <p:nvPr/>
        </p:nvPicPr>
        <p:blipFill rotWithShape="1">
          <a:blip r:embed="rId1">
            <a:alphaModFix/>
          </a:blip>
          <a:srcRect b="0" l="0" r="0" t="0"/>
          <a:stretch/>
        </p:blipFill>
        <p:spPr>
          <a:xfrm>
            <a:off x="7251988" y="0"/>
            <a:ext cx="1892010" cy="7213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56">
          <p15:clr>
            <a:srgbClr val="F26B43"/>
          </p15:clr>
        </p15:guide>
        <p15:guide id="2" pos="2863">
          <p15:clr>
            <a:srgbClr val="F26B43"/>
          </p15:clr>
        </p15:guide>
        <p15:guide id="3" pos="567">
          <p15:clr>
            <a:srgbClr val="F26B43"/>
          </p15:clr>
        </p15:guide>
        <p15:guide id="4" pos="4989">
          <p15:clr>
            <a:srgbClr val="F26B43"/>
          </p15:clr>
        </p15:guide>
        <p15:guide id="5" pos="2693">
          <p15:clr>
            <a:srgbClr val="F26B43"/>
          </p15:clr>
        </p15:guide>
        <p15:guide id="6" pos="5551">
          <p15:clr>
            <a:srgbClr val="F26B43"/>
          </p15:clr>
        </p15:guide>
        <p15:guide id="7" orient="horz" pos="2760">
          <p15:clr>
            <a:srgbClr val="F26B43"/>
          </p15:clr>
        </p15:guide>
        <p15:guide id="8" orient="horz" pos="16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19.png"/><Relationship Id="rId4"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17.png"/><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2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 Id="rId3" Type="http://schemas.openxmlformats.org/officeDocument/2006/relationships/image" Target="../media/image21.png"/><Relationship Id="rId4" Type="http://schemas.openxmlformats.org/officeDocument/2006/relationships/hyperlink" Target="http://www.oneworks.com.my/" TargetMode="External"/><Relationship Id="rId5" Type="http://schemas.openxmlformats.org/officeDocument/2006/relationships/hyperlink" Target="http://www.carfix.m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4"/>
          <p:cNvPicPr preferRelativeResize="0"/>
          <p:nvPr>
            <p:ph idx="2" type="pic"/>
          </p:nvPr>
        </p:nvPicPr>
        <p:blipFill rotWithShape="1">
          <a:blip r:embed="rId3">
            <a:alphaModFix/>
          </a:blip>
          <a:srcRect b="14011" l="0" r="0" t="14011"/>
          <a:stretch/>
        </p:blipFill>
        <p:spPr>
          <a:xfrm>
            <a:off x="0" y="0"/>
            <a:ext cx="9144002" cy="3215098"/>
          </a:xfrm>
          <a:prstGeom prst="rect">
            <a:avLst/>
          </a:prstGeom>
          <a:solidFill>
            <a:schemeClr val="dk1"/>
          </a:solidFill>
          <a:ln>
            <a:noFill/>
          </a:ln>
        </p:spPr>
      </p:pic>
      <p:sp>
        <p:nvSpPr>
          <p:cNvPr id="109" name="Google Shape;109;p24"/>
          <p:cNvSpPr txBox="1"/>
          <p:nvPr>
            <p:ph type="title"/>
          </p:nvPr>
        </p:nvSpPr>
        <p:spPr>
          <a:xfrm>
            <a:off x="181896" y="3346325"/>
            <a:ext cx="4416600" cy="7965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rgbClr val="000000"/>
              </a:buClr>
              <a:buSzPts val="5000"/>
              <a:buFont typeface="IBM Plex Sans KR"/>
              <a:buNone/>
            </a:pPr>
            <a:r>
              <a:rPr lang="en-GB" sz="2500">
                <a:solidFill>
                  <a:srgbClr val="000000"/>
                </a:solidFill>
                <a:latin typeface="IBM Plex Sans KR"/>
                <a:ea typeface="IBM Plex Sans KR"/>
                <a:cs typeface="IBM Plex Sans KR"/>
                <a:sym typeface="IBM Plex Sans KR"/>
              </a:rPr>
              <a:t>MONTHLY REPORTING FOR </a:t>
            </a:r>
            <a:endParaRPr sz="2500">
              <a:solidFill>
                <a:srgbClr val="000000"/>
              </a:solidFill>
              <a:latin typeface="IBM Plex Sans KR"/>
              <a:ea typeface="IBM Plex Sans KR"/>
              <a:cs typeface="IBM Plex Sans KR"/>
              <a:sym typeface="IBM Plex Sans KR"/>
            </a:endParaRPr>
          </a:p>
          <a:p>
            <a:pPr indent="0" lvl="0" marL="0" rtl="0" algn="l">
              <a:lnSpc>
                <a:spcPct val="100000"/>
              </a:lnSpc>
              <a:spcBef>
                <a:spcPts val="0"/>
              </a:spcBef>
              <a:spcAft>
                <a:spcPts val="0"/>
              </a:spcAft>
              <a:buClr>
                <a:srgbClr val="000000"/>
              </a:buClr>
              <a:buSzPts val="5000"/>
              <a:buFont typeface="IBM Plex Sans KR"/>
              <a:buNone/>
            </a:pPr>
            <a:r>
              <a:rPr lang="en-GB" sz="2500" u="sng">
                <a:solidFill>
                  <a:srgbClr val="0365C0"/>
                </a:solidFill>
                <a:latin typeface="Comfortaa"/>
                <a:ea typeface="Comfortaa"/>
                <a:cs typeface="Comfortaa"/>
                <a:sym typeface="Comfortaa"/>
              </a:rPr>
              <a:t>Proton e.MAS</a:t>
            </a:r>
            <a:endParaRPr b="0" sz="2500" u="sng">
              <a:solidFill>
                <a:srgbClr val="0365C0"/>
              </a:solidFill>
              <a:latin typeface="Comfortaa"/>
              <a:ea typeface="Comfortaa"/>
              <a:cs typeface="Comfortaa"/>
              <a:sym typeface="Comfortaa"/>
            </a:endParaRPr>
          </a:p>
          <a:p>
            <a:pPr indent="0" lvl="0" marL="0" rtl="0" algn="l">
              <a:lnSpc>
                <a:spcPct val="90000"/>
              </a:lnSpc>
              <a:spcBef>
                <a:spcPts val="0"/>
              </a:spcBef>
              <a:spcAft>
                <a:spcPts val="0"/>
              </a:spcAft>
              <a:buClr>
                <a:schemeClr val="dk1"/>
              </a:buClr>
              <a:buSzPts val="2400"/>
              <a:buFont typeface="Arial"/>
              <a:buNone/>
            </a:pPr>
            <a:r>
              <a:t/>
            </a:r>
            <a:endParaRPr sz="2500">
              <a:latin typeface="Arial"/>
              <a:ea typeface="Arial"/>
              <a:cs typeface="Arial"/>
              <a:sym typeface="Arial"/>
            </a:endParaRPr>
          </a:p>
        </p:txBody>
      </p:sp>
      <p:sp>
        <p:nvSpPr>
          <p:cNvPr id="110" name="Google Shape;110;p24"/>
          <p:cNvSpPr txBox="1"/>
          <p:nvPr>
            <p:ph idx="1" type="subTitle"/>
          </p:nvPr>
        </p:nvSpPr>
        <p:spPr>
          <a:xfrm>
            <a:off x="253800" y="4216225"/>
            <a:ext cx="2273100" cy="449100"/>
          </a:xfrm>
          <a:prstGeom prst="rect">
            <a:avLst/>
          </a:prstGeom>
          <a:solidFill>
            <a:schemeClr val="lt1"/>
          </a:solidFill>
          <a:ln>
            <a:noFill/>
          </a:ln>
        </p:spPr>
        <p:txBody>
          <a:bodyPr anchorCtr="0" anchor="t" bIns="91400" lIns="91400" spcFirstLastPara="1" rIns="91400" wrap="square" tIns="91400">
            <a:noAutofit/>
          </a:bodyPr>
          <a:lstStyle/>
          <a:p>
            <a:pPr indent="0" lvl="0" marL="0" marR="0" rtl="0" algn="l">
              <a:lnSpc>
                <a:spcPct val="100000"/>
              </a:lnSpc>
              <a:spcBef>
                <a:spcPts val="0"/>
              </a:spcBef>
              <a:spcAft>
                <a:spcPts val="0"/>
              </a:spcAft>
              <a:buClr>
                <a:srgbClr val="000000"/>
              </a:buClr>
              <a:buSzPts val="2000"/>
              <a:buFont typeface="Helvetica Neue Light"/>
              <a:buNone/>
            </a:pPr>
            <a:r>
              <a:rPr b="1" lang="en-GB" sz="2000">
                <a:latin typeface="Helvetica Neue"/>
                <a:ea typeface="Helvetica Neue"/>
                <a:cs typeface="Helvetica Neue"/>
                <a:sym typeface="Helvetica Neue"/>
              </a:rPr>
              <a:t>June 2026</a:t>
            </a:r>
            <a:endParaRPr b="1" i="0" sz="2000" u="none" cap="none" strike="noStrike">
              <a:solidFill>
                <a:srgbClr val="000000"/>
              </a:solidFill>
              <a:latin typeface="Helvetica Neue"/>
              <a:ea typeface="Helvetica Neue"/>
              <a:cs typeface="Helvetica Neue"/>
              <a:sym typeface="Helvetica Neue"/>
            </a:endParaRPr>
          </a:p>
        </p:txBody>
      </p:sp>
      <p:sp>
        <p:nvSpPr>
          <p:cNvPr id="111" name="Google Shape;111;p24"/>
          <p:cNvSpPr txBox="1"/>
          <p:nvPr/>
        </p:nvSpPr>
        <p:spPr>
          <a:xfrm>
            <a:off x="253800" y="4616225"/>
            <a:ext cx="3154800" cy="321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Helvetica Neue Light"/>
                <a:ea typeface="Helvetica Neue Light"/>
                <a:cs typeface="Helvetica Neue Light"/>
                <a:sym typeface="Helvetica Neue Light"/>
              </a:rPr>
              <a:t>Cut Off Date: 30 June 2026 23:59</a:t>
            </a:r>
            <a:endParaRPr b="0" i="0" sz="1200" u="none" cap="none" strike="noStrike">
              <a:solidFill>
                <a:srgbClr val="000000"/>
              </a:solidFill>
              <a:latin typeface="Helvetica Neue Light"/>
              <a:ea typeface="Helvetica Neue Light"/>
              <a:cs typeface="Helvetica Neue Light"/>
              <a:sym typeface="Helvetica Neue Light"/>
            </a:endParaRPr>
          </a:p>
        </p:txBody>
      </p:sp>
      <p:pic>
        <p:nvPicPr>
          <p:cNvPr id="112" name="Google Shape;112;p24"/>
          <p:cNvPicPr preferRelativeResize="0"/>
          <p:nvPr/>
        </p:nvPicPr>
        <p:blipFill rotWithShape="1">
          <a:blip r:embed="rId4">
            <a:alphaModFix/>
          </a:blip>
          <a:srcRect b="0" l="0" r="0" t="0"/>
          <a:stretch/>
        </p:blipFill>
        <p:spPr>
          <a:xfrm>
            <a:off x="3370800" y="4059375"/>
            <a:ext cx="2721969" cy="87845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5"/>
          <p:cNvSpPr txBox="1"/>
          <p:nvPr/>
        </p:nvSpPr>
        <p:spPr>
          <a:xfrm>
            <a:off x="95075" y="215550"/>
            <a:ext cx="786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Table of Contents</a:t>
            </a:r>
            <a:endParaRPr b="1" i="0" sz="1800" u="none" cap="none" strike="noStrike">
              <a:solidFill>
                <a:srgbClr val="FF0000"/>
              </a:solidFill>
              <a:latin typeface="Helvetica Neue"/>
              <a:ea typeface="Helvetica Neue"/>
              <a:cs typeface="Helvetica Neue"/>
              <a:sym typeface="Helvetica Neue"/>
            </a:endParaRPr>
          </a:p>
        </p:txBody>
      </p:sp>
      <p:cxnSp>
        <p:nvCxnSpPr>
          <p:cNvPr id="118" name="Google Shape;118;p25"/>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
        <p:nvSpPr>
          <p:cNvPr id="119" name="Google Shape;119;p25"/>
          <p:cNvSpPr txBox="1"/>
          <p:nvPr/>
        </p:nvSpPr>
        <p:spPr>
          <a:xfrm>
            <a:off x="211225" y="721127"/>
            <a:ext cx="7387500" cy="4058400"/>
          </a:xfrm>
          <a:prstGeom prst="rect">
            <a:avLst/>
          </a:prstGeom>
          <a:noFill/>
          <a:ln>
            <a:noFill/>
          </a:ln>
        </p:spPr>
        <p:txBody>
          <a:bodyPr anchorCtr="0" anchor="ctr" bIns="50800" lIns="50800" spcFirstLastPara="1" rIns="50800" wrap="square" tIns="50800">
            <a:spAutoFit/>
          </a:bodyPr>
          <a:lstStyle/>
          <a:p>
            <a:pPr indent="-342900" lvl="0" marL="342900" marR="0" rtl="0" algn="l">
              <a:lnSpc>
                <a:spcPct val="100000"/>
              </a:lnSpc>
              <a:spcBef>
                <a:spcPts val="0"/>
              </a:spcBef>
              <a:spcAft>
                <a:spcPts val="0"/>
              </a:spcAft>
              <a:buClr>
                <a:schemeClr val="dk1"/>
              </a:buClr>
              <a:buSzPts val="1500"/>
              <a:buFont typeface="Helvetica Neue"/>
              <a:buAutoNum type="arabicPeriod"/>
            </a:pPr>
            <a:r>
              <a:rPr b="1" i="0" lang="en-GB" sz="1500" u="none" cap="none" strike="noStrike">
                <a:solidFill>
                  <a:schemeClr val="dk1"/>
                </a:solidFill>
                <a:latin typeface="Helvetica Neue"/>
                <a:ea typeface="Helvetica Neue"/>
                <a:cs typeface="Helvetica Neue"/>
                <a:sym typeface="Helvetica Neue"/>
              </a:rPr>
              <a:t>PeC Cases</a:t>
            </a:r>
            <a:br>
              <a:rPr b="0" i="0" lang="en-GB" sz="1500" u="none" cap="none" strike="noStrike">
                <a:solidFill>
                  <a:schemeClr val="dk1"/>
                </a:solidFill>
                <a:latin typeface="Helvetica Neue Light"/>
                <a:ea typeface="Helvetica Neue Light"/>
                <a:cs typeface="Helvetica Neue Light"/>
                <a:sym typeface="Helvetica Neue Light"/>
              </a:rPr>
            </a:br>
            <a:r>
              <a:rPr b="0" i="0" lang="en-GB" sz="1500" u="none" cap="none" strike="noStrike">
                <a:solidFill>
                  <a:schemeClr val="dk1"/>
                </a:solidFill>
                <a:latin typeface="Helvetica Neue Light"/>
                <a:ea typeface="Helvetica Neue Light"/>
                <a:cs typeface="Helvetica Neue Light"/>
                <a:sym typeface="Helvetica Neue Light"/>
              </a:rPr>
              <a:t>- Channel Analysis</a:t>
            </a:r>
            <a:endParaRPr b="0" i="0" sz="1500" u="none" cap="none" strike="noStrike">
              <a:solidFill>
                <a:schemeClr val="dk1"/>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Incoming Channel Performance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Incoming Calls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Calls Average Handling Time</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Concern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Inquiry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Complaint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Feedback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Dealer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Case Escalated To Dealers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Dealer Complaint Case Escalation Trends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Dealer Turnaround Time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Work In Progress (WIP) Cases </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7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RSA Analysis</a:t>
            </a:r>
            <a:endParaRPr b="1" i="0" sz="1500" u="none" cap="none" strike="noStrike">
              <a:solidFill>
                <a:schemeClr val="accent6"/>
              </a:solidFill>
              <a:latin typeface="Helvetica Neue"/>
              <a:ea typeface="Helvetica Neue"/>
              <a:cs typeface="Helvetica Neue"/>
              <a:sym typeface="Helvetica Neue"/>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RSA Call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Summary</a:t>
            </a:r>
            <a:endParaRPr b="1" i="0" sz="1500" u="none" cap="none" strike="noStrike">
              <a:solidFill>
                <a:schemeClr val="accent6"/>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6"/>
          <p:cNvSpPr txBox="1"/>
          <p:nvPr/>
        </p:nvSpPr>
        <p:spPr>
          <a:xfrm>
            <a:off x="95075" y="215550"/>
            <a:ext cx="779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Case Analysis According To Channel – June 2026</a:t>
            </a:r>
            <a:endParaRPr b="1" i="0" sz="1800" u="none" cap="none" strike="noStrike">
              <a:solidFill>
                <a:schemeClr val="dk1"/>
              </a:solidFill>
              <a:latin typeface="Helvetica Neue"/>
              <a:ea typeface="Helvetica Neue"/>
              <a:cs typeface="Helvetica Neue"/>
              <a:sym typeface="Helvetica Neue"/>
            </a:endParaRPr>
          </a:p>
        </p:txBody>
      </p:sp>
      <p:sp>
        <p:nvSpPr>
          <p:cNvPr id="125" name="Google Shape;125;p26"/>
          <p:cNvSpPr txBox="1"/>
          <p:nvPr/>
        </p:nvSpPr>
        <p:spPr>
          <a:xfrm>
            <a:off x="5049425" y="1062300"/>
            <a:ext cx="3813300" cy="3428400"/>
          </a:xfrm>
          <a:prstGeom prst="rect">
            <a:avLst/>
          </a:prstGeom>
          <a:noFill/>
          <a:ln>
            <a:noFill/>
          </a:ln>
        </p:spPr>
        <p:txBody>
          <a:bodyPr anchorCtr="0" anchor="ctr" bIns="31875" lIns="31875" spcFirstLastPara="1" rIns="31875" wrap="square" tIns="31875">
            <a:noAutofit/>
          </a:bodyPr>
          <a:lstStyle/>
          <a:p>
            <a:pPr indent="0" lvl="0" marL="0" marR="0" rtl="0" algn="just">
              <a:lnSpc>
                <a:spcPct val="115000"/>
              </a:lnSpc>
              <a:spcBef>
                <a:spcPts val="0"/>
              </a:spcBef>
              <a:spcAft>
                <a:spcPts val="0"/>
              </a:spcAft>
              <a:buClr>
                <a:srgbClr val="000000"/>
              </a:buClr>
              <a:buSzPts val="900"/>
              <a:buFont typeface="Helvetica Neue Light"/>
              <a:buNone/>
            </a:pPr>
            <a:r>
              <a:rPr b="1" i="0" lang="en-GB" sz="900" u="sng" cap="none" strike="noStrike">
                <a:solidFill>
                  <a:schemeClr val="dk1"/>
                </a:solidFill>
                <a:latin typeface="Helvetica Neue"/>
                <a:ea typeface="Helvetica Neue"/>
                <a:cs typeface="Helvetica Neue"/>
                <a:sym typeface="Helvetica Neue"/>
              </a:rPr>
              <a:t>June 2026 Case Summary:</a:t>
            </a:r>
            <a:br>
              <a:rPr b="1" i="0" lang="en-GB" sz="900" u="sng" cap="none" strike="noStrike">
                <a:solidFill>
                  <a:schemeClr val="dk1"/>
                </a:solidFill>
                <a:latin typeface="Helvetica Neue"/>
                <a:ea typeface="Helvetica Neue"/>
                <a:cs typeface="Helvetica Neue"/>
                <a:sym typeface="Helvetica Neue"/>
              </a:rPr>
            </a:br>
            <a:endParaRPr b="1" i="0" sz="900" u="none" cap="none" strike="noStrike">
              <a:solidFill>
                <a:schemeClr val="dk1"/>
              </a:solidFill>
              <a:latin typeface="Helvetica Neue"/>
              <a:ea typeface="Helvetica Neue"/>
              <a:cs typeface="Helvetica Neue"/>
              <a:sym typeface="Helvetica Neue"/>
            </a:endParaRPr>
          </a:p>
          <a:p>
            <a:pPr indent="0" lvl="0" marL="0" marR="0" rtl="0" algn="just">
              <a:lnSpc>
                <a:spcPct val="115000"/>
              </a:lnSpc>
              <a:spcBef>
                <a:spcPts val="0"/>
              </a:spcBef>
              <a:spcAft>
                <a:spcPts val="0"/>
              </a:spcAft>
              <a:buClr>
                <a:srgbClr val="000000"/>
              </a:buClr>
              <a:buSzPts val="1100"/>
              <a:buFont typeface="Arial"/>
              <a:buNone/>
            </a:pPr>
            <a:r>
              <a:rPr b="1" i="0" lang="en-GB" sz="1000" u="none" cap="none" strike="noStrike">
                <a:solidFill>
                  <a:schemeClr val="dk1"/>
                </a:solidFill>
                <a:latin typeface="Helvetica Neue"/>
                <a:ea typeface="Helvetica Neue"/>
                <a:cs typeface="Helvetica Neue"/>
                <a:sym typeface="Helvetica Neue"/>
              </a:rPr>
              <a:t>Total Cases		: 1811</a:t>
            </a:r>
            <a:br>
              <a:rPr b="1" i="0" lang="en-GB" sz="900" u="none" cap="none" strike="noStrike">
                <a:solidFill>
                  <a:schemeClr val="dk1"/>
                </a:solidFill>
                <a:latin typeface="Helvetica Neue"/>
                <a:ea typeface="Helvetica Neue"/>
                <a:cs typeface="Helvetica Neue"/>
                <a:sym typeface="Helvetica Neue"/>
              </a:rPr>
            </a:br>
            <a:endParaRPr b="1" i="0" sz="900" u="none" cap="none" strike="noStrike">
              <a:solidFill>
                <a:schemeClr val="dk1"/>
              </a:solidFill>
              <a:latin typeface="Helvetica Neue"/>
              <a:ea typeface="Helvetica Neue"/>
              <a:cs typeface="Helvetica Neue"/>
              <a:sym typeface="Helvetica Neue"/>
            </a:endParaRPr>
          </a:p>
          <a:p>
            <a:pPr indent="-285750" lvl="0" marL="457200" marR="0" rtl="0" algn="just">
              <a:lnSpc>
                <a:spcPct val="115000"/>
              </a:lnSpc>
              <a:spcBef>
                <a:spcPts val="0"/>
              </a:spcBef>
              <a:spcAft>
                <a:spcPts val="0"/>
              </a:spcAft>
              <a:buClr>
                <a:schemeClr val="dk1"/>
              </a:buClr>
              <a:buSzPts val="900"/>
              <a:buFont typeface="Arial"/>
              <a:buChar char="●"/>
            </a:pPr>
            <a:r>
              <a:rPr b="0" i="0" lang="en-GB" sz="900" u="none" cap="none" strike="noStrike">
                <a:solidFill>
                  <a:schemeClr val="dk1"/>
                </a:solidFill>
                <a:latin typeface="Helvetica Neue Light"/>
                <a:ea typeface="Helvetica Neue Light"/>
                <a:cs typeface="Helvetica Neue Light"/>
                <a:sym typeface="Helvetica Neue Light"/>
              </a:rPr>
              <a:t>Inquiries		</a:t>
            </a:r>
            <a:r>
              <a:rPr b="1" i="0" lang="en-GB" sz="900" u="none" cap="none" strike="noStrike">
                <a:solidFill>
                  <a:schemeClr val="dk1"/>
                </a:solidFill>
                <a:latin typeface="Helvetica Neue"/>
                <a:ea typeface="Helvetica Neue"/>
                <a:cs typeface="Helvetica Neue"/>
                <a:sym typeface="Helvetica Neue"/>
              </a:rPr>
              <a:t>:</a:t>
            </a:r>
            <a:r>
              <a:rPr b="0" i="0" lang="en-GB" sz="900" u="none" cap="none" strike="noStrike">
                <a:solidFill>
                  <a:schemeClr val="dk1"/>
                </a:solidFill>
                <a:latin typeface="Helvetica Neue Light"/>
                <a:ea typeface="Helvetica Neue Light"/>
                <a:cs typeface="Helvetica Neue Light"/>
                <a:sym typeface="Helvetica Neue Light"/>
              </a:rPr>
              <a:t> </a:t>
            </a:r>
            <a:r>
              <a:rPr b="1" i="0" lang="en-GB" sz="900" u="none" cap="none" strike="noStrike">
                <a:solidFill>
                  <a:schemeClr val="dk1"/>
                </a:solidFill>
                <a:latin typeface="Helvetica Neue"/>
                <a:ea typeface="Helvetica Neue"/>
                <a:cs typeface="Helvetica Neue"/>
                <a:sym typeface="Helvetica Neue"/>
              </a:rPr>
              <a:t>1024</a:t>
            </a:r>
            <a:endParaRPr b="1" i="0" sz="900" u="none" cap="none" strike="noStrike">
              <a:solidFill>
                <a:schemeClr val="dk1"/>
              </a:solidFill>
              <a:latin typeface="Helvetica Neue"/>
              <a:ea typeface="Helvetica Neue"/>
              <a:cs typeface="Helvetica Neue"/>
              <a:sym typeface="Helvetica Neue"/>
            </a:endParaRPr>
          </a:p>
          <a:p>
            <a:pPr indent="-285750" lvl="0" marL="457200" marR="0" rtl="0" algn="just">
              <a:lnSpc>
                <a:spcPct val="115000"/>
              </a:lnSpc>
              <a:spcBef>
                <a:spcPts val="0"/>
              </a:spcBef>
              <a:spcAft>
                <a:spcPts val="0"/>
              </a:spcAft>
              <a:buClr>
                <a:schemeClr val="dk1"/>
              </a:buClr>
              <a:buSzPts val="900"/>
              <a:buFont typeface="Arial"/>
              <a:buChar char="●"/>
            </a:pPr>
            <a:r>
              <a:rPr b="0" i="0" lang="en-GB" sz="900" u="none" cap="none" strike="noStrike">
                <a:solidFill>
                  <a:schemeClr val="dk1"/>
                </a:solidFill>
                <a:latin typeface="Helvetica Neue Light"/>
                <a:ea typeface="Helvetica Neue Light"/>
                <a:cs typeface="Helvetica Neue Light"/>
                <a:sym typeface="Helvetica Neue Light"/>
              </a:rPr>
              <a:t>Complaints	</a:t>
            </a:r>
            <a:r>
              <a:rPr b="1" i="0" lang="en-GB" sz="900" u="none" cap="none" strike="noStrike">
                <a:solidFill>
                  <a:schemeClr val="dk1"/>
                </a:solidFill>
                <a:latin typeface="Helvetica Neue"/>
                <a:ea typeface="Helvetica Neue"/>
                <a:cs typeface="Helvetica Neue"/>
                <a:sym typeface="Helvetica Neue"/>
              </a:rPr>
              <a:t>: 770</a:t>
            </a:r>
            <a:endParaRPr b="1" i="0" sz="900" u="none" cap="none" strike="noStrike">
              <a:solidFill>
                <a:schemeClr val="dk1"/>
              </a:solidFill>
              <a:latin typeface="Helvetica Neue"/>
              <a:ea typeface="Helvetica Neue"/>
              <a:cs typeface="Helvetica Neue"/>
              <a:sym typeface="Helvetica Neue"/>
            </a:endParaRPr>
          </a:p>
          <a:p>
            <a:pPr indent="-285750" lvl="0" marL="457200" marR="0" rtl="0" algn="just">
              <a:lnSpc>
                <a:spcPct val="115000"/>
              </a:lnSpc>
              <a:spcBef>
                <a:spcPts val="0"/>
              </a:spcBef>
              <a:spcAft>
                <a:spcPts val="0"/>
              </a:spcAft>
              <a:buClr>
                <a:schemeClr val="dk1"/>
              </a:buClr>
              <a:buSzPts val="900"/>
              <a:buFont typeface="Helvetica Neue"/>
              <a:buChar char="●"/>
            </a:pPr>
            <a:r>
              <a:rPr b="0" i="0" lang="en-GB" sz="900" u="none" cap="none" strike="noStrike">
                <a:solidFill>
                  <a:schemeClr val="dk1"/>
                </a:solidFill>
                <a:latin typeface="Helvetica Neue Light"/>
                <a:ea typeface="Helvetica Neue Light"/>
                <a:cs typeface="Helvetica Neue Light"/>
                <a:sym typeface="Helvetica Neue Light"/>
              </a:rPr>
              <a:t>Feedback</a:t>
            </a:r>
            <a:r>
              <a:rPr b="1" i="0" lang="en-GB" sz="900" u="none" cap="none" strike="noStrike">
                <a:solidFill>
                  <a:schemeClr val="dk1"/>
                </a:solidFill>
                <a:latin typeface="Helvetica Neue"/>
                <a:ea typeface="Helvetica Neue"/>
                <a:cs typeface="Helvetica Neue"/>
                <a:sym typeface="Helvetica Neue"/>
              </a:rPr>
              <a:t>	: 17</a:t>
            </a:r>
            <a:endParaRPr b="1" i="0" sz="900" u="none" cap="none" strike="noStrike">
              <a:solidFill>
                <a:schemeClr val="dk1"/>
              </a:solidFill>
              <a:latin typeface="Helvetica Neue"/>
              <a:ea typeface="Helvetica Neue"/>
              <a:cs typeface="Helvetica Neue"/>
              <a:sym typeface="Helvetica Neue"/>
            </a:endParaRPr>
          </a:p>
          <a:p>
            <a:pPr indent="0" lvl="0" marL="457200" marR="0" rtl="0" algn="just">
              <a:lnSpc>
                <a:spcPct val="115000"/>
              </a:lnSpc>
              <a:spcBef>
                <a:spcPts val="0"/>
              </a:spcBef>
              <a:spcAft>
                <a:spcPts val="0"/>
              </a:spcAft>
              <a:buClr>
                <a:srgbClr val="000000"/>
              </a:buClr>
              <a:buSzPts val="900"/>
              <a:buFont typeface="Arial"/>
              <a:buNone/>
            </a:pPr>
            <a:r>
              <a:t/>
            </a:r>
            <a:endParaRPr b="1" i="0" sz="900" u="none" cap="none" strike="noStrike">
              <a:solidFill>
                <a:schemeClr val="dk1"/>
              </a:solidFill>
              <a:latin typeface="Helvetica Neue"/>
              <a:ea typeface="Helvetica Neue"/>
              <a:cs typeface="Helvetica Neue"/>
              <a:sym typeface="Helvetica Neue"/>
            </a:endParaRPr>
          </a:p>
          <a:p>
            <a:pPr indent="0" lvl="0" marL="0" marR="0" rtl="0" algn="just">
              <a:lnSpc>
                <a:spcPct val="115000"/>
              </a:lnSpc>
              <a:spcBef>
                <a:spcPts val="0"/>
              </a:spcBef>
              <a:spcAft>
                <a:spcPts val="0"/>
              </a:spcAft>
              <a:buClr>
                <a:srgbClr val="000000"/>
              </a:buClr>
              <a:buSzPts val="900"/>
              <a:buFont typeface="Arial"/>
              <a:buNone/>
            </a:pPr>
            <a:r>
              <a:rPr b="1" i="0" lang="en-GB" sz="900" u="none" cap="none" strike="noStrike">
                <a:solidFill>
                  <a:schemeClr val="dk1"/>
                </a:solidFill>
                <a:latin typeface="Helvetica Neue"/>
                <a:ea typeface="Helvetica Neue"/>
                <a:cs typeface="Helvetica Neue"/>
                <a:sym typeface="Helvetica Neue"/>
              </a:rPr>
              <a:t> </a:t>
            </a:r>
            <a:endParaRPr b="1" i="0" sz="900" u="none" cap="none" strike="noStrike">
              <a:solidFill>
                <a:schemeClr val="dk1"/>
              </a:solidFill>
              <a:latin typeface="Helvetica Neue"/>
              <a:ea typeface="Helvetica Neue"/>
              <a:cs typeface="Helvetica Neue"/>
              <a:sym typeface="Helvetica Neue"/>
            </a:endParaRPr>
          </a:p>
          <a:p>
            <a:pPr indent="0" lvl="0" marL="0" marR="0" rtl="0" algn="just">
              <a:lnSpc>
                <a:spcPct val="115000"/>
              </a:lnSpc>
              <a:spcBef>
                <a:spcPts val="0"/>
              </a:spcBef>
              <a:spcAft>
                <a:spcPts val="0"/>
              </a:spcAft>
              <a:buClr>
                <a:srgbClr val="000000"/>
              </a:buClr>
              <a:buSzPts val="900"/>
              <a:buFont typeface="Helvetica Neue Light"/>
              <a:buNone/>
            </a:pPr>
            <a:r>
              <a:t/>
            </a:r>
            <a:endParaRPr b="0" i="0" sz="9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900"/>
              <a:buFont typeface="Arial"/>
              <a:buNone/>
            </a:pPr>
            <a:r>
              <a:rPr b="1" i="0" lang="en-GB" sz="900" u="sng" cap="none" strike="noStrike">
                <a:solidFill>
                  <a:schemeClr val="dk1"/>
                </a:solidFill>
                <a:latin typeface="Helvetica Neue"/>
                <a:ea typeface="Helvetica Neue"/>
                <a:cs typeface="Helvetica Neue"/>
                <a:sym typeface="Helvetica Neue"/>
              </a:rPr>
              <a:t>Key Insights in June 2026:</a:t>
            </a:r>
            <a:br>
              <a:rPr b="1" i="0" lang="en-GB" sz="900" u="none" cap="none" strike="noStrike">
                <a:solidFill>
                  <a:schemeClr val="dk1"/>
                </a:solidFill>
                <a:latin typeface="Helvetica Neue"/>
                <a:ea typeface="Helvetica Neue"/>
                <a:cs typeface="Helvetica Neue"/>
                <a:sym typeface="Helvetica Neue"/>
              </a:rPr>
            </a:br>
            <a:endParaRPr b="1" i="0" sz="900" u="none" cap="none" strike="noStrike">
              <a:solidFill>
                <a:schemeClr val="dk1"/>
              </a:solidFill>
              <a:latin typeface="Helvetica Neue"/>
              <a:ea typeface="Helvetica Neue"/>
              <a:cs typeface="Helvetica Neue"/>
              <a:sym typeface="Helvetica Neue"/>
            </a:endParaRPr>
          </a:p>
          <a:p>
            <a:pPr indent="-285750" lvl="0" marL="457200" marR="0" rtl="0" algn="l">
              <a:lnSpc>
                <a:spcPct val="115000"/>
              </a:lnSpc>
              <a:spcBef>
                <a:spcPts val="0"/>
              </a:spcBef>
              <a:spcAft>
                <a:spcPts val="0"/>
              </a:spcAft>
              <a:buClr>
                <a:schemeClr val="dk1"/>
              </a:buClr>
              <a:buSzPts val="900"/>
              <a:buFont typeface="Arial"/>
              <a:buChar char="●"/>
            </a:pPr>
            <a:r>
              <a:rPr b="1" i="0" lang="en-GB" sz="900" u="none" cap="none" strike="noStrike">
                <a:solidFill>
                  <a:schemeClr val="dk1"/>
                </a:solidFill>
                <a:latin typeface="Helvetica Neue"/>
                <a:ea typeface="Helvetica Neue"/>
                <a:cs typeface="Helvetica Neue"/>
                <a:sym typeface="Helvetica Neue"/>
              </a:rPr>
              <a:t>WhatsApp	: 682 </a:t>
            </a:r>
            <a:r>
              <a:rPr b="0" i="0" lang="en-GB" sz="900" u="none" cap="none" strike="noStrike">
                <a:solidFill>
                  <a:schemeClr val="dk1"/>
                </a:solidFill>
                <a:latin typeface="Helvetica Neue Light"/>
                <a:ea typeface="Helvetica Neue Light"/>
                <a:cs typeface="Helvetica Neue Light"/>
                <a:sym typeface="Helvetica Neue Light"/>
              </a:rPr>
              <a:t>inquiries, </a:t>
            </a:r>
            <a:r>
              <a:rPr b="1" i="0" lang="en-GB" sz="900" u="none" cap="none" strike="noStrike">
                <a:solidFill>
                  <a:schemeClr val="dk1"/>
                </a:solidFill>
                <a:latin typeface="Helvetica Neue"/>
                <a:ea typeface="Helvetica Neue"/>
                <a:cs typeface="Helvetica Neue"/>
                <a:sym typeface="Helvetica Neue"/>
              </a:rPr>
              <a:t>419 </a:t>
            </a:r>
            <a:r>
              <a:rPr b="0" i="0" lang="en-GB" sz="900" u="none" cap="none" strike="noStrike">
                <a:solidFill>
                  <a:schemeClr val="dk1"/>
                </a:solidFill>
                <a:latin typeface="Helvetica Neue Light"/>
                <a:ea typeface="Helvetica Neue Light"/>
                <a:cs typeface="Helvetica Neue Light"/>
                <a:sym typeface="Helvetica Neue Light"/>
              </a:rPr>
              <a:t>complaints, </a:t>
            </a:r>
            <a:r>
              <a:rPr b="1" i="0" lang="en-GB" sz="900" u="none" cap="none" strike="noStrike">
                <a:solidFill>
                  <a:schemeClr val="dk1"/>
                </a:solidFill>
                <a:latin typeface="Helvetica Neue"/>
                <a:ea typeface="Helvetica Neue"/>
                <a:cs typeface="Helvetica Neue"/>
                <a:sym typeface="Helvetica Neue"/>
              </a:rPr>
              <a:t>3 </a:t>
            </a:r>
            <a:r>
              <a:rPr b="0" i="0" lang="en-GB" sz="900" u="none" cap="none" strike="noStrike">
                <a:solidFill>
                  <a:schemeClr val="dk1"/>
                </a:solidFill>
                <a:latin typeface="Helvetica Neue Light"/>
                <a:ea typeface="Helvetica Neue Light"/>
                <a:cs typeface="Helvetica Neue Light"/>
                <a:sym typeface="Helvetica Neue Light"/>
              </a:rPr>
              <a:t>feedback</a:t>
            </a:r>
            <a:endParaRPr b="0" i="0" sz="900" u="none" cap="none" strike="noStrike">
              <a:solidFill>
                <a:schemeClr val="dk1"/>
              </a:solidFill>
              <a:latin typeface="Helvetica Neue Light"/>
              <a:ea typeface="Helvetica Neue Light"/>
              <a:cs typeface="Helvetica Neue Light"/>
              <a:sym typeface="Helvetica Neue Light"/>
            </a:endParaRPr>
          </a:p>
          <a:p>
            <a:pPr indent="-285750" lvl="0" marL="457200" marR="0" rtl="0" algn="l">
              <a:lnSpc>
                <a:spcPct val="115000"/>
              </a:lnSpc>
              <a:spcBef>
                <a:spcPts val="0"/>
              </a:spcBef>
              <a:spcAft>
                <a:spcPts val="0"/>
              </a:spcAft>
              <a:buClr>
                <a:schemeClr val="dk1"/>
              </a:buClr>
              <a:buSzPts val="900"/>
              <a:buFont typeface="Arial"/>
              <a:buChar char="●"/>
            </a:pPr>
            <a:r>
              <a:rPr b="1" i="0" lang="en-GB" sz="900" u="none" cap="none" strike="noStrike">
                <a:solidFill>
                  <a:schemeClr val="dk1"/>
                </a:solidFill>
                <a:latin typeface="Helvetica Neue"/>
                <a:ea typeface="Helvetica Neue"/>
                <a:cs typeface="Helvetica Neue"/>
                <a:sym typeface="Helvetica Neue"/>
              </a:rPr>
              <a:t>Calls		:</a:t>
            </a:r>
            <a:r>
              <a:rPr b="0" i="0" lang="en-GB" sz="900" u="none" cap="none" strike="noStrike">
                <a:solidFill>
                  <a:schemeClr val="dk1"/>
                </a:solidFill>
                <a:latin typeface="Helvetica Neue Light"/>
                <a:ea typeface="Helvetica Neue Light"/>
                <a:cs typeface="Helvetica Neue Light"/>
                <a:sym typeface="Helvetica Neue Light"/>
              </a:rPr>
              <a:t> </a:t>
            </a:r>
            <a:r>
              <a:rPr b="1" i="0" lang="en-GB" sz="900" u="none" cap="none" strike="noStrike">
                <a:solidFill>
                  <a:schemeClr val="dk1"/>
                </a:solidFill>
                <a:latin typeface="Helvetica Neue"/>
                <a:ea typeface="Helvetica Neue"/>
                <a:cs typeface="Helvetica Neue"/>
                <a:sym typeface="Helvetica Neue"/>
              </a:rPr>
              <a:t>239 </a:t>
            </a:r>
            <a:r>
              <a:rPr b="0" i="0" lang="en-GB" sz="900" u="none" cap="none" strike="noStrike">
                <a:solidFill>
                  <a:schemeClr val="dk1"/>
                </a:solidFill>
                <a:latin typeface="Helvetica Neue Light"/>
                <a:ea typeface="Helvetica Neue Light"/>
                <a:cs typeface="Helvetica Neue Light"/>
                <a:sym typeface="Helvetica Neue Light"/>
              </a:rPr>
              <a:t>inquiries, </a:t>
            </a:r>
            <a:r>
              <a:rPr b="1" i="0" lang="en-GB" sz="900" u="none" cap="none" strike="noStrike">
                <a:solidFill>
                  <a:schemeClr val="dk1"/>
                </a:solidFill>
                <a:latin typeface="Helvetica Neue"/>
                <a:ea typeface="Helvetica Neue"/>
                <a:cs typeface="Helvetica Neue"/>
                <a:sym typeface="Helvetica Neue"/>
              </a:rPr>
              <a:t>200 </a:t>
            </a:r>
            <a:r>
              <a:rPr b="0" i="0" lang="en-GB" sz="900" u="none" cap="none" strike="noStrike">
                <a:solidFill>
                  <a:schemeClr val="dk1"/>
                </a:solidFill>
                <a:latin typeface="Helvetica Neue Light"/>
                <a:ea typeface="Helvetica Neue Light"/>
                <a:cs typeface="Helvetica Neue Light"/>
                <a:sym typeface="Helvetica Neue Light"/>
              </a:rPr>
              <a:t>complaints, </a:t>
            </a:r>
            <a:r>
              <a:rPr b="1" i="0" lang="en-GB" sz="900" u="none" cap="none" strike="noStrike">
                <a:solidFill>
                  <a:schemeClr val="dk1"/>
                </a:solidFill>
                <a:latin typeface="Helvetica Neue"/>
                <a:ea typeface="Helvetica Neue"/>
                <a:cs typeface="Helvetica Neue"/>
                <a:sym typeface="Helvetica Neue"/>
              </a:rPr>
              <a:t>1 </a:t>
            </a:r>
            <a:r>
              <a:rPr b="0" i="0" lang="en-GB" sz="900" u="none" cap="none" strike="noStrike">
                <a:solidFill>
                  <a:schemeClr val="dk1"/>
                </a:solidFill>
                <a:latin typeface="Helvetica Neue Light"/>
                <a:ea typeface="Helvetica Neue Light"/>
                <a:cs typeface="Helvetica Neue Light"/>
                <a:sym typeface="Helvetica Neue Light"/>
              </a:rPr>
              <a:t>feedback</a:t>
            </a:r>
            <a:endParaRPr b="0" i="0" sz="900" u="none" cap="none" strike="noStrike">
              <a:solidFill>
                <a:schemeClr val="dk1"/>
              </a:solidFill>
              <a:latin typeface="Helvetica Neue Light"/>
              <a:ea typeface="Helvetica Neue Light"/>
              <a:cs typeface="Helvetica Neue Light"/>
              <a:sym typeface="Helvetica Neue Light"/>
            </a:endParaRPr>
          </a:p>
          <a:p>
            <a:pPr indent="-285750" lvl="0" marL="457200" marR="0" rtl="0" algn="l">
              <a:lnSpc>
                <a:spcPct val="115000"/>
              </a:lnSpc>
              <a:spcBef>
                <a:spcPts val="0"/>
              </a:spcBef>
              <a:spcAft>
                <a:spcPts val="0"/>
              </a:spcAft>
              <a:buClr>
                <a:schemeClr val="dk1"/>
              </a:buClr>
              <a:buSzPts val="900"/>
              <a:buFont typeface="Arial"/>
              <a:buChar char="●"/>
            </a:pPr>
            <a:r>
              <a:rPr b="1" i="0" lang="en-GB" sz="900" u="none" cap="none" strike="noStrike">
                <a:solidFill>
                  <a:schemeClr val="dk1"/>
                </a:solidFill>
                <a:latin typeface="Helvetica Neue"/>
                <a:ea typeface="Helvetica Neue"/>
                <a:cs typeface="Helvetica Neue"/>
                <a:sym typeface="Helvetica Neue"/>
              </a:rPr>
              <a:t>Email                   : 84 </a:t>
            </a:r>
            <a:r>
              <a:rPr b="0" i="0" lang="en-GB" sz="900" u="none" cap="none" strike="noStrike">
                <a:solidFill>
                  <a:schemeClr val="dk1"/>
                </a:solidFill>
                <a:latin typeface="Helvetica Neue Light"/>
                <a:ea typeface="Helvetica Neue Light"/>
                <a:cs typeface="Helvetica Neue Light"/>
                <a:sym typeface="Helvetica Neue Light"/>
              </a:rPr>
              <a:t>inquiries,</a:t>
            </a:r>
            <a:r>
              <a:rPr b="1" i="0" lang="en-GB" sz="900" u="none" cap="none" strike="noStrike">
                <a:solidFill>
                  <a:schemeClr val="dk1"/>
                </a:solidFill>
                <a:latin typeface="Helvetica Neue"/>
                <a:ea typeface="Helvetica Neue"/>
                <a:cs typeface="Helvetica Neue"/>
                <a:sym typeface="Helvetica Neue"/>
              </a:rPr>
              <a:t> 135 </a:t>
            </a:r>
            <a:r>
              <a:rPr b="0" i="0" lang="en-GB" sz="900" u="none" cap="none" strike="noStrike">
                <a:solidFill>
                  <a:schemeClr val="dk1"/>
                </a:solidFill>
                <a:latin typeface="Helvetica Neue Light"/>
                <a:ea typeface="Helvetica Neue Light"/>
                <a:cs typeface="Helvetica Neue Light"/>
                <a:sym typeface="Helvetica Neue Light"/>
              </a:rPr>
              <a:t>complaints,</a:t>
            </a:r>
            <a:r>
              <a:rPr b="1" i="0" lang="en-GB" sz="900" u="none" cap="none" strike="noStrike">
                <a:solidFill>
                  <a:schemeClr val="dk1"/>
                </a:solidFill>
                <a:latin typeface="Helvetica Neue"/>
                <a:ea typeface="Helvetica Neue"/>
                <a:cs typeface="Helvetica Neue"/>
                <a:sym typeface="Helvetica Neue"/>
              </a:rPr>
              <a:t> 4 </a:t>
            </a:r>
            <a:r>
              <a:rPr b="0" i="0" lang="en-GB" sz="900" u="none" cap="none" strike="noStrike">
                <a:solidFill>
                  <a:schemeClr val="dk1"/>
                </a:solidFill>
                <a:latin typeface="Helvetica Neue Light"/>
                <a:ea typeface="Helvetica Neue Light"/>
                <a:cs typeface="Helvetica Neue Light"/>
                <a:sym typeface="Helvetica Neue Light"/>
              </a:rPr>
              <a:t>feedback</a:t>
            </a:r>
            <a:endParaRPr b="0" i="0" sz="900" u="none" cap="none" strike="noStrike">
              <a:solidFill>
                <a:schemeClr val="dk1"/>
              </a:solidFill>
              <a:latin typeface="Helvetica Neue Light"/>
              <a:ea typeface="Helvetica Neue Light"/>
              <a:cs typeface="Helvetica Neue Light"/>
              <a:sym typeface="Helvetica Neue Light"/>
            </a:endParaRPr>
          </a:p>
          <a:p>
            <a:pPr indent="-285750" lvl="0" marL="457200" marR="0" rtl="0" algn="l">
              <a:lnSpc>
                <a:spcPct val="115000"/>
              </a:lnSpc>
              <a:spcBef>
                <a:spcPts val="0"/>
              </a:spcBef>
              <a:spcAft>
                <a:spcPts val="0"/>
              </a:spcAft>
              <a:buClr>
                <a:schemeClr val="dk1"/>
              </a:buClr>
              <a:buSzPts val="900"/>
              <a:buFont typeface="Arial"/>
              <a:buChar char="●"/>
            </a:pPr>
            <a:r>
              <a:rPr b="1" i="0" lang="en-GB" sz="900" u="none" cap="none" strike="noStrike">
                <a:solidFill>
                  <a:schemeClr val="dk1"/>
                </a:solidFill>
                <a:latin typeface="Helvetica Neue"/>
                <a:ea typeface="Helvetica Neue"/>
                <a:cs typeface="Helvetica Neue"/>
                <a:sym typeface="Helvetica Neue"/>
              </a:rPr>
              <a:t>Social Media       : 19 </a:t>
            </a:r>
            <a:r>
              <a:rPr b="0" i="0" lang="en-GB" sz="900" u="none" cap="none" strike="noStrike">
                <a:solidFill>
                  <a:schemeClr val="dk1"/>
                </a:solidFill>
                <a:latin typeface="Helvetica Neue Light"/>
                <a:ea typeface="Helvetica Neue Light"/>
                <a:cs typeface="Helvetica Neue Light"/>
                <a:sym typeface="Helvetica Neue Light"/>
              </a:rPr>
              <a:t>inquiries,</a:t>
            </a:r>
            <a:r>
              <a:rPr b="1" i="0" lang="en-GB" sz="900" u="none" cap="none" strike="noStrike">
                <a:solidFill>
                  <a:schemeClr val="dk1"/>
                </a:solidFill>
                <a:latin typeface="Helvetica Neue"/>
                <a:ea typeface="Helvetica Neue"/>
                <a:cs typeface="Helvetica Neue"/>
                <a:sym typeface="Helvetica Neue"/>
              </a:rPr>
              <a:t> 16 </a:t>
            </a:r>
            <a:r>
              <a:rPr b="0" i="0" lang="en-GB" sz="900" u="none" cap="none" strike="noStrike">
                <a:solidFill>
                  <a:schemeClr val="dk1"/>
                </a:solidFill>
                <a:latin typeface="Helvetica Neue Light"/>
                <a:ea typeface="Helvetica Neue Light"/>
                <a:cs typeface="Helvetica Neue Light"/>
                <a:sym typeface="Helvetica Neue Light"/>
              </a:rPr>
              <a:t>complaints,</a:t>
            </a:r>
            <a:r>
              <a:rPr b="1" i="0" lang="en-GB" sz="900" u="none" cap="none" strike="noStrike">
                <a:solidFill>
                  <a:schemeClr val="dk1"/>
                </a:solidFill>
                <a:latin typeface="Helvetica Neue"/>
                <a:ea typeface="Helvetica Neue"/>
                <a:cs typeface="Helvetica Neue"/>
                <a:sym typeface="Helvetica Neue"/>
              </a:rPr>
              <a:t> 9 </a:t>
            </a:r>
            <a:r>
              <a:rPr b="0" i="0" lang="en-GB" sz="900" u="none" cap="none" strike="noStrike">
                <a:solidFill>
                  <a:schemeClr val="dk1"/>
                </a:solidFill>
                <a:latin typeface="Helvetica Neue Light"/>
                <a:ea typeface="Helvetica Neue Light"/>
                <a:cs typeface="Helvetica Neue Light"/>
                <a:sym typeface="Helvetica Neue Light"/>
              </a:rPr>
              <a:t>feedback</a:t>
            </a:r>
            <a:endParaRPr b="0" i="0" sz="9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chemeClr val="dk1"/>
              </a:solidFill>
              <a:latin typeface="Helvetica Neue Light"/>
              <a:ea typeface="Helvetica Neue Light"/>
              <a:cs typeface="Helvetica Neue Light"/>
              <a:sym typeface="Helvetica Neue Light"/>
            </a:endParaRPr>
          </a:p>
        </p:txBody>
      </p:sp>
      <p:pic>
        <p:nvPicPr>
          <p:cNvPr id="126" name="Google Shape;126;p26" title="Chart"/>
          <p:cNvPicPr preferRelativeResize="0"/>
          <p:nvPr/>
        </p:nvPicPr>
        <p:blipFill rotWithShape="1">
          <a:blip r:embed="rId3">
            <a:alphaModFix/>
          </a:blip>
          <a:srcRect b="0" l="0" r="0" t="0"/>
          <a:stretch/>
        </p:blipFill>
        <p:spPr>
          <a:xfrm>
            <a:off x="108575" y="1033225"/>
            <a:ext cx="4797102" cy="3201275"/>
          </a:xfrm>
          <a:prstGeom prst="rect">
            <a:avLst/>
          </a:prstGeom>
          <a:noFill/>
          <a:ln>
            <a:noFill/>
          </a:ln>
        </p:spPr>
      </p:pic>
      <p:cxnSp>
        <p:nvCxnSpPr>
          <p:cNvPr id="127" name="Google Shape;127;p26"/>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7"/>
          <p:cNvSpPr txBox="1"/>
          <p:nvPr/>
        </p:nvSpPr>
        <p:spPr>
          <a:xfrm>
            <a:off x="95075" y="215550"/>
            <a:ext cx="786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Table of Contents</a:t>
            </a:r>
            <a:endParaRPr b="1" i="0" sz="1800" u="none" cap="none" strike="noStrike">
              <a:solidFill>
                <a:srgbClr val="FF0000"/>
              </a:solidFill>
              <a:latin typeface="Helvetica Neue"/>
              <a:ea typeface="Helvetica Neue"/>
              <a:cs typeface="Helvetica Neue"/>
              <a:sym typeface="Helvetica Neue"/>
            </a:endParaRPr>
          </a:p>
        </p:txBody>
      </p:sp>
      <p:sp>
        <p:nvSpPr>
          <p:cNvPr id="133" name="Google Shape;133;p27"/>
          <p:cNvSpPr txBox="1"/>
          <p:nvPr/>
        </p:nvSpPr>
        <p:spPr>
          <a:xfrm>
            <a:off x="211225" y="721115"/>
            <a:ext cx="7086600" cy="4058400"/>
          </a:xfrm>
          <a:prstGeom prst="rect">
            <a:avLst/>
          </a:prstGeom>
          <a:noFill/>
          <a:ln>
            <a:noFill/>
          </a:ln>
        </p:spPr>
        <p:txBody>
          <a:bodyPr anchorCtr="0" anchor="ctr" bIns="50800" lIns="50800" spcFirstLastPara="1" rIns="50800" wrap="square" tIns="50800">
            <a:spAutoFit/>
          </a:bodyPr>
          <a:lstStyle/>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Cases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Channel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dk1"/>
              </a:buClr>
              <a:buSzPts val="1500"/>
              <a:buFont typeface="Helvetica Neue"/>
              <a:buAutoNum type="arabicPeriod"/>
            </a:pPr>
            <a:r>
              <a:rPr b="1" i="0" lang="en-GB" sz="1500" u="none" cap="none" strike="noStrike">
                <a:solidFill>
                  <a:schemeClr val="dk1"/>
                </a:solidFill>
                <a:latin typeface="Helvetica Neue"/>
                <a:ea typeface="Helvetica Neue"/>
                <a:cs typeface="Helvetica Neue"/>
                <a:sym typeface="Helvetica Neue"/>
              </a:rPr>
              <a:t>PeC Incoming Channel Performance</a:t>
            </a:r>
            <a:br>
              <a:rPr b="0" i="0" lang="en-GB" sz="1500" u="none" cap="none" strike="noStrike">
                <a:solidFill>
                  <a:schemeClr val="dk1"/>
                </a:solidFill>
                <a:latin typeface="Helvetica Neue Light"/>
                <a:ea typeface="Helvetica Neue Light"/>
                <a:cs typeface="Helvetica Neue Light"/>
                <a:sym typeface="Helvetica Neue Light"/>
              </a:rPr>
            </a:br>
            <a:r>
              <a:rPr b="0" i="0" lang="en-GB" sz="1500" u="none" cap="none" strike="noStrike">
                <a:solidFill>
                  <a:schemeClr val="dk1"/>
                </a:solidFill>
                <a:latin typeface="Helvetica Neue Light"/>
                <a:ea typeface="Helvetica Neue Light"/>
                <a:cs typeface="Helvetica Neue Light"/>
                <a:sym typeface="Helvetica Neue Light"/>
              </a:rPr>
              <a:t>- Proton e.MAS Incoming Calls Analysis</a:t>
            </a:r>
            <a:br>
              <a:rPr b="0" i="0" lang="en-GB" sz="1500" u="none" cap="none" strike="noStrike">
                <a:solidFill>
                  <a:schemeClr val="dk1"/>
                </a:solidFill>
                <a:latin typeface="Helvetica Neue Light"/>
                <a:ea typeface="Helvetica Neue Light"/>
                <a:cs typeface="Helvetica Neue Light"/>
                <a:sym typeface="Helvetica Neue Light"/>
              </a:rPr>
            </a:br>
            <a:r>
              <a:rPr b="0" i="0" lang="en-GB" sz="1500" u="none" cap="none" strike="noStrike">
                <a:solidFill>
                  <a:schemeClr val="dk1"/>
                </a:solidFill>
                <a:latin typeface="Helvetica Neue Light"/>
                <a:ea typeface="Helvetica Neue Light"/>
                <a:cs typeface="Helvetica Neue Light"/>
                <a:sym typeface="Helvetica Neue Light"/>
              </a:rPr>
              <a:t>- Proton e.MAS Calls Average Handling Time</a:t>
            </a:r>
            <a:endParaRPr b="0" i="0" sz="1500" u="none" cap="none" strike="noStrike">
              <a:solidFill>
                <a:schemeClr val="dk1"/>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Concern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Inquiry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Complaint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Feedback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Dealer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Case Escalated To Dealers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Dealer Complaint Case Escalation Trends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Dealer Turnaround Time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Work In Progress (WIP) Cases </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7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RSA Analysis</a:t>
            </a:r>
            <a:endParaRPr b="1" i="0" sz="1500" u="none" cap="none" strike="noStrike">
              <a:solidFill>
                <a:schemeClr val="accent6"/>
              </a:solidFill>
              <a:latin typeface="Helvetica Neue"/>
              <a:ea typeface="Helvetica Neue"/>
              <a:cs typeface="Helvetica Neue"/>
              <a:sym typeface="Helvetica Neue"/>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RSA Call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Summary</a:t>
            </a:r>
            <a:endParaRPr b="1" i="0" sz="1500" u="none" cap="none" strike="noStrike">
              <a:solidFill>
                <a:schemeClr val="accent6"/>
              </a:solidFill>
              <a:latin typeface="Helvetica Neue"/>
              <a:ea typeface="Helvetica Neue"/>
              <a:cs typeface="Helvetica Neue"/>
              <a:sym typeface="Helvetica Neue"/>
            </a:endParaRPr>
          </a:p>
        </p:txBody>
      </p:sp>
      <p:cxnSp>
        <p:nvCxnSpPr>
          <p:cNvPr id="134" name="Google Shape;134;p27"/>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8"/>
          <p:cNvSpPr txBox="1"/>
          <p:nvPr/>
        </p:nvSpPr>
        <p:spPr>
          <a:xfrm>
            <a:off x="95075" y="139350"/>
            <a:ext cx="52917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Incoming Calls Analysis – June 2026</a:t>
            </a:r>
            <a:endParaRPr b="1" i="0" sz="1800" u="none" cap="none" strike="noStrike">
              <a:solidFill>
                <a:schemeClr val="dk1"/>
              </a:solidFill>
              <a:latin typeface="Helvetica Neue"/>
              <a:ea typeface="Helvetica Neue"/>
              <a:cs typeface="Helvetica Neue"/>
              <a:sym typeface="Helvetica Neue"/>
            </a:endParaRPr>
          </a:p>
        </p:txBody>
      </p:sp>
      <p:sp>
        <p:nvSpPr>
          <p:cNvPr id="140" name="Google Shape;140;p28"/>
          <p:cNvSpPr/>
          <p:nvPr/>
        </p:nvSpPr>
        <p:spPr>
          <a:xfrm>
            <a:off x="5136400" y="2233960"/>
            <a:ext cx="3241200" cy="11298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400"/>
              </a:spcBef>
              <a:spcAft>
                <a:spcPts val="0"/>
              </a:spcAft>
              <a:buClr>
                <a:srgbClr val="000000"/>
              </a:buClr>
              <a:buSzPts val="900"/>
              <a:buFont typeface="Arial"/>
              <a:buNone/>
            </a:pPr>
            <a:r>
              <a:rPr b="1" i="0" lang="en-GB" sz="900" u="sng" cap="none" strike="noStrike">
                <a:solidFill>
                  <a:schemeClr val="dk1"/>
                </a:solidFill>
                <a:latin typeface="Helvetica Neue"/>
                <a:ea typeface="Helvetica Neue"/>
                <a:cs typeface="Helvetica Neue"/>
                <a:sym typeface="Helvetica Neue"/>
              </a:rPr>
              <a:t>June 2026 – PeC Customer Careline Call Performance</a:t>
            </a:r>
            <a:endParaRPr b="1" i="0" sz="900" u="sng" cap="none" strike="noStrike">
              <a:solidFill>
                <a:schemeClr val="dk1"/>
              </a:solidFill>
              <a:latin typeface="Helvetica Neue"/>
              <a:ea typeface="Helvetica Neue"/>
              <a:cs typeface="Helvetica Neue"/>
              <a:sym typeface="Helvetica Neue"/>
            </a:endParaRPr>
          </a:p>
          <a:p>
            <a:pPr indent="-285750" lvl="0" marL="457200" marR="0" rtl="0" algn="l">
              <a:lnSpc>
                <a:spcPct val="115000"/>
              </a:lnSpc>
              <a:spcBef>
                <a:spcPts val="1200"/>
              </a:spcBef>
              <a:spcAft>
                <a:spcPts val="0"/>
              </a:spcAft>
              <a:buClr>
                <a:schemeClr val="dk1"/>
              </a:buClr>
              <a:buSzPts val="900"/>
              <a:buFont typeface="Arial"/>
              <a:buChar char="●"/>
            </a:pPr>
            <a:r>
              <a:rPr b="1" i="0" lang="en-GB" sz="900" u="none" cap="none" strike="noStrike">
                <a:solidFill>
                  <a:schemeClr val="dk1"/>
                </a:solidFill>
                <a:latin typeface="Helvetica Neue"/>
                <a:ea typeface="Helvetica Neue"/>
                <a:cs typeface="Helvetica Neue"/>
                <a:sym typeface="Helvetica Neue"/>
              </a:rPr>
              <a:t>Total Inbound Calls		: 480</a:t>
            </a:r>
            <a:endParaRPr b="1" i="0" sz="900" u="none" cap="none" strike="noStrike">
              <a:solidFill>
                <a:schemeClr val="dk1"/>
              </a:solidFill>
              <a:latin typeface="Helvetica Neue"/>
              <a:ea typeface="Helvetica Neue"/>
              <a:cs typeface="Helvetica Neue"/>
              <a:sym typeface="Helvetica Neue"/>
            </a:endParaRPr>
          </a:p>
          <a:p>
            <a:pPr indent="-285750" lvl="0" marL="457200" marR="0" rtl="0" algn="l">
              <a:lnSpc>
                <a:spcPct val="115000"/>
              </a:lnSpc>
              <a:spcBef>
                <a:spcPts val="0"/>
              </a:spcBef>
              <a:spcAft>
                <a:spcPts val="0"/>
              </a:spcAft>
              <a:buClr>
                <a:schemeClr val="dk1"/>
              </a:buClr>
              <a:buSzPts val="900"/>
              <a:buFont typeface="Arial"/>
              <a:buChar char="●"/>
            </a:pPr>
            <a:r>
              <a:rPr b="1" i="0" lang="en-GB" sz="900" u="none" cap="none" strike="noStrike">
                <a:solidFill>
                  <a:schemeClr val="dk1"/>
                </a:solidFill>
                <a:latin typeface="Helvetica Neue"/>
                <a:ea typeface="Helvetica Neue"/>
                <a:cs typeface="Helvetica Neue"/>
                <a:sym typeface="Helvetica Neue"/>
              </a:rPr>
              <a:t>Abandoned Calls		: 0</a:t>
            </a:r>
            <a:endParaRPr b="1" i="0" sz="900" u="none" cap="none" strike="noStrike">
              <a:solidFill>
                <a:schemeClr val="dk1"/>
              </a:solidFill>
              <a:latin typeface="Helvetica Neue"/>
              <a:ea typeface="Helvetica Neue"/>
              <a:cs typeface="Helvetica Neue"/>
              <a:sym typeface="Helvetica Neue"/>
            </a:endParaRPr>
          </a:p>
          <a:p>
            <a:pPr indent="-285750" lvl="0" marL="457200" marR="0" rtl="0" algn="l">
              <a:lnSpc>
                <a:spcPct val="115000"/>
              </a:lnSpc>
              <a:spcBef>
                <a:spcPts val="0"/>
              </a:spcBef>
              <a:spcAft>
                <a:spcPts val="0"/>
              </a:spcAft>
              <a:buClr>
                <a:schemeClr val="dk1"/>
              </a:buClr>
              <a:buSzPts val="900"/>
              <a:buFont typeface="Arial"/>
              <a:buChar char="●"/>
            </a:pPr>
            <a:r>
              <a:rPr b="1" i="0" lang="en-GB" sz="900" u="none" cap="none" strike="noStrike">
                <a:solidFill>
                  <a:schemeClr val="dk1"/>
                </a:solidFill>
                <a:latin typeface="Helvetica Neue"/>
                <a:ea typeface="Helvetica Neue"/>
                <a:cs typeface="Helvetica Neue"/>
                <a:sym typeface="Helvetica Neue"/>
              </a:rPr>
              <a:t>SLA Within 20 Seconds		: 100%</a:t>
            </a:r>
            <a:endParaRPr b="0" i="1" sz="9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1200"/>
              </a:spcBef>
              <a:spcAft>
                <a:spcPts val="0"/>
              </a:spcAft>
              <a:buClr>
                <a:srgbClr val="000000"/>
              </a:buClr>
              <a:buSzPts val="1000"/>
              <a:buFont typeface="Arial"/>
              <a:buNone/>
            </a:pPr>
            <a:r>
              <a:t/>
            </a:r>
            <a:endParaRPr b="0" i="0" sz="10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1200"/>
              </a:spcBef>
              <a:spcAft>
                <a:spcPts val="0"/>
              </a:spcAft>
              <a:buClr>
                <a:srgbClr val="000000"/>
              </a:buClr>
              <a:buSzPts val="1000"/>
              <a:buFont typeface="Arial"/>
              <a:buNone/>
            </a:pPr>
            <a:r>
              <a:t/>
            </a:r>
            <a:endParaRPr b="0" i="1" sz="10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1200"/>
              </a:spcBef>
              <a:spcAft>
                <a:spcPts val="1200"/>
              </a:spcAft>
              <a:buClr>
                <a:srgbClr val="000000"/>
              </a:buClr>
              <a:buSzPts val="1000"/>
              <a:buFont typeface="Arial"/>
              <a:buNone/>
            </a:pPr>
            <a:r>
              <a:t/>
            </a:r>
            <a:endParaRPr b="0" i="0" sz="1000" u="none" cap="none" strike="noStrike">
              <a:solidFill>
                <a:schemeClr val="dk1"/>
              </a:solidFill>
              <a:latin typeface="Helvetica Neue Light"/>
              <a:ea typeface="Helvetica Neue Light"/>
              <a:cs typeface="Helvetica Neue Light"/>
              <a:sym typeface="Helvetica Neue Light"/>
            </a:endParaRPr>
          </a:p>
        </p:txBody>
      </p:sp>
      <p:sp>
        <p:nvSpPr>
          <p:cNvPr id="141" name="Google Shape;141;p28"/>
          <p:cNvSpPr txBox="1"/>
          <p:nvPr/>
        </p:nvSpPr>
        <p:spPr>
          <a:xfrm>
            <a:off x="245650" y="4917825"/>
            <a:ext cx="4235400" cy="194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700"/>
              <a:buFont typeface="Arial"/>
              <a:buNone/>
            </a:pPr>
            <a:r>
              <a:rPr b="0" i="1" lang="en-GB" sz="700" u="none" cap="none" strike="noStrike">
                <a:solidFill>
                  <a:schemeClr val="dk1"/>
                </a:solidFill>
                <a:latin typeface="Helvetica Neue"/>
                <a:ea typeface="Helvetica Neue"/>
                <a:cs typeface="Helvetica Neue"/>
                <a:sym typeface="Helvetica Neue"/>
              </a:rPr>
              <a:t>Chart shows answered, abandoned calls, and &lt;20s response rate during operating hours.</a:t>
            </a:r>
            <a:endParaRPr b="0" i="0" sz="7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42" name="Google Shape;142;p28"/>
          <p:cNvGraphicFramePr/>
          <p:nvPr/>
        </p:nvGraphicFramePr>
        <p:xfrm>
          <a:off x="245638" y="807524"/>
          <a:ext cx="3000000" cy="3000000"/>
        </p:xfrm>
        <a:graphic>
          <a:graphicData uri="http://schemas.openxmlformats.org/drawingml/2006/table">
            <a:tbl>
              <a:tblPr>
                <a:noFill/>
                <a:tableStyleId>{FA528319-6F98-4B39-B0ED-26271DCD7A62}</a:tableStyleId>
              </a:tblPr>
              <a:tblGrid>
                <a:gridCol w="1385225"/>
                <a:gridCol w="1492500"/>
                <a:gridCol w="1365700"/>
                <a:gridCol w="1385225"/>
                <a:gridCol w="1336450"/>
                <a:gridCol w="1687625"/>
              </a:tblGrid>
              <a:tr h="190200">
                <a:tc rowSpan="2">
                  <a:txBody>
                    <a:bodyPr/>
                    <a:lstStyle/>
                    <a:p>
                      <a:pPr indent="0" lvl="0" marL="0" marR="0" rtl="0" algn="ctr">
                        <a:lnSpc>
                          <a:spcPct val="115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Month</a:t>
                      </a:r>
                      <a:endParaRPr b="1"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BCC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Total number of incoming calls</a:t>
                      </a:r>
                      <a:endParaRPr b="1"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BCC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Total number of calls answer</a:t>
                      </a:r>
                      <a:endParaRPr b="1"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BCC1"/>
                    </a:solidFill>
                  </a:tcPr>
                </a:tc>
                <a:tc gridSpan="2">
                  <a:txBody>
                    <a:bodyPr/>
                    <a:lstStyle/>
                    <a:p>
                      <a:pPr indent="0" lvl="0" marL="0" marR="0" rtl="0" algn="ctr">
                        <a:lnSpc>
                          <a:spcPct val="115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Total number of calls abandoned</a:t>
                      </a:r>
                      <a:endParaRPr b="1"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BCC1"/>
                    </a:solidFill>
                  </a:tcPr>
                </a:tc>
                <a:tc hMerge="1"/>
                <a:tc rowSpan="2">
                  <a:txBody>
                    <a:bodyPr/>
                    <a:lstStyle/>
                    <a:p>
                      <a:pPr indent="0" lvl="0" marL="0" marR="0" rtl="0" algn="ctr">
                        <a:lnSpc>
                          <a:spcPct val="115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 calls answered within 20 Seconds</a:t>
                      </a:r>
                      <a:endParaRPr b="1"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BCC1"/>
                    </a:solidFill>
                  </a:tcPr>
                </a:tc>
              </a:tr>
              <a:tr h="124100">
                <a:tc vMerge="1"/>
                <a:tc vMerge="1"/>
                <a:tc vMerge="1"/>
                <a:tc>
                  <a:txBody>
                    <a:bodyPr/>
                    <a:lstStyle/>
                    <a:p>
                      <a:pPr indent="0" lvl="0" marL="0" marR="0" rtl="0" algn="ctr">
                        <a:lnSpc>
                          <a:spcPct val="115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Working Hours</a:t>
                      </a:r>
                      <a:endParaRPr b="1"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F4D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Non - Working Hours</a:t>
                      </a:r>
                      <a:endParaRPr b="1"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DC3"/>
                    </a:solidFill>
                  </a:tcPr>
                </a:tc>
                <a:tc vMerge="1"/>
              </a:tr>
              <a:tr h="249200">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June 2026</a:t>
                      </a:r>
                      <a:endParaRPr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480</a:t>
                      </a:r>
                      <a:endParaRPr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480</a:t>
                      </a:r>
                      <a:endParaRPr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0</a:t>
                      </a:r>
                      <a:endParaRPr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7F4D8"/>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0</a:t>
                      </a:r>
                      <a:endParaRPr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DC3"/>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100</a:t>
                      </a:r>
                      <a:endParaRPr sz="8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2F2F2"/>
                    </a:solidFill>
                  </a:tcPr>
                </a:tc>
              </a:tr>
            </a:tbl>
          </a:graphicData>
        </a:graphic>
      </p:graphicFrame>
      <p:pic>
        <p:nvPicPr>
          <p:cNvPr id="143" name="Google Shape;143;p28" title="Chart"/>
          <p:cNvPicPr preferRelativeResize="0"/>
          <p:nvPr/>
        </p:nvPicPr>
        <p:blipFill rotWithShape="1">
          <a:blip r:embed="rId3">
            <a:alphaModFix/>
          </a:blip>
          <a:srcRect b="0" l="0" r="0" t="0"/>
          <a:stretch/>
        </p:blipFill>
        <p:spPr>
          <a:xfrm>
            <a:off x="245653" y="1851900"/>
            <a:ext cx="4292801" cy="2943690"/>
          </a:xfrm>
          <a:prstGeom prst="rect">
            <a:avLst/>
          </a:prstGeom>
          <a:noFill/>
          <a:ln>
            <a:noFill/>
          </a:ln>
        </p:spPr>
      </p:pic>
      <p:cxnSp>
        <p:nvCxnSpPr>
          <p:cNvPr id="144" name="Google Shape;144;p28"/>
          <p:cNvCxnSpPr/>
          <p:nvPr/>
        </p:nvCxnSpPr>
        <p:spPr>
          <a:xfrm>
            <a:off x="108575" y="550158"/>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9"/>
          <p:cNvSpPr txBox="1"/>
          <p:nvPr/>
        </p:nvSpPr>
        <p:spPr>
          <a:xfrm>
            <a:off x="4572000" y="3657900"/>
            <a:ext cx="3812400" cy="1107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800"/>
              <a:buFont typeface="Arial"/>
              <a:buNone/>
            </a:pPr>
            <a:r>
              <a:rPr b="0" i="1" lang="en-GB" sz="800" u="none" cap="none" strike="noStrike">
                <a:solidFill>
                  <a:schemeClr val="dk1"/>
                </a:solidFill>
                <a:latin typeface="Helvetica Neue"/>
                <a:ea typeface="Helvetica Neue"/>
                <a:cs typeface="Helvetica Neue"/>
                <a:sym typeface="Helvetica Neue"/>
              </a:rPr>
              <a:t>Chart above reflects AHT trend in June’26.</a:t>
            </a:r>
            <a:endParaRPr b="0" i="1" sz="800" u="none" cap="none" strike="noStrike">
              <a:solidFill>
                <a:schemeClr val="dk1"/>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000000"/>
              </a:buClr>
              <a:buSzPts val="800"/>
              <a:buFont typeface="Arial"/>
              <a:buNone/>
            </a:pPr>
            <a:br>
              <a:rPr b="1" i="0" lang="en-GB" sz="800" u="sng" cap="none" strike="noStrike">
                <a:solidFill>
                  <a:schemeClr val="dk1"/>
                </a:solidFill>
                <a:latin typeface="Helvetica Neue"/>
                <a:ea typeface="Helvetica Neue"/>
                <a:cs typeface="Helvetica Neue"/>
                <a:sym typeface="Helvetica Neue"/>
              </a:rPr>
            </a:br>
            <a:endParaRPr b="1" i="0" sz="800" u="sng" cap="none" strike="noStrike">
              <a:solidFill>
                <a:schemeClr val="dk1"/>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000000"/>
              </a:buClr>
              <a:buSzPts val="800"/>
              <a:buFont typeface="Arial"/>
              <a:buNone/>
            </a:pPr>
            <a:r>
              <a:rPr b="1" i="0" lang="en-GB" sz="800" u="none" cap="none" strike="noStrike">
                <a:solidFill>
                  <a:schemeClr val="dk1"/>
                </a:solidFill>
                <a:latin typeface="Helvetica Neue"/>
                <a:ea typeface="Helvetica Neue"/>
                <a:cs typeface="Helvetica Neue"/>
                <a:sym typeface="Helvetica Neue"/>
              </a:rPr>
              <a:t>Findings:</a:t>
            </a:r>
            <a:endParaRPr b="0" i="0" sz="800" u="none" cap="none" strike="noStrike">
              <a:solidFill>
                <a:schemeClr val="dk1"/>
              </a:solidFill>
              <a:latin typeface="Helvetica Neue"/>
              <a:ea typeface="Helvetica Neue"/>
              <a:cs typeface="Helvetica Neue"/>
              <a:sym typeface="Helvetica Neue"/>
            </a:endParaRPr>
          </a:p>
          <a:p>
            <a:pPr indent="-279400" lvl="0" marL="457200" marR="0" rtl="0" algn="l">
              <a:lnSpc>
                <a:spcPct val="100000"/>
              </a:lnSpc>
              <a:spcBef>
                <a:spcPts val="0"/>
              </a:spcBef>
              <a:spcAft>
                <a:spcPts val="0"/>
              </a:spcAft>
              <a:buClr>
                <a:schemeClr val="dk1"/>
              </a:buClr>
              <a:buSzPts val="800"/>
              <a:buFont typeface="Helvetica Neue Light"/>
              <a:buChar char="●"/>
            </a:pPr>
            <a:r>
              <a:rPr b="1" i="0" lang="en-GB" sz="800" u="none" cap="none" strike="noStrike">
                <a:solidFill>
                  <a:schemeClr val="dk1"/>
                </a:solidFill>
                <a:latin typeface="Helvetica Neue"/>
                <a:ea typeface="Helvetica Neue"/>
                <a:cs typeface="Helvetica Neue"/>
                <a:sym typeface="Helvetica Neue"/>
              </a:rPr>
              <a:t>AHT </a:t>
            </a:r>
            <a:r>
              <a:rPr b="0" i="0" lang="en-GB" sz="800" u="none" cap="none" strike="noStrike">
                <a:solidFill>
                  <a:schemeClr val="dk1"/>
                </a:solidFill>
                <a:latin typeface="Helvetica Neue"/>
                <a:ea typeface="Helvetica Neue"/>
                <a:cs typeface="Helvetica Neue"/>
                <a:sym typeface="Helvetica Neue"/>
              </a:rPr>
              <a:t>in June is </a:t>
            </a:r>
            <a:r>
              <a:rPr b="1" i="0" lang="en-GB" sz="800" u="none" cap="none" strike="noStrike">
                <a:solidFill>
                  <a:schemeClr val="dk1"/>
                </a:solidFill>
                <a:latin typeface="Helvetica Neue"/>
                <a:ea typeface="Helvetica Neue"/>
                <a:cs typeface="Helvetica Neue"/>
                <a:sym typeface="Helvetica Neue"/>
              </a:rPr>
              <a:t>4 mins 22 seconds </a:t>
            </a:r>
            <a:r>
              <a:rPr b="0" i="0" lang="en-GB" sz="800" u="none" cap="none" strike="noStrike">
                <a:solidFill>
                  <a:schemeClr val="dk1"/>
                </a:solidFill>
                <a:latin typeface="Helvetica Neue"/>
                <a:ea typeface="Helvetica Neue"/>
                <a:cs typeface="Helvetica Neue"/>
                <a:sym typeface="Helvetica Neue"/>
              </a:rPr>
              <a:t>(within 5 min target)</a:t>
            </a:r>
            <a:endParaRPr b="0" i="0" sz="800" u="none" cap="none" strike="noStrike">
              <a:solidFill>
                <a:schemeClr val="dk1"/>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800"/>
              <a:buFont typeface="Arial"/>
              <a:buNone/>
            </a:pPr>
            <a:r>
              <a:t/>
            </a:r>
            <a:endParaRPr b="1" i="0" sz="800" u="none" cap="none" strike="noStrike">
              <a:solidFill>
                <a:schemeClr val="dk1"/>
              </a:solidFill>
              <a:latin typeface="Helvetica Neue"/>
              <a:ea typeface="Helvetica Neue"/>
              <a:cs typeface="Helvetica Neue"/>
              <a:sym typeface="Helvetica Neue"/>
            </a:endParaRPr>
          </a:p>
        </p:txBody>
      </p:sp>
      <p:sp>
        <p:nvSpPr>
          <p:cNvPr id="150" name="Google Shape;150;p29"/>
          <p:cNvSpPr txBox="1"/>
          <p:nvPr/>
        </p:nvSpPr>
        <p:spPr>
          <a:xfrm>
            <a:off x="244588" y="785850"/>
            <a:ext cx="4272600" cy="40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700"/>
              <a:buFont typeface="Arial"/>
              <a:buNone/>
            </a:pPr>
            <a:r>
              <a:rPr b="1" i="0" lang="en-GB" sz="700" u="none" cap="none" strike="noStrike">
                <a:solidFill>
                  <a:schemeClr val="dk1"/>
                </a:solidFill>
                <a:latin typeface="Helvetica Neue"/>
                <a:ea typeface="Helvetica Neue"/>
                <a:cs typeface="Helvetica Neue"/>
                <a:sym typeface="Helvetica Neue"/>
              </a:rPr>
              <a:t>*Calls Average Queue Time (AQT)</a:t>
            </a:r>
            <a:r>
              <a:rPr b="0" i="0" lang="en-GB" sz="700" u="none" cap="none" strike="noStrike">
                <a:solidFill>
                  <a:schemeClr val="dk1"/>
                </a:solidFill>
                <a:latin typeface="Helvetica Neue Light"/>
                <a:ea typeface="Helvetica Neue Light"/>
                <a:cs typeface="Helvetica Neue Light"/>
                <a:sym typeface="Helvetica Neue Light"/>
              </a:rPr>
              <a:t>: The AQT calculation excludes the queue time for abandoned calls only during working hours. (Exclude misdial data)</a:t>
            </a:r>
            <a:endParaRPr b="0" i="0" sz="1400" u="none" cap="none" strike="noStrike">
              <a:solidFill>
                <a:srgbClr val="000000"/>
              </a:solidFill>
              <a:latin typeface="Arial"/>
              <a:ea typeface="Arial"/>
              <a:cs typeface="Arial"/>
              <a:sym typeface="Arial"/>
            </a:endParaRPr>
          </a:p>
        </p:txBody>
      </p:sp>
      <p:graphicFrame>
        <p:nvGraphicFramePr>
          <p:cNvPr id="151" name="Google Shape;151;p29"/>
          <p:cNvGraphicFramePr/>
          <p:nvPr/>
        </p:nvGraphicFramePr>
        <p:xfrm>
          <a:off x="4642388" y="845675"/>
          <a:ext cx="3000000" cy="3000000"/>
        </p:xfrm>
        <a:graphic>
          <a:graphicData uri="http://schemas.openxmlformats.org/drawingml/2006/table">
            <a:tbl>
              <a:tblPr bandRow="1" firstRow="1">
                <a:noFill/>
                <a:tableStyleId>{0967DA15-EF89-4B88-9AFB-408770A3312D}</a:tableStyleId>
              </a:tblPr>
              <a:tblGrid>
                <a:gridCol w="512650"/>
                <a:gridCol w="382850"/>
                <a:gridCol w="3158850"/>
              </a:tblGrid>
              <a:tr h="370850">
                <a:tc gridSpan="3">
                  <a:txBody>
                    <a:bodyPr/>
                    <a:lstStyle/>
                    <a:p>
                      <a:pPr indent="0" lvl="0" marL="0" marR="0" rtl="0" algn="just">
                        <a:lnSpc>
                          <a:spcPct val="100000"/>
                        </a:lnSpc>
                        <a:spcBef>
                          <a:spcPts val="0"/>
                        </a:spcBef>
                        <a:spcAft>
                          <a:spcPts val="0"/>
                        </a:spcAft>
                        <a:buClr>
                          <a:srgbClr val="141414"/>
                        </a:buClr>
                        <a:buSzPts val="800"/>
                        <a:buFont typeface="Arial"/>
                        <a:buNone/>
                      </a:pPr>
                      <a:r>
                        <a:rPr lang="en-GB" sz="700" u="none" cap="none" strike="noStrike">
                          <a:latin typeface="Helvetica Neue Light"/>
                          <a:ea typeface="Helvetica Neue Light"/>
                          <a:cs typeface="Helvetica Neue Light"/>
                          <a:sym typeface="Helvetica Neue Light"/>
                        </a:rPr>
                        <a:t>*</a:t>
                      </a:r>
                      <a:r>
                        <a:rPr b="1" lang="en-GB" sz="700" u="none" cap="none" strike="noStrike">
                          <a:latin typeface="Helvetica Neue"/>
                          <a:ea typeface="Helvetica Neue"/>
                          <a:cs typeface="Helvetica Neue"/>
                          <a:sym typeface="Helvetica Neue"/>
                        </a:rPr>
                        <a:t>Calls Average Handling Time (</a:t>
                      </a:r>
                      <a:r>
                        <a:rPr b="1" lang="en-GB" sz="700" u="none" cap="none" strike="noStrike">
                          <a:solidFill>
                            <a:schemeClr val="dk1"/>
                          </a:solidFill>
                          <a:latin typeface="Helvetica Neue"/>
                          <a:ea typeface="Helvetica Neue"/>
                          <a:cs typeface="Helvetica Neue"/>
                          <a:sym typeface="Helvetica Neue"/>
                        </a:rPr>
                        <a:t>AHT):</a:t>
                      </a:r>
                      <a:r>
                        <a:rPr lang="en-GB" sz="700" u="none" cap="none" strike="noStrike">
                          <a:solidFill>
                            <a:schemeClr val="dk1"/>
                          </a:solidFill>
                          <a:latin typeface="Helvetica Neue Light"/>
                          <a:ea typeface="Helvetica Neue Light"/>
                          <a:cs typeface="Helvetica Neue Light"/>
                          <a:sym typeface="Helvetica Neue Light"/>
                        </a:rPr>
                        <a:t> </a:t>
                      </a:r>
                      <a:r>
                        <a:rPr lang="en-GB" sz="700" u="none" cap="none" strike="noStrike">
                          <a:latin typeface="Helvetica Neue Light"/>
                          <a:ea typeface="Helvetica Neue Light"/>
                          <a:cs typeface="Helvetica Neue Light"/>
                          <a:sym typeface="Helvetica Neue Light"/>
                        </a:rPr>
                        <a:t>The AHT calculation includes incoming calls during working hour and excludes RSA calls. (Exclude misdial data) </a:t>
                      </a:r>
                      <a:endParaRPr sz="700" u="none" cap="none" strike="noStrike">
                        <a:latin typeface="Helvetica Neue Light"/>
                        <a:ea typeface="Helvetica Neue Light"/>
                        <a:cs typeface="Helvetica Neue Light"/>
                        <a:sym typeface="Helvetica Neue Light"/>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r>
            </a:tbl>
          </a:graphicData>
        </a:graphic>
      </p:graphicFrame>
      <p:sp>
        <p:nvSpPr>
          <p:cNvPr id="152" name="Google Shape;152;p29"/>
          <p:cNvSpPr txBox="1"/>
          <p:nvPr/>
        </p:nvSpPr>
        <p:spPr>
          <a:xfrm>
            <a:off x="95075" y="215550"/>
            <a:ext cx="7004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Calls Average Queue &amp; Handling Time – Jan to June 2026 </a:t>
            </a:r>
            <a:endParaRPr b="1" i="0" sz="1800" u="none" cap="none" strike="noStrike">
              <a:solidFill>
                <a:schemeClr val="dk1"/>
              </a:solidFill>
              <a:latin typeface="Helvetica Neue"/>
              <a:ea typeface="Helvetica Neue"/>
              <a:cs typeface="Helvetica Neue"/>
              <a:sym typeface="Helvetica Neue"/>
            </a:endParaRPr>
          </a:p>
        </p:txBody>
      </p:sp>
      <p:sp>
        <p:nvSpPr>
          <p:cNvPr id="153" name="Google Shape;153;p29"/>
          <p:cNvSpPr txBox="1"/>
          <p:nvPr/>
        </p:nvSpPr>
        <p:spPr>
          <a:xfrm>
            <a:off x="444625" y="3537600"/>
            <a:ext cx="3989100" cy="149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1" lang="en-GB" sz="800" u="none" cap="none" strike="noStrike">
                <a:solidFill>
                  <a:schemeClr val="dk1"/>
                </a:solidFill>
                <a:latin typeface="Helvetica Neue"/>
                <a:ea typeface="Helvetica Neue"/>
                <a:cs typeface="Helvetica Neue"/>
                <a:sym typeface="Helvetica Neue"/>
              </a:rPr>
              <a:t>Chart above displays monthly AQT trend.</a:t>
            </a:r>
            <a:br>
              <a:rPr b="0" i="1" lang="en-GB" sz="800" u="none" cap="none" strike="noStrike">
                <a:solidFill>
                  <a:schemeClr val="dk1"/>
                </a:solidFill>
                <a:latin typeface="Helvetica Neue"/>
                <a:ea typeface="Helvetica Neue"/>
                <a:cs typeface="Helvetica Neue"/>
                <a:sym typeface="Helvetica Neue"/>
              </a:rPr>
            </a:br>
            <a:br>
              <a:rPr b="1" i="0" lang="en-GB" sz="800" u="none" cap="none" strike="noStrike">
                <a:solidFill>
                  <a:schemeClr val="dk1"/>
                </a:solidFill>
                <a:latin typeface="Helvetica Neue"/>
                <a:ea typeface="Helvetica Neue"/>
                <a:cs typeface="Helvetica Neue"/>
                <a:sym typeface="Helvetica Neue"/>
              </a:rPr>
            </a:br>
            <a:r>
              <a:rPr b="1" i="0" lang="en-GB" sz="800" u="none" cap="none" strike="noStrike">
                <a:solidFill>
                  <a:schemeClr val="dk1"/>
                </a:solidFill>
                <a:latin typeface="Helvetica Neue"/>
                <a:ea typeface="Helvetica Neue"/>
                <a:cs typeface="Helvetica Neue"/>
                <a:sym typeface="Helvetica Neue"/>
              </a:rPr>
              <a:t>Findings:</a:t>
            </a:r>
            <a:endParaRPr b="0" i="0" sz="800" u="none" cap="none" strike="noStrike">
              <a:solidFill>
                <a:schemeClr val="dk1"/>
              </a:solidFill>
              <a:latin typeface="Helvetica Neue"/>
              <a:ea typeface="Helvetica Neue"/>
              <a:cs typeface="Helvetica Neue"/>
              <a:sym typeface="Helvetica Neue"/>
            </a:endParaRPr>
          </a:p>
          <a:p>
            <a:pPr indent="-279400" lvl="0" marL="457200" marR="0" rtl="0" algn="l">
              <a:lnSpc>
                <a:spcPct val="100000"/>
              </a:lnSpc>
              <a:spcBef>
                <a:spcPts val="0"/>
              </a:spcBef>
              <a:spcAft>
                <a:spcPts val="0"/>
              </a:spcAft>
              <a:buClr>
                <a:schemeClr val="dk1"/>
              </a:buClr>
              <a:buSzPts val="800"/>
              <a:buFont typeface="Helvetica Neue"/>
              <a:buChar char="●"/>
            </a:pPr>
            <a:r>
              <a:rPr b="1" i="0" lang="en-GB" sz="800" u="none" cap="none" strike="noStrike">
                <a:solidFill>
                  <a:schemeClr val="dk1"/>
                </a:solidFill>
                <a:latin typeface="Helvetica Neue"/>
                <a:ea typeface="Helvetica Neue"/>
                <a:cs typeface="Helvetica Neue"/>
                <a:sym typeface="Helvetica Neue"/>
              </a:rPr>
              <a:t>June AQT:</a:t>
            </a:r>
            <a:r>
              <a:rPr b="0" i="0" lang="en-GB" sz="800" u="none" cap="none" strike="noStrike">
                <a:solidFill>
                  <a:schemeClr val="dk1"/>
                </a:solidFill>
                <a:latin typeface="Helvetica Neue"/>
                <a:ea typeface="Helvetica Neue"/>
                <a:cs typeface="Helvetica Neue"/>
                <a:sym typeface="Helvetica Neue"/>
              </a:rPr>
              <a:t> 11 secs </a:t>
            </a:r>
            <a:endParaRPr b="0" i="0" sz="800" u="none" cap="none" strike="noStrike">
              <a:solidFill>
                <a:schemeClr val="dk1"/>
              </a:solidFill>
              <a:latin typeface="Helvetica Neue"/>
              <a:ea typeface="Helvetica Neue"/>
              <a:cs typeface="Helvetica Neue"/>
              <a:sym typeface="Helvetica Neue"/>
            </a:endParaRPr>
          </a:p>
          <a:p>
            <a:pPr indent="-279400" lvl="0" marL="457200" marR="0" rtl="0" algn="l">
              <a:lnSpc>
                <a:spcPct val="100000"/>
              </a:lnSpc>
              <a:spcBef>
                <a:spcPts val="0"/>
              </a:spcBef>
              <a:spcAft>
                <a:spcPts val="0"/>
              </a:spcAft>
              <a:buClr>
                <a:schemeClr val="dk1"/>
              </a:buClr>
              <a:buSzPts val="800"/>
              <a:buFont typeface="Arial"/>
              <a:buChar char="●"/>
            </a:pPr>
            <a:r>
              <a:rPr b="1" i="0" lang="en-GB" sz="800" u="none" cap="none" strike="noStrike">
                <a:solidFill>
                  <a:schemeClr val="dk1"/>
                </a:solidFill>
                <a:latin typeface="Helvetica Neue"/>
                <a:ea typeface="Helvetica Neue"/>
                <a:cs typeface="Helvetica Neue"/>
                <a:sym typeface="Helvetica Neue"/>
              </a:rPr>
              <a:t>Target (≤20 secs)</a:t>
            </a:r>
            <a:r>
              <a:rPr b="0" i="0" lang="en-GB" sz="800" u="none" cap="none" strike="noStrike">
                <a:solidFill>
                  <a:schemeClr val="dk1"/>
                </a:solidFill>
                <a:latin typeface="Helvetica Neue"/>
                <a:ea typeface="Helvetica Neue"/>
                <a:cs typeface="Helvetica Neue"/>
                <a:sym typeface="Helvetica Neue"/>
              </a:rPr>
              <a:t> consistently met, showing acceptable call handling efficiency</a:t>
            </a:r>
            <a:endParaRPr b="0" i="0" sz="800" u="none" cap="none" strike="noStrike">
              <a:solidFill>
                <a:schemeClr val="dk1"/>
              </a:solidFill>
              <a:latin typeface="Helvetica Neue"/>
              <a:ea typeface="Helvetica Neue"/>
              <a:cs typeface="Helvetica Neue"/>
              <a:sym typeface="Helvetica Neue"/>
            </a:endParaRPr>
          </a:p>
          <a:p>
            <a:pPr indent="0" lvl="0" marL="457200" marR="0" rtl="0" algn="l">
              <a:lnSpc>
                <a:spcPct val="100000"/>
              </a:lnSpc>
              <a:spcBef>
                <a:spcPts val="1200"/>
              </a:spcBef>
              <a:spcAft>
                <a:spcPts val="1200"/>
              </a:spcAft>
              <a:buClr>
                <a:srgbClr val="000000"/>
              </a:buClr>
              <a:buSzPts val="800"/>
              <a:buFont typeface="Arial"/>
              <a:buNone/>
            </a:pPr>
            <a:r>
              <a:t/>
            </a:r>
            <a:endParaRPr b="1" i="0" sz="800" u="none" cap="none" strike="noStrike">
              <a:solidFill>
                <a:schemeClr val="dk1"/>
              </a:solidFill>
              <a:latin typeface="Helvetica Neue"/>
              <a:ea typeface="Helvetica Neue"/>
              <a:cs typeface="Helvetica Neue"/>
              <a:sym typeface="Helvetica Neue"/>
            </a:endParaRPr>
          </a:p>
        </p:txBody>
      </p:sp>
      <p:cxnSp>
        <p:nvCxnSpPr>
          <p:cNvPr id="154" name="Google Shape;154;p29"/>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pic>
        <p:nvPicPr>
          <p:cNvPr id="155" name="Google Shape;155;p29" title="Chart"/>
          <p:cNvPicPr preferRelativeResize="0"/>
          <p:nvPr/>
        </p:nvPicPr>
        <p:blipFill rotWithShape="1">
          <a:blip r:embed="rId3">
            <a:alphaModFix/>
          </a:blip>
          <a:srcRect b="0" l="0" r="0" t="0"/>
          <a:stretch/>
        </p:blipFill>
        <p:spPr>
          <a:xfrm>
            <a:off x="636213" y="1250175"/>
            <a:ext cx="3302778" cy="2049791"/>
          </a:xfrm>
          <a:prstGeom prst="rect">
            <a:avLst/>
          </a:prstGeom>
          <a:noFill/>
          <a:ln>
            <a:noFill/>
          </a:ln>
        </p:spPr>
      </p:pic>
      <p:pic>
        <p:nvPicPr>
          <p:cNvPr id="156" name="Google Shape;156;p29" title="Chart"/>
          <p:cNvPicPr preferRelativeResize="0"/>
          <p:nvPr/>
        </p:nvPicPr>
        <p:blipFill rotWithShape="1">
          <a:blip r:embed="rId4">
            <a:alphaModFix/>
          </a:blip>
          <a:srcRect b="0" l="0" r="0" t="0"/>
          <a:stretch/>
        </p:blipFill>
        <p:spPr>
          <a:xfrm>
            <a:off x="4883500" y="1205200"/>
            <a:ext cx="3447727" cy="21397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nvSpPr>
        <p:spPr>
          <a:xfrm>
            <a:off x="95075" y="215550"/>
            <a:ext cx="786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Table of Contents</a:t>
            </a:r>
            <a:endParaRPr b="1" i="0" sz="1800" u="none" cap="none" strike="noStrike">
              <a:solidFill>
                <a:srgbClr val="FF0000"/>
              </a:solidFill>
              <a:latin typeface="Helvetica Neue"/>
              <a:ea typeface="Helvetica Neue"/>
              <a:cs typeface="Helvetica Neue"/>
              <a:sym typeface="Helvetica Neue"/>
            </a:endParaRPr>
          </a:p>
        </p:txBody>
      </p:sp>
      <p:sp>
        <p:nvSpPr>
          <p:cNvPr id="162" name="Google Shape;162;p30"/>
          <p:cNvSpPr txBox="1"/>
          <p:nvPr/>
        </p:nvSpPr>
        <p:spPr>
          <a:xfrm>
            <a:off x="211225" y="721115"/>
            <a:ext cx="7086600" cy="4058400"/>
          </a:xfrm>
          <a:prstGeom prst="rect">
            <a:avLst/>
          </a:prstGeom>
          <a:noFill/>
          <a:ln>
            <a:noFill/>
          </a:ln>
        </p:spPr>
        <p:txBody>
          <a:bodyPr anchorCtr="0" anchor="ctr" bIns="50800" lIns="50800" spcFirstLastPara="1" rIns="50800" wrap="square" tIns="50800">
            <a:spAutoFit/>
          </a:bodyPr>
          <a:lstStyle/>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Cases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Channel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Incoming Channel Performance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Incoming Calls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Calls Average Handling Time</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dk1"/>
              </a:buClr>
              <a:buSzPts val="1500"/>
              <a:buFont typeface="Helvetica Neue"/>
              <a:buAutoNum type="arabicPeriod"/>
            </a:pPr>
            <a:r>
              <a:rPr b="1" i="0" lang="en-GB" sz="1500" u="none" cap="none" strike="noStrike">
                <a:solidFill>
                  <a:schemeClr val="dk1"/>
                </a:solidFill>
                <a:latin typeface="Helvetica Neue"/>
                <a:ea typeface="Helvetica Neue"/>
                <a:cs typeface="Helvetica Neue"/>
                <a:sym typeface="Helvetica Neue"/>
              </a:rPr>
              <a:t>PeC Concern Analysis</a:t>
            </a:r>
            <a:br>
              <a:rPr b="0" i="0" lang="en-GB" sz="1500" u="none" cap="none" strike="noStrike">
                <a:solidFill>
                  <a:schemeClr val="dk1"/>
                </a:solidFill>
                <a:latin typeface="Helvetica Neue Light"/>
                <a:ea typeface="Helvetica Neue Light"/>
                <a:cs typeface="Helvetica Neue Light"/>
                <a:sym typeface="Helvetica Neue Light"/>
              </a:rPr>
            </a:br>
            <a:r>
              <a:rPr b="0" i="0" lang="en-GB" sz="1500" u="none" cap="none" strike="noStrike">
                <a:solidFill>
                  <a:schemeClr val="dk1"/>
                </a:solidFill>
                <a:latin typeface="Helvetica Neue Light"/>
                <a:ea typeface="Helvetica Neue Light"/>
                <a:cs typeface="Helvetica Neue Light"/>
                <a:sym typeface="Helvetica Neue Light"/>
              </a:rPr>
              <a:t>- Inquiry Analysis</a:t>
            </a:r>
            <a:endParaRPr b="0" i="0" sz="1500" u="none" cap="none" strike="noStrike">
              <a:solidFill>
                <a:schemeClr val="dk1"/>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Helvetica Neue Light"/>
                <a:ea typeface="Helvetica Neue Light"/>
                <a:cs typeface="Helvetica Neue Light"/>
                <a:sym typeface="Helvetica Neue Light"/>
              </a:rPr>
              <a:t>- Complaint Analysis</a:t>
            </a:r>
            <a:endParaRPr b="0" i="0" sz="1500" u="none" cap="none" strike="noStrike">
              <a:solidFill>
                <a:schemeClr val="dk1"/>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Helvetica Neue Light"/>
                <a:ea typeface="Helvetica Neue Light"/>
                <a:cs typeface="Helvetica Neue Light"/>
                <a:sym typeface="Helvetica Neue Light"/>
              </a:rPr>
              <a:t>- Feedback Analysis</a:t>
            </a:r>
            <a:endParaRPr b="0" i="0" sz="1500" u="none" cap="none" strike="noStrike">
              <a:solidFill>
                <a:schemeClr val="dk1"/>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Dealer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Case Escalated To Dealers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Dealer Complaint Case Escalation Trends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Dealer Turnaround Time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Work In Progress (WIP) Cases </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7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RSA Analysis</a:t>
            </a:r>
            <a:endParaRPr b="1" i="0" sz="1500" u="none" cap="none" strike="noStrike">
              <a:solidFill>
                <a:schemeClr val="accent6"/>
              </a:solidFill>
              <a:latin typeface="Helvetica Neue"/>
              <a:ea typeface="Helvetica Neue"/>
              <a:cs typeface="Helvetica Neue"/>
              <a:sym typeface="Helvetica Neue"/>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RSA Call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Summary</a:t>
            </a:r>
            <a:endParaRPr b="1" i="0" sz="1500" u="none" cap="none" strike="noStrike">
              <a:solidFill>
                <a:schemeClr val="accent6"/>
              </a:solidFill>
              <a:latin typeface="Helvetica Neue"/>
              <a:ea typeface="Helvetica Neue"/>
              <a:cs typeface="Helvetica Neue"/>
              <a:sym typeface="Helvetica Neue"/>
            </a:endParaRPr>
          </a:p>
        </p:txBody>
      </p:sp>
      <p:cxnSp>
        <p:nvCxnSpPr>
          <p:cNvPr id="163" name="Google Shape;163;p30"/>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nvSpPr>
        <p:spPr>
          <a:xfrm>
            <a:off x="95075" y="133725"/>
            <a:ext cx="5199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Trend – Jan to June 2026</a:t>
            </a:r>
            <a:endParaRPr b="1" i="0" sz="1800" u="none" cap="none" strike="noStrike">
              <a:solidFill>
                <a:schemeClr val="dk1"/>
              </a:solidFill>
              <a:latin typeface="Helvetica Neue"/>
              <a:ea typeface="Helvetica Neue"/>
              <a:cs typeface="Helvetica Neue"/>
              <a:sym typeface="Helvetica Neue"/>
            </a:endParaRPr>
          </a:p>
        </p:txBody>
      </p:sp>
      <p:cxnSp>
        <p:nvCxnSpPr>
          <p:cNvPr id="169" name="Google Shape;169;p31"/>
          <p:cNvCxnSpPr/>
          <p:nvPr/>
        </p:nvCxnSpPr>
        <p:spPr>
          <a:xfrm>
            <a:off x="108575" y="572042"/>
            <a:ext cx="7208100" cy="0"/>
          </a:xfrm>
          <a:prstGeom prst="straightConnector1">
            <a:avLst/>
          </a:prstGeom>
          <a:noFill/>
          <a:ln cap="flat" cmpd="sng" w="28575">
            <a:solidFill>
              <a:schemeClr val="accent2"/>
            </a:solidFill>
            <a:prstDash val="solid"/>
            <a:round/>
            <a:headEnd len="sm" w="sm" type="none"/>
            <a:tailEnd len="med" w="med" type="oval"/>
          </a:ln>
        </p:spPr>
      </p:cxnSp>
      <p:pic>
        <p:nvPicPr>
          <p:cNvPr id="170" name="Google Shape;170;p31" title="Chart"/>
          <p:cNvPicPr preferRelativeResize="0"/>
          <p:nvPr/>
        </p:nvPicPr>
        <p:blipFill rotWithShape="1">
          <a:blip r:embed="rId3">
            <a:alphaModFix/>
          </a:blip>
          <a:srcRect b="0" l="0" r="0" t="0"/>
          <a:stretch/>
        </p:blipFill>
        <p:spPr>
          <a:xfrm>
            <a:off x="135700" y="1034222"/>
            <a:ext cx="5008273" cy="2927541"/>
          </a:xfrm>
          <a:prstGeom prst="rect">
            <a:avLst/>
          </a:prstGeom>
          <a:noFill/>
          <a:ln>
            <a:noFill/>
          </a:ln>
        </p:spPr>
      </p:pic>
      <p:sp>
        <p:nvSpPr>
          <p:cNvPr id="171" name="Google Shape;171;p31"/>
          <p:cNvSpPr txBox="1"/>
          <p:nvPr/>
        </p:nvSpPr>
        <p:spPr>
          <a:xfrm>
            <a:off x="5065050" y="1518050"/>
            <a:ext cx="3793200" cy="22143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900"/>
              <a:buFont typeface="Arial"/>
              <a:buNone/>
            </a:pPr>
            <a:r>
              <a:rPr b="1" i="0" lang="en-GB" sz="900" u="none" cap="none" strike="noStrike">
                <a:solidFill>
                  <a:srgbClr val="141414"/>
                </a:solidFill>
                <a:latin typeface="Helvetica Neue"/>
                <a:ea typeface="Helvetica Neue"/>
                <a:cs typeface="Helvetica Neue"/>
                <a:sym typeface="Helvetica Neue"/>
              </a:rPr>
              <a:t> Proton Inquiry Case Trends for June 2026:</a:t>
            </a:r>
            <a:endParaRPr b="1" i="0" sz="900" u="none" cap="none" strike="noStrike">
              <a:solidFill>
                <a:srgbClr val="141414"/>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41414"/>
              </a:solidFill>
              <a:latin typeface="Helvetica Neue"/>
              <a:ea typeface="Helvetica Neue"/>
              <a:cs typeface="Helvetica Neue"/>
              <a:sym typeface="Helvetica Neue"/>
            </a:endParaRPr>
          </a:p>
          <a:p>
            <a:pPr indent="-285750" lvl="0" marL="457200" marR="0" rtl="0" algn="l">
              <a:lnSpc>
                <a:spcPct val="100000"/>
              </a:lnSpc>
              <a:spcBef>
                <a:spcPts val="0"/>
              </a:spcBef>
              <a:spcAft>
                <a:spcPts val="0"/>
              </a:spcAft>
              <a:buClr>
                <a:srgbClr val="141414"/>
              </a:buClr>
              <a:buSzPts val="900"/>
              <a:buFont typeface="Helvetica Neue"/>
              <a:buChar char="●"/>
            </a:pPr>
            <a:r>
              <a:rPr b="1" i="0" lang="en-GB" sz="900" u="none" cap="none" strike="noStrike">
                <a:solidFill>
                  <a:srgbClr val="141414"/>
                </a:solidFill>
                <a:latin typeface="Helvetica Neue"/>
                <a:ea typeface="Helvetica Neue"/>
                <a:cs typeface="Helvetica Neue"/>
                <a:sym typeface="Helvetica Neue"/>
              </a:rPr>
              <a:t>Total Inquiry: 1024</a:t>
            </a:r>
            <a:endParaRPr b="1" i="0" sz="900" u="none" cap="none" strike="noStrike">
              <a:solidFill>
                <a:srgbClr val="141414"/>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br>
              <a:rPr b="1" i="0" lang="en-GB" sz="900" u="none" cap="none" strike="noStrike">
                <a:solidFill>
                  <a:srgbClr val="141414"/>
                </a:solidFill>
                <a:latin typeface="Helvetica Neue"/>
                <a:ea typeface="Helvetica Neue"/>
                <a:cs typeface="Helvetica Neue"/>
                <a:sym typeface="Helvetica Neue"/>
              </a:rPr>
            </a:br>
            <a:r>
              <a:rPr b="0" i="0" lang="en-GB" sz="900" u="none" cap="none" strike="noStrike">
                <a:solidFill>
                  <a:srgbClr val="141414"/>
                </a:solidFill>
                <a:latin typeface="Helvetica Neue"/>
                <a:ea typeface="Helvetica Neue"/>
                <a:cs typeface="Helvetica Neue"/>
                <a:sym typeface="Helvetica Neue"/>
              </a:rPr>
              <a:t>After-Sales 	: 178  </a:t>
            </a:r>
            <a:r>
              <a:rPr b="0" i="1" lang="en-GB" sz="800" u="none" cap="none" strike="noStrike">
                <a:solidFill>
                  <a:srgbClr val="000000"/>
                </a:solidFill>
                <a:highlight>
                  <a:srgbClr val="FFFF00"/>
                </a:highlight>
                <a:latin typeface="Helvetica Neue"/>
                <a:ea typeface="Helvetica Neue"/>
                <a:cs typeface="Helvetica Neue"/>
                <a:sym typeface="Helvetica Neue"/>
              </a:rPr>
              <a:t>e.MAS 7 : 59,  PHEV : 18</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rgbClr val="141414"/>
                </a:solidFill>
                <a:latin typeface="Helvetica Neue"/>
                <a:ea typeface="Helvetica Neue"/>
                <a:cs typeface="Helvetica Neue"/>
                <a:sym typeface="Helvetica Neue"/>
              </a:rPr>
              <a:t>Sales 		: 182  </a:t>
            </a:r>
            <a:r>
              <a:rPr b="0" i="1" lang="en-GB" sz="800" u="none" cap="none" strike="noStrike">
                <a:solidFill>
                  <a:srgbClr val="000000"/>
                </a:solidFill>
                <a:highlight>
                  <a:srgbClr val="FFFF00"/>
                </a:highlight>
                <a:latin typeface="Helvetica Neue"/>
                <a:ea typeface="Helvetica Neue"/>
                <a:cs typeface="Helvetica Neue"/>
                <a:sym typeface="Helvetica Neue"/>
              </a:rPr>
              <a:t>e.MAS 5 : 63 , e.MAS 7 : 26, PHEV : 20</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rgbClr val="141414"/>
                </a:solidFill>
                <a:latin typeface="Helvetica Neue"/>
                <a:ea typeface="Helvetica Neue"/>
                <a:cs typeface="Helvetica Neue"/>
                <a:sym typeface="Helvetica Neue"/>
              </a:rPr>
              <a:t>Apps		: 161  </a:t>
            </a:r>
            <a:r>
              <a:rPr b="0" i="1" lang="en-GB" sz="800" u="none" cap="none" strike="noStrike">
                <a:solidFill>
                  <a:srgbClr val="000000"/>
                </a:solidFill>
                <a:highlight>
                  <a:srgbClr val="FFFF00"/>
                </a:highlight>
                <a:latin typeface="Helvetica Neue"/>
                <a:ea typeface="Helvetica Neue"/>
                <a:cs typeface="Helvetica Neue"/>
                <a:sym typeface="Helvetica Neue"/>
              </a:rPr>
              <a:t>e.MAS 5 : 42 , e.MAS 7 : 34, PHEV : 42</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rgbClr val="141414"/>
                </a:solidFill>
                <a:latin typeface="Helvetica Neue"/>
                <a:ea typeface="Helvetica Neue"/>
                <a:cs typeface="Helvetica Neue"/>
                <a:sym typeface="Helvetica Neue"/>
              </a:rPr>
              <a:t>Charging	: 130  </a:t>
            </a:r>
            <a:r>
              <a:rPr b="0" i="1" lang="en-GB" sz="800" u="none" cap="none" strike="noStrike">
                <a:solidFill>
                  <a:srgbClr val="000000"/>
                </a:solidFill>
                <a:highlight>
                  <a:srgbClr val="FFFF00"/>
                </a:highlight>
                <a:latin typeface="Helvetica Neue"/>
                <a:ea typeface="Helvetica Neue"/>
                <a:cs typeface="Helvetica Neue"/>
                <a:sym typeface="Helvetica Neue"/>
              </a:rPr>
              <a:t>e.MAS 5 : 28 , e.MAS 7 : 30, PHEV : 15</a:t>
            </a:r>
            <a:endParaRPr b="1" i="0" sz="900" u="none" cap="none" strike="noStrike">
              <a:solidFill>
                <a:srgbClr val="141414"/>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rgbClr val="141414"/>
                </a:solidFill>
                <a:latin typeface="Helvetica Neue"/>
                <a:ea typeface="Helvetica Neue"/>
                <a:cs typeface="Helvetica Neue"/>
                <a:sym typeface="Helvetica Neue"/>
              </a:rPr>
              <a:t>Product		: 29    </a:t>
            </a:r>
            <a:r>
              <a:rPr b="0" i="1" lang="en-GB" sz="800" u="none" cap="none" strike="noStrike">
                <a:solidFill>
                  <a:srgbClr val="000000"/>
                </a:solidFill>
                <a:highlight>
                  <a:srgbClr val="FFFF00"/>
                </a:highlight>
                <a:latin typeface="Helvetica Neue"/>
                <a:ea typeface="Helvetica Neue"/>
                <a:cs typeface="Helvetica Neue"/>
                <a:sym typeface="Helvetica Neue"/>
              </a:rPr>
              <a:t>e.MAS 5 : 4, e.MAS 7 : 11, PHEV : 7</a:t>
            </a:r>
            <a:endParaRPr b="0" i="0" sz="900" u="none" cap="none" strike="noStrike">
              <a:solidFill>
                <a:srgbClr val="141414"/>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rgbClr val="141414"/>
                </a:solidFill>
                <a:latin typeface="Helvetica Neue"/>
                <a:ea typeface="Helvetica Neue"/>
                <a:cs typeface="Helvetica Neue"/>
                <a:sym typeface="Helvetica Neue"/>
              </a:rPr>
              <a:t>Marketing	: 20    </a:t>
            </a:r>
            <a:r>
              <a:rPr b="0" i="1" lang="en-GB" sz="800" u="none" cap="none" strike="noStrike">
                <a:solidFill>
                  <a:srgbClr val="000000"/>
                </a:solidFill>
                <a:highlight>
                  <a:srgbClr val="FFFF00"/>
                </a:highlight>
                <a:latin typeface="Helvetica Neue"/>
                <a:ea typeface="Helvetica Neue"/>
                <a:cs typeface="Helvetica Neue"/>
                <a:sym typeface="Helvetica Neue"/>
              </a:rPr>
              <a:t>e.MAS 7 : 1</a:t>
            </a:r>
            <a:br>
              <a:rPr b="0" i="0" lang="en-GB" sz="900" u="none" cap="none" strike="noStrike">
                <a:solidFill>
                  <a:srgbClr val="141414"/>
                </a:solidFill>
                <a:latin typeface="Helvetica Neue"/>
                <a:ea typeface="Helvetica Neue"/>
                <a:cs typeface="Helvetica Neue"/>
                <a:sym typeface="Helvetica Neue"/>
              </a:rPr>
            </a:br>
            <a:r>
              <a:rPr b="0" i="0" lang="en-GB" sz="900" u="none" cap="none" strike="noStrike">
                <a:solidFill>
                  <a:srgbClr val="141414"/>
                </a:solidFill>
                <a:latin typeface="Helvetica Neue"/>
                <a:ea typeface="Helvetica Neue"/>
                <a:cs typeface="Helvetica Neue"/>
                <a:sym typeface="Helvetica Neue"/>
              </a:rPr>
              <a:t>Others		: 324  </a:t>
            </a:r>
            <a:r>
              <a:rPr b="0" i="1" lang="en-GB" sz="800" u="none" cap="none" strike="noStrike">
                <a:solidFill>
                  <a:srgbClr val="000000"/>
                </a:solidFill>
                <a:highlight>
                  <a:srgbClr val="FFFF00"/>
                </a:highlight>
                <a:latin typeface="Helvetica Neue"/>
                <a:ea typeface="Helvetica Neue"/>
                <a:cs typeface="Helvetica Neue"/>
                <a:sym typeface="Helvetica Neue"/>
              </a:rPr>
              <a:t>Not related to Proton e.MAS</a:t>
            </a:r>
            <a:endParaRPr b="0" i="0" sz="900" u="none" cap="none" strike="noStrike">
              <a:solidFill>
                <a:srgbClr val="141414"/>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41414"/>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900"/>
              <a:buFont typeface="Arial"/>
              <a:buNone/>
            </a:pPr>
            <a:r>
              <a:t/>
            </a:r>
            <a:endParaRPr b="1" i="0" sz="900" u="none" cap="none" strike="noStrike">
              <a:solidFill>
                <a:srgbClr val="141414"/>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900"/>
              <a:buFont typeface="Arial"/>
              <a:buNone/>
            </a:pPr>
            <a:r>
              <a:t/>
            </a:r>
            <a:endParaRPr b="1" i="0" sz="900" u="none" cap="none" strike="noStrike">
              <a:solidFill>
                <a:srgbClr val="141414"/>
              </a:solidFill>
              <a:latin typeface="Helvetica Neue"/>
              <a:ea typeface="Helvetica Neue"/>
              <a:cs typeface="Helvetica Neue"/>
              <a:sym typeface="Helvetica Neue"/>
            </a:endParaRPr>
          </a:p>
          <a:p>
            <a:pPr indent="0" lvl="0" marL="0" marR="0" rtl="0" algn="just">
              <a:lnSpc>
                <a:spcPct val="115000"/>
              </a:lnSpc>
              <a:spcBef>
                <a:spcPts val="0"/>
              </a:spcBef>
              <a:spcAft>
                <a:spcPts val="0"/>
              </a:spcAft>
              <a:buClr>
                <a:srgbClr val="000000"/>
              </a:buClr>
              <a:buSzPts val="900"/>
              <a:buFont typeface="Arial"/>
              <a:buNone/>
            </a:pPr>
            <a:r>
              <a:t/>
            </a:r>
            <a:endParaRPr b="0" i="0" sz="900" u="none" cap="none" strike="noStrike">
              <a:solidFill>
                <a:srgbClr val="141414"/>
              </a:solidFill>
              <a:latin typeface="Helvetica Neue Light"/>
              <a:ea typeface="Helvetica Neue Light"/>
              <a:cs typeface="Helvetica Neue Light"/>
              <a:sym typeface="Helvetica Neue Light"/>
            </a:endParaRPr>
          </a:p>
          <a:p>
            <a:pPr indent="0" lvl="0" marL="0" marR="0" rtl="0" algn="just">
              <a:lnSpc>
                <a:spcPct val="115000"/>
              </a:lnSpc>
              <a:spcBef>
                <a:spcPts val="0"/>
              </a:spcBef>
              <a:spcAft>
                <a:spcPts val="0"/>
              </a:spcAft>
              <a:buClr>
                <a:srgbClr val="000000"/>
              </a:buClr>
              <a:buSzPts val="900"/>
              <a:buFont typeface="Arial"/>
              <a:buNone/>
            </a:pPr>
            <a:r>
              <a:t/>
            </a:r>
            <a:endParaRPr b="0" i="0" sz="900" u="none" cap="none" strike="noStrike">
              <a:solidFill>
                <a:srgbClr val="141414"/>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nvSpPr>
        <p:spPr>
          <a:xfrm>
            <a:off x="108575" y="37200"/>
            <a:ext cx="572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graphicFrame>
        <p:nvGraphicFramePr>
          <p:cNvPr id="177" name="Google Shape;177;p32"/>
          <p:cNvGraphicFramePr/>
          <p:nvPr/>
        </p:nvGraphicFramePr>
        <p:xfrm>
          <a:off x="166100" y="616265"/>
          <a:ext cx="3000000" cy="3000000"/>
        </p:xfrm>
        <a:graphic>
          <a:graphicData uri="http://schemas.openxmlformats.org/drawingml/2006/table">
            <a:tbl>
              <a:tblPr>
                <a:noFill/>
                <a:tableStyleId>{FA528319-6F98-4B39-B0ED-26271DCD7A62}</a:tableStyleId>
              </a:tblPr>
              <a:tblGrid>
                <a:gridCol w="1181425"/>
                <a:gridCol w="586625"/>
                <a:gridCol w="7012150"/>
              </a:tblGrid>
              <a:tr h="187600">
                <a:tc>
                  <a:txBody>
                    <a:bodyPr/>
                    <a:lstStyle/>
                    <a:p>
                      <a:pPr indent="0" lvl="0" marL="0" marR="0" rtl="0" algn="l">
                        <a:lnSpc>
                          <a:spcPct val="115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Category</a:t>
                      </a:r>
                      <a:endParaRPr b="1" sz="8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No. Case</a:t>
                      </a:r>
                      <a:endParaRPr b="1" sz="8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Remarks</a:t>
                      </a:r>
                      <a:endParaRPr b="1" sz="8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56350">
                <a:tc gridSpan="3">
                  <a:txBody>
                    <a:bodyPr/>
                    <a:lstStyle/>
                    <a:p>
                      <a:pPr indent="0" lvl="0" marL="0" marR="0" rtl="0" algn="l">
                        <a:lnSpc>
                          <a:spcPct val="115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Sales: 182</a:t>
                      </a:r>
                      <a:endParaRPr b="1" sz="8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4CCCC"/>
                    </a:solidFill>
                  </a:tcPr>
                </a:tc>
                <a:tc hMerge="1"/>
                <a:tc hMerge="1"/>
              </a:tr>
              <a:tr h="1453025">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Accessories</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28</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5 </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17 </a:t>
                      </a:r>
                      <a:r>
                        <a:rPr lang="en-GB" sz="800" u="none" cap="none" strike="noStrike">
                          <a:solidFill>
                            <a:schemeClr val="dk1"/>
                          </a:solidFill>
                          <a:latin typeface="Helvetica Neue"/>
                          <a:ea typeface="Helvetica Neue"/>
                          <a:cs typeface="Helvetica Neue"/>
                          <a:sym typeface="Helvetica Neue"/>
                        </a:rPr>
                        <a:t>- Cargo cover / tonneau cover (complimentary entitlement, CKD vs CBU eligibility, collection process, availability, purchase)</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 EV plate number </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7 </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Lost key fob replacement </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Dashcam installation warranty</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7 PHEV </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Dashcam installation </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Complimentary package / purchase benefits </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Vehicle Model Not Mentioned </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Front bumper LED modification &amp; warranty</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Dashcam beeping/noise </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- 3-pin charger eligibility (early bird allocation / CKD entitlement)</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a:t>
                      </a:r>
                      <a:r>
                        <a:rPr lang="en-GB" sz="800" u="none" cap="none" strike="noStrike">
                          <a:solidFill>
                            <a:schemeClr val="dk1"/>
                          </a:solidFill>
                          <a:latin typeface="Helvetica Neue"/>
                          <a:ea typeface="Helvetica Neue"/>
                          <a:cs typeface="Helvetica Neue"/>
                          <a:sym typeface="Helvetica Neue"/>
                        </a:rPr>
                        <a:t>- Cargo cover / tonneau cover </a:t>
                      </a:r>
                      <a:endParaRPr sz="8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048375">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Booking</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23</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5</a:t>
                      </a:r>
                      <a:br>
                        <a:rPr lang="en-GB" sz="800" u="none" cap="none" strike="noStrike">
                          <a:solidFill>
                            <a:srgbClr val="FF0000"/>
                          </a:solidFill>
                          <a:latin typeface="Helvetica Neue"/>
                          <a:ea typeface="Helvetica Neue"/>
                          <a:cs typeface="Helvetica Neue"/>
                          <a:sym typeface="Helvetica Neue"/>
                        </a:rPr>
                      </a:br>
                      <a:r>
                        <a:rPr b="1" lang="en-GB" sz="800" u="none" cap="none" strike="noStrike">
                          <a:latin typeface="Helvetica Neue"/>
                          <a:ea typeface="Helvetica Neue"/>
                          <a:cs typeface="Helvetica Neue"/>
                          <a:sym typeface="Helvetica Neue"/>
                        </a:rPr>
                        <a:t>3</a:t>
                      </a:r>
                      <a:r>
                        <a:rPr lang="en-GB" sz="800" u="none" cap="none" strike="noStrike">
                          <a:latin typeface="Helvetica Neue"/>
                          <a:ea typeface="Helvetica Neue"/>
                          <a:cs typeface="Helvetica Neue"/>
                          <a:sym typeface="Helvetica Neue"/>
                        </a:rPr>
                        <a:t> - Booking status / chassis number allocation / delivery timeline</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Vehicle information mismatch in e.MAS app (vehicle colour/booking record)</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Unable to view booking details in e.MAS app</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Vehicle availability enquiry (white Premium stock at dealer)</a:t>
                      </a:r>
                      <a:endParaRPr b="1"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7</a:t>
                      </a:r>
                      <a:br>
                        <a:rPr lang="en-GB" sz="800" u="none" cap="none" strike="noStrike">
                          <a:solidFill>
                            <a:srgbClr val="FF0000"/>
                          </a:solidFill>
                          <a:latin typeface="Helvetica Neue"/>
                          <a:ea typeface="Helvetica Neue"/>
                          <a:cs typeface="Helvetica Neue"/>
                          <a:sym typeface="Helvetica Neue"/>
                        </a:rPr>
                      </a:b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Customer booking not available in e.MAS app </a:t>
                      </a:r>
                      <a:br>
                        <a:rPr lang="en-GB" sz="800" u="none" cap="none" strike="noStrike">
                          <a:latin typeface="Helvetica Neue"/>
                          <a:ea typeface="Helvetica Neue"/>
                          <a:cs typeface="Helvetica Neue"/>
                          <a:sym typeface="Helvetica Neue"/>
                        </a:rPr>
                      </a:br>
                      <a:r>
                        <a:rPr b="1" lang="en-GB" sz="800" u="none" cap="none" strike="noStrike">
                          <a:highlight>
                            <a:srgbClr val="FFFF00"/>
                          </a:highlight>
                          <a:latin typeface="Helvetica Neue"/>
                          <a:ea typeface="Helvetica Neue"/>
                          <a:cs typeface="Helvetica Neue"/>
                          <a:sym typeface="Helvetica Neue"/>
                        </a:rPr>
                        <a:t>Vehicle Model Not Mentioned / Purchased</a:t>
                      </a:r>
                      <a:br>
                        <a:rPr lang="en-GB" sz="800" u="none" cap="none" strike="noStrike">
                          <a:highlight>
                            <a:srgbClr val="FFFF00"/>
                          </a:highlight>
                          <a:latin typeface="Helvetica Neue"/>
                          <a:ea typeface="Helvetica Neue"/>
                          <a:cs typeface="Helvetica Neue"/>
                          <a:sym typeface="Helvetica Neue"/>
                        </a:rPr>
                      </a:br>
                      <a:r>
                        <a:rPr b="1" lang="en-GB" sz="800" u="none" cap="none" strike="noStrike">
                          <a:latin typeface="Helvetica Neue"/>
                          <a:ea typeface="Helvetica Neue"/>
                          <a:cs typeface="Helvetica Neue"/>
                          <a:sym typeface="Helvetica Neue"/>
                        </a:rPr>
                        <a:t>13</a:t>
                      </a:r>
                      <a:r>
                        <a:rPr lang="en-GB" sz="800" u="none" cap="none" strike="noStrike">
                          <a:latin typeface="Helvetica Neue"/>
                          <a:ea typeface="Helvetica Neue"/>
                          <a:cs typeface="Helvetica Neue"/>
                          <a:sym typeface="Helvetica Neue"/>
                        </a:rPr>
                        <a:t> - Booking status / vehicle allocation / delivery timeline / booking queue </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2</a:t>
                      </a:r>
                      <a:r>
                        <a:rPr lang="en-GB" sz="800" u="none" cap="none" strike="noStrike">
                          <a:latin typeface="Helvetica Neue"/>
                          <a:ea typeface="Helvetica Neue"/>
                          <a:cs typeface="Helvetica Neue"/>
                          <a:sym typeface="Helvetica Neue"/>
                        </a:rPr>
                        <a:t>   - Booking information (booking number / loan &amp; booking)</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Vehicle purchase </a:t>
                      </a:r>
                      <a:endParaRPr b="1"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cxnSp>
        <p:nvCxnSpPr>
          <p:cNvPr id="178" name="Google Shape;178;p32"/>
          <p:cNvCxnSpPr/>
          <p:nvPr/>
        </p:nvCxnSpPr>
        <p:spPr>
          <a:xfrm>
            <a:off x="108575" y="497826"/>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nvSpPr>
        <p:spPr>
          <a:xfrm>
            <a:off x="108575" y="37200"/>
            <a:ext cx="779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graphicFrame>
        <p:nvGraphicFramePr>
          <p:cNvPr id="184" name="Google Shape;184;p33"/>
          <p:cNvGraphicFramePr/>
          <p:nvPr/>
        </p:nvGraphicFramePr>
        <p:xfrm>
          <a:off x="154525" y="742015"/>
          <a:ext cx="3000000" cy="3000000"/>
        </p:xfrm>
        <a:graphic>
          <a:graphicData uri="http://schemas.openxmlformats.org/drawingml/2006/table">
            <a:tbl>
              <a:tblPr>
                <a:noFill/>
                <a:tableStyleId>{FA528319-6F98-4B39-B0ED-26271DCD7A62}</a:tableStyleId>
              </a:tblPr>
              <a:tblGrid>
                <a:gridCol w="1181425"/>
                <a:gridCol w="581000"/>
                <a:gridCol w="7017775"/>
              </a:tblGrid>
              <a:tr h="239100">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Custom EV Plate (Frame)</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1</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5</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 </a:t>
                      </a:r>
                      <a:r>
                        <a:rPr lang="en-GB" sz="800" u="none" cap="none" strike="noStrike">
                          <a:solidFill>
                            <a:schemeClr val="dk1"/>
                          </a:solidFill>
                          <a:latin typeface="Helvetica Neue"/>
                          <a:ea typeface="Helvetica Neue"/>
                          <a:cs typeface="Helvetica Neue"/>
                          <a:sym typeface="Helvetica Neue"/>
                        </a:rPr>
                        <a:t>EV white plate collection status </a:t>
                      </a:r>
                      <a:endParaRPr sz="8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44900">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Insurance</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13</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5</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e.MAS Care benefit &amp; warranty/insurance coverage clarification </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7</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4</a:t>
                      </a:r>
                      <a:r>
                        <a:rPr lang="en-GB" sz="800" u="none" cap="none" strike="noStrike">
                          <a:latin typeface="Helvetica Neue"/>
                          <a:ea typeface="Helvetica Neue"/>
                          <a:cs typeface="Helvetica Neue"/>
                          <a:sym typeface="Helvetica Neue"/>
                        </a:rPr>
                        <a:t> - Insurance renewal / e.MAS Care renewal procedure</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2</a:t>
                      </a:r>
                      <a:r>
                        <a:rPr lang="en-GB" sz="800" u="none" cap="none" strike="noStrike">
                          <a:latin typeface="Helvetica Neue"/>
                          <a:ea typeface="Helvetica Neue"/>
                          <a:cs typeface="Helvetica Neue"/>
                          <a:sym typeface="Helvetica Neue"/>
                        </a:rPr>
                        <a:t> - Insurance package / e.MAS Care coverage </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Third-party accident insurance claim &amp; repair procedure</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Loss of Use (LOU) insurance claim </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2</a:t>
                      </a:r>
                      <a:r>
                        <a:rPr lang="en-GB" sz="800" u="none" cap="none" strike="noStrike">
                          <a:latin typeface="Helvetica Neue"/>
                          <a:ea typeface="Helvetica Neue"/>
                          <a:cs typeface="Helvetica Neue"/>
                          <a:sym typeface="Helvetica Neue"/>
                        </a:rPr>
                        <a:t> - Insurance package / quotation </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Insurance renewal procedure</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Roadside assistance coverage </a:t>
                      </a:r>
                      <a:endParaRPr b="1" sz="8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44900">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New Model</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8</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5</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2</a:t>
                      </a:r>
                      <a:r>
                        <a:rPr lang="en-GB" sz="800" u="none" cap="none" strike="noStrike">
                          <a:latin typeface="Helvetica Neue"/>
                          <a:ea typeface="Helvetica Neue"/>
                          <a:cs typeface="Helvetica Neue"/>
                          <a:sym typeface="Helvetica Neue"/>
                        </a:rPr>
                        <a:t> - CKD release date / allocation enquiry</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CKD stock availability (Alabaster White interior)</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Vehicle colour viewing enquiry (Jade Green)</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7 PHEV</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CKD allocation enquiry</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CBU vs CKD allocation enquiry</a:t>
                      </a:r>
                      <a:endParaRPr b="1"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New e.MAS model reveal / upcoming model enquiry</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a:t>
                      </a:r>
                      <a:r>
                        <a:rPr lang="en-GB" sz="800" u="none" cap="none" strike="noStrike">
                          <a:latin typeface="Helvetica Neue"/>
                          <a:ea typeface="Helvetica Neue"/>
                          <a:cs typeface="Helvetica Neue"/>
                          <a:sym typeface="Helvetica Neue"/>
                        </a:rPr>
                        <a:t> - Product suggestion (microcar / compact EV model)</a:t>
                      </a:r>
                      <a:endParaRPr b="1" sz="8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05650">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Outlet </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1</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5</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latin typeface="Helvetica Neue"/>
                          <a:ea typeface="Helvetica Neue"/>
                          <a:cs typeface="Helvetica Neue"/>
                          <a:sym typeface="Helvetica Neue"/>
                        </a:rPr>
                        <a:t>1 - </a:t>
                      </a:r>
                      <a:r>
                        <a:rPr lang="en-GB" sz="800" u="none" cap="none" strike="noStrike">
                          <a:solidFill>
                            <a:schemeClr val="dk1"/>
                          </a:solidFill>
                          <a:latin typeface="Helvetica Neue"/>
                          <a:ea typeface="Helvetica Neue"/>
                          <a:cs typeface="Helvetica Neue"/>
                          <a:sym typeface="Helvetica Neue"/>
                        </a:rPr>
                        <a:t>Dealer / showroom contact request for vehicle booking</a:t>
                      </a:r>
                      <a:r>
                        <a:rPr b="1" lang="en-GB" sz="800" u="none" cap="none" strike="noStrike">
                          <a:solidFill>
                            <a:schemeClr val="dk1"/>
                          </a:solidFill>
                          <a:latin typeface="Helvetica Neue"/>
                          <a:ea typeface="Helvetica Neue"/>
                          <a:cs typeface="Helvetica Neue"/>
                          <a:sym typeface="Helvetica Neue"/>
                        </a:rPr>
                        <a:t> </a:t>
                      </a:r>
                      <a:endParaRPr sz="8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cxnSp>
        <p:nvCxnSpPr>
          <p:cNvPr id="185" name="Google Shape;185;p33"/>
          <p:cNvCxnSpPr/>
          <p:nvPr/>
        </p:nvCxnSpPr>
        <p:spPr>
          <a:xfrm>
            <a:off x="108575" y="497826"/>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4"/>
          <p:cNvSpPr txBox="1"/>
          <p:nvPr/>
        </p:nvSpPr>
        <p:spPr>
          <a:xfrm>
            <a:off x="108575" y="37200"/>
            <a:ext cx="6030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graphicFrame>
        <p:nvGraphicFramePr>
          <p:cNvPr id="191" name="Google Shape;191;p34"/>
          <p:cNvGraphicFramePr/>
          <p:nvPr/>
        </p:nvGraphicFramePr>
        <p:xfrm>
          <a:off x="154525" y="609652"/>
          <a:ext cx="3000000" cy="3000000"/>
        </p:xfrm>
        <a:graphic>
          <a:graphicData uri="http://schemas.openxmlformats.org/drawingml/2006/table">
            <a:tbl>
              <a:tblPr>
                <a:noFill/>
                <a:tableStyleId>{FA528319-6F98-4B39-B0ED-26271DCD7A62}</a:tableStyleId>
              </a:tblPr>
              <a:tblGrid>
                <a:gridCol w="1181425"/>
                <a:gridCol w="581000"/>
                <a:gridCol w="7017775"/>
              </a:tblGrid>
              <a:tr h="12563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Promotion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42</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8</a:t>
                      </a:r>
                      <a:r>
                        <a:rPr lang="en-GB" sz="700" u="none" cap="none" strike="noStrike">
                          <a:latin typeface="Helvetica Neue"/>
                          <a:ea typeface="Helvetica Neue"/>
                          <a:cs typeface="Helvetica Neue"/>
                          <a:sym typeface="Helvetica Neue"/>
                        </a:rPr>
                        <a:t> - RM500 Raya Rebate (eligibility, status, refund, payment timeline)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3</a:t>
                      </a:r>
                      <a:r>
                        <a:rPr lang="en-GB" sz="700" u="none" cap="none" strike="noStrike">
                          <a:latin typeface="Helvetica Neue"/>
                          <a:ea typeface="Helvetica Neue"/>
                          <a:cs typeface="Helvetica Neue"/>
                          <a:sym typeface="Helvetica Neue"/>
                        </a:rPr>
                        <a:t> - Corporate / Government rebate eligibility</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Rebate stacking / total rebate entitlement</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Power Financing programme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Vehicle promotion enquiry</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Trade-in rebate / promotion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Government rebate eligibility</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Rebate refund status</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Loan / financing breakdown clarification</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3</a:t>
                      </a:r>
                      <a:r>
                        <a:rPr lang="en-GB" sz="700" u="none" cap="none" strike="noStrike">
                          <a:latin typeface="Helvetica Neue"/>
                          <a:ea typeface="Helvetica Neue"/>
                          <a:cs typeface="Helvetica Neue"/>
                          <a:sym typeface="Helvetica Neue"/>
                        </a:rPr>
                        <a:t> - Corporate / Government rebate eligibility</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PROTON Exchange refund status</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Power Trade-In rebate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Matching Grant / old vehicle replacement rebate </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 / 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5</a:t>
                      </a:r>
                      <a:r>
                        <a:rPr lang="en-GB" sz="700" u="none" cap="none" strike="noStrike">
                          <a:latin typeface="Helvetica Neue"/>
                          <a:ea typeface="Helvetica Neue"/>
                          <a:cs typeface="Helvetica Neue"/>
                          <a:sym typeface="Helvetica Neue"/>
                        </a:rPr>
                        <a:t> - Corporate / Government rebate eligibility, terms &amp; conditions</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Vehicle promotion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Trade-in promotion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Golden Test Drive Campaign prize fulfilment</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Power Financing eligibility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Roadshow booking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Vehicle disposal programme enquiry (referred to Proton)</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Government pensioner rebate eligibility</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Corporate rebate dispute / verification process</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Corporate purchase programme </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984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Refund</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5</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Booking refund status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Booking fee refund request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Booking refund processing timeline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Booking cancellation &amp; refund request</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Refund process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189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Test Drive</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Test drive booking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Test drive appointment booking </a:t>
                      </a:r>
                      <a:endParaRPr b="1"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cxnSp>
        <p:nvCxnSpPr>
          <p:cNvPr id="192" name="Google Shape;192;p34"/>
          <p:cNvCxnSpPr/>
          <p:nvPr/>
        </p:nvCxnSpPr>
        <p:spPr>
          <a:xfrm>
            <a:off x="108575" y="497826"/>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nvSpPr>
        <p:spPr>
          <a:xfrm>
            <a:off x="108575" y="37200"/>
            <a:ext cx="4800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graphicFrame>
        <p:nvGraphicFramePr>
          <p:cNvPr id="198" name="Google Shape;198;p35"/>
          <p:cNvGraphicFramePr/>
          <p:nvPr/>
        </p:nvGraphicFramePr>
        <p:xfrm>
          <a:off x="108575" y="642239"/>
          <a:ext cx="3000000" cy="3000000"/>
        </p:xfrm>
        <a:graphic>
          <a:graphicData uri="http://schemas.openxmlformats.org/drawingml/2006/table">
            <a:tbl>
              <a:tblPr>
                <a:noFill/>
                <a:tableStyleId>{FA528319-6F98-4B39-B0ED-26271DCD7A62}</a:tableStyleId>
              </a:tblPr>
              <a:tblGrid>
                <a:gridCol w="1177925"/>
                <a:gridCol w="585100"/>
                <a:gridCol w="6991150"/>
              </a:tblGrid>
              <a:tr h="3478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Trade In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Trade-in programme / Carsome rebate enquiry (Power Trade In, Power Xchange, rebate eligibility) </a:t>
                      </a:r>
                      <a:endParaRPr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511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Transfer Ownership</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8</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Vehicle ownership transfer / change of ownership</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4</a:t>
                      </a:r>
                      <a:r>
                        <a:rPr lang="en-GB" sz="700" u="none" cap="none" strike="noStrike">
                          <a:latin typeface="Helvetica Neue"/>
                          <a:ea typeface="Helvetica Neue"/>
                          <a:cs typeface="Helvetica Neue"/>
                          <a:sym typeface="Helvetica Neue"/>
                        </a:rPr>
                        <a:t> - Vehicle ownership transfer / change of ownership (including second-hand vehicle transfer, warranty transfer, unlink previous owner account)</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e.MAS app login / account access issue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Wallbox &amp; app access issue for pre-owned vehicle</a:t>
                      </a:r>
                      <a:endParaRPr b="1"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511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Vehicle Delivery</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19</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8</a:t>
                      </a:r>
                      <a:r>
                        <a:rPr lang="en-GB" sz="700" u="none" cap="none" strike="noStrike">
                          <a:latin typeface="Helvetica Neue"/>
                          <a:ea typeface="Helvetica Neue"/>
                          <a:cs typeface="Helvetica Neue"/>
                          <a:sym typeface="Helvetica Neue"/>
                        </a:rPr>
                        <a:t> - Vehicle delivery timeline / waiting period / booking queue status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Vehicle allocation status / allocation procedure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CKD variant delivery timeline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Colour-specific delivery timeline (Jade Green availability &amp; waiting period)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Vehicle delivery status / estimated delivery date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Premium Plus variant delivery timeline </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3</a:t>
                      </a:r>
                      <a:r>
                        <a:rPr lang="en-GB" sz="700" u="none" cap="none" strike="noStrike">
                          <a:latin typeface="Helvetica Neue"/>
                          <a:ea typeface="Helvetica Neue"/>
                          <a:cs typeface="Helvetica Neue"/>
                          <a:sym typeface="Helvetica Neue"/>
                        </a:rPr>
                        <a:t> - Vehicle status / delivery timeline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Vehicle location &amp; showroom arrival status </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511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Vehicle Details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29</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Vehicle stock availability / allocation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CKD / CBU model information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Vehicle specifications enquiry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Product information (price, rebate, mileage &amp; promotion)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Booking / purchase information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Sales / dealer information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Vehicle stock availability / allocation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Product &amp; specification enquiry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Stock availability / allocation / waiting period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specifications enquiry (gross weight)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status enquiry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Product information enquiry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 / 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5 </a:t>
                      </a:r>
                      <a:r>
                        <a:rPr lang="en-GB" sz="700" u="none" cap="none" strike="noStrike">
                          <a:solidFill>
                            <a:schemeClr val="dk1"/>
                          </a:solidFill>
                          <a:latin typeface="Helvetica Neue"/>
                          <a:ea typeface="Helvetica Neue"/>
                          <a:cs typeface="Helvetica Neue"/>
                          <a:sym typeface="Helvetica Neue"/>
                        </a:rPr>
                        <a:t>- Vehicle status / booking status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Sales contact enquiry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stock availability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collection mileage enquiry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cxnSp>
        <p:nvCxnSpPr>
          <p:cNvPr id="199" name="Google Shape;199;p35"/>
          <p:cNvCxnSpPr/>
          <p:nvPr/>
        </p:nvCxnSpPr>
        <p:spPr>
          <a:xfrm>
            <a:off x="108575" y="497826"/>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graphicFrame>
        <p:nvGraphicFramePr>
          <p:cNvPr id="204" name="Google Shape;204;p36"/>
          <p:cNvGraphicFramePr/>
          <p:nvPr/>
        </p:nvGraphicFramePr>
        <p:xfrm>
          <a:off x="158750" y="559107"/>
          <a:ext cx="3000000" cy="3000000"/>
        </p:xfrm>
        <a:graphic>
          <a:graphicData uri="http://schemas.openxmlformats.org/drawingml/2006/table">
            <a:tbl>
              <a:tblPr>
                <a:noFill/>
                <a:tableStyleId>{FA528319-6F98-4B39-B0ED-26271DCD7A62}</a:tableStyleId>
              </a:tblPr>
              <a:tblGrid>
                <a:gridCol w="892500"/>
                <a:gridCol w="537650"/>
                <a:gridCol w="7394100"/>
              </a:tblGrid>
              <a:tr h="173050">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88525">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After Sales: 178</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FE2F3"/>
                    </a:solidFill>
                  </a:tcPr>
                </a:tc>
                <a:tc hMerge="1"/>
                <a:tc hMerge="1"/>
              </a:tr>
              <a:tr h="7616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Body</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4</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Vehicle technical / aftersales concern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Service / maintenance </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Tail light fogging / condensation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Accident repair procedure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616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Roadside Assistance</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8</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Roadside Assistance / towing request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Roadside Assistance / towing request</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Accident vehicle repair procedure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Roadside Assistance / towing request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2391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Service / Recall Campaign</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Service appointment / app service function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23130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Service Operation</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126</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22</a:t>
                      </a:r>
                      <a:r>
                        <a:rPr lang="en-GB" sz="700" u="none" cap="none" strike="noStrike">
                          <a:latin typeface="Helvetica Neue"/>
                          <a:ea typeface="Helvetica Neue"/>
                          <a:cs typeface="Helvetica Neue"/>
                          <a:sym typeface="Helvetica Neue"/>
                        </a:rPr>
                        <a:t> - Service appointment / booking</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8</a:t>
                      </a:r>
                      <a:r>
                        <a:rPr lang="en-GB" sz="700" u="none" cap="none" strike="noStrike">
                          <a:latin typeface="Helvetica Neue"/>
                          <a:ea typeface="Helvetica Neue"/>
                          <a:cs typeface="Helvetica Neue"/>
                          <a:sym typeface="Helvetica Neue"/>
                        </a:rPr>
                        <a:t> - Service interval / maintenance schedule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5</a:t>
                      </a:r>
                      <a:r>
                        <a:rPr lang="en-GB" sz="700" u="none" cap="none" strike="noStrike">
                          <a:latin typeface="Helvetica Neue"/>
                          <a:ea typeface="Helvetica Neue"/>
                          <a:cs typeface="Helvetica Neue"/>
                          <a:sym typeface="Helvetica Neue"/>
                        </a:rPr>
                        <a:t> - Service centre contact / location</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4</a:t>
                      </a:r>
                      <a:r>
                        <a:rPr lang="en-GB" sz="700" u="none" cap="none" strike="noStrike">
                          <a:latin typeface="Helvetica Neue"/>
                          <a:ea typeface="Helvetica Neue"/>
                          <a:cs typeface="Helvetica Neue"/>
                          <a:sym typeface="Helvetica Neue"/>
                        </a:rPr>
                        <a:t> - Body &amp; Paint / accident repair</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Claim submission status / warranty follow-up</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General service process</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28</a:t>
                      </a:r>
                      <a:r>
                        <a:rPr lang="en-GB" sz="700" u="none" cap="none" strike="noStrike">
                          <a:latin typeface="Helvetica Neue"/>
                          <a:ea typeface="Helvetica Neue"/>
                          <a:cs typeface="Helvetica Neue"/>
                          <a:sym typeface="Helvetica Neue"/>
                        </a:rPr>
                        <a:t> - Service appointment / booking</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11</a:t>
                      </a:r>
                      <a:r>
                        <a:rPr lang="en-GB" sz="700" u="none" cap="none" strike="noStrike">
                          <a:latin typeface="Helvetica Neue"/>
                          <a:ea typeface="Helvetica Neue"/>
                          <a:cs typeface="Helvetica Neue"/>
                          <a:sym typeface="Helvetica Neue"/>
                        </a:rPr>
                        <a:t> - Service interval / maintenance schedule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5</a:t>
                      </a:r>
                      <a:r>
                        <a:rPr lang="en-GB" sz="700" u="none" cap="none" strike="noStrike">
                          <a:latin typeface="Helvetica Neue"/>
                          <a:ea typeface="Helvetica Neue"/>
                          <a:cs typeface="Helvetica Neue"/>
                          <a:sym typeface="Helvetica Neue"/>
                        </a:rPr>
                        <a:t> - Service centre contact / location</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3</a:t>
                      </a:r>
                      <a:r>
                        <a:rPr lang="en-GB" sz="700" u="none" cap="none" strike="noStrike">
                          <a:latin typeface="Helvetica Neue"/>
                          <a:ea typeface="Helvetica Neue"/>
                          <a:cs typeface="Helvetica Neue"/>
                          <a:sym typeface="Helvetica Neue"/>
                        </a:rPr>
                        <a:t> - Alignment / wheel balancing / steering</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4</a:t>
                      </a:r>
                      <a:r>
                        <a:rPr lang="en-GB" sz="700" u="none" cap="none" strike="noStrike">
                          <a:latin typeface="Helvetica Neue"/>
                          <a:ea typeface="Helvetica Neue"/>
                          <a:cs typeface="Helvetica Neue"/>
                          <a:sym typeface="Helvetica Neue"/>
                        </a:rPr>
                        <a:t> - Repair status / parts delay</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14</a:t>
                      </a:r>
                      <a:r>
                        <a:rPr lang="en-GB" sz="700" u="none" cap="none" strike="noStrike">
                          <a:latin typeface="Helvetica Neue"/>
                          <a:ea typeface="Helvetica Neue"/>
                          <a:cs typeface="Helvetica Neue"/>
                          <a:sym typeface="Helvetica Neue"/>
                        </a:rPr>
                        <a:t> - Service appointment confirmation / booking</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Service interval / maintenance schedule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Service centre contact / location</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Repair / inspection related</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10</a:t>
                      </a:r>
                      <a:r>
                        <a:rPr lang="en-GB" sz="700" u="none" cap="none" strike="noStrike">
                          <a:latin typeface="Helvetica Neue"/>
                          <a:ea typeface="Helvetica Neue"/>
                          <a:cs typeface="Helvetica Neue"/>
                          <a:sym typeface="Helvetica Neue"/>
                        </a:rPr>
                        <a:t> - Service appointment / booking</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3</a:t>
                      </a:r>
                      <a:r>
                        <a:rPr lang="en-GB" sz="700" u="none" cap="none" strike="noStrike">
                          <a:latin typeface="Helvetica Neue"/>
                          <a:ea typeface="Helvetica Neue"/>
                          <a:cs typeface="Helvetica Neue"/>
                          <a:sym typeface="Helvetica Neue"/>
                        </a:rPr>
                        <a:t> - Service interval / maintenance schedule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a:t>
                      </a:r>
                      <a:r>
                        <a:rPr lang="en-GB" sz="700" u="none" cap="none" strike="noStrike">
                          <a:latin typeface="Helvetica Neue"/>
                          <a:ea typeface="Helvetica Neue"/>
                          <a:cs typeface="Helvetica Neue"/>
                          <a:sym typeface="Helvetica Neue"/>
                        </a:rPr>
                        <a:t> - Service centre contact / location</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
        <p:nvSpPr>
          <p:cNvPr id="205" name="Google Shape;205;p36"/>
          <p:cNvSpPr txBox="1"/>
          <p:nvPr/>
        </p:nvSpPr>
        <p:spPr>
          <a:xfrm>
            <a:off x="153448" y="97400"/>
            <a:ext cx="4391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06" name="Google Shape;206;p36"/>
          <p:cNvCxnSpPr/>
          <p:nvPr/>
        </p:nvCxnSpPr>
        <p:spPr>
          <a:xfrm>
            <a:off x="108575" y="511282"/>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aphicFrame>
        <p:nvGraphicFramePr>
          <p:cNvPr id="211" name="Google Shape;211;p37"/>
          <p:cNvGraphicFramePr/>
          <p:nvPr/>
        </p:nvGraphicFramePr>
        <p:xfrm>
          <a:off x="153438" y="826632"/>
          <a:ext cx="3000000" cy="3000000"/>
        </p:xfrm>
        <a:graphic>
          <a:graphicData uri="http://schemas.openxmlformats.org/drawingml/2006/table">
            <a:tbl>
              <a:tblPr>
                <a:noFill/>
                <a:tableStyleId>{FA528319-6F98-4B39-B0ED-26271DCD7A62}</a:tableStyleId>
              </a:tblPr>
              <a:tblGrid>
                <a:gridCol w="909250"/>
                <a:gridCol w="553700"/>
                <a:gridCol w="7526975"/>
              </a:tblGrid>
              <a:tr h="1642400">
                <a:tc>
                  <a:txBody>
                    <a:bodyPr/>
                    <a:lstStyle/>
                    <a:p>
                      <a:pPr indent="0" lvl="0" marL="0" marR="0" rtl="0" algn="ctr">
                        <a:lnSpc>
                          <a:spcPct val="115000"/>
                        </a:lnSpc>
                        <a:spcBef>
                          <a:spcPts val="0"/>
                        </a:spcBef>
                        <a:spcAft>
                          <a:spcPts val="0"/>
                        </a:spcAft>
                        <a:buClr>
                          <a:srgbClr val="000000"/>
                        </a:buClr>
                        <a:buSzPts val="700"/>
                        <a:buFont typeface="Arial"/>
                        <a:buNone/>
                      </a:pPr>
                      <a:r>
                        <a:t/>
                      </a:r>
                      <a:endParaRPr sz="700" u="none" cap="none" strike="noStrike">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Spare Part</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13</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Door lock issue / vehicle part inspection</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Side mirror replacement / spare part clarification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Mirror accident damage / repair inspection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Spare part warranty eligibility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V2L adapter / part availability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Windscreen crack / insurance claim process</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Headlamp price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Three-pin plug availability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Spare part availability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Spare parts purchasing / distribution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Windscreen pricing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Radiator replacement cost / spare part availability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Equipment quotation request (tender)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3107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Warranty</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11</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Aftermarket lighting installation / warranty impact</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Aftermarket spring buffer installation / warranty impact</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Dashcam installation / warranty impact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E-hailing usage / warranty coverage clarification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Plug-and-play power tailgate &amp; dashcam installation / warranty impact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1 - Windscreen crack / warranty &amp; insurance coverage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1 - E-hailing usage / warranty coverage inquiry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1 - Insurance company hotline verification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1 - Windscreen paint mark &amp; bare metal warranty claim</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1 - Vehicle &amp; battery warranty inquiry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1 - Dashcam hardwire installation / warranty impact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
        <p:nvSpPr>
          <p:cNvPr id="212" name="Google Shape;212;p37"/>
          <p:cNvSpPr txBox="1"/>
          <p:nvPr/>
        </p:nvSpPr>
        <p:spPr>
          <a:xfrm>
            <a:off x="153446" y="97402"/>
            <a:ext cx="779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13" name="Google Shape;213;p37"/>
          <p:cNvCxnSpPr/>
          <p:nvPr/>
        </p:nvCxnSpPr>
        <p:spPr>
          <a:xfrm>
            <a:off x="108575" y="511282"/>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graphicFrame>
        <p:nvGraphicFramePr>
          <p:cNvPr id="218" name="Google Shape;218;p38"/>
          <p:cNvGraphicFramePr/>
          <p:nvPr/>
        </p:nvGraphicFramePr>
        <p:xfrm>
          <a:off x="153438" y="854732"/>
          <a:ext cx="3000000" cy="3000000"/>
        </p:xfrm>
        <a:graphic>
          <a:graphicData uri="http://schemas.openxmlformats.org/drawingml/2006/table">
            <a:tbl>
              <a:tblPr>
                <a:noFill/>
                <a:tableStyleId>{FA528319-6F98-4B39-B0ED-26271DCD7A62}</a:tableStyleId>
              </a:tblPr>
              <a:tblGrid>
                <a:gridCol w="909250"/>
                <a:gridCol w="553700"/>
                <a:gridCol w="7526975"/>
              </a:tblGrid>
              <a:tr h="25736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User Manual</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14</a:t>
                      </a:r>
                      <a:endParaRPr sz="700" u="none" cap="none" strike="noStrike">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OBD port availability / dashcam installation inquiry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Map navigation language setting assistance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Remote control battery replacement guidance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Headlamp operation / temporary turn off inquiry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Steering assist mode setting inquiry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Adaptive Cruise Control (ACC) to Intelligent Cruise Control (ICC) setting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AVM &amp; dashcam footage viewing guidance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Seat retreat / seat adjustment feature inquiry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Wiper maintenance mode guidance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Battery charging limit / charging habit inquiry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Aircond power display reset guidance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Chassis number sticker placement clarification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Battery charging limit feature suggestion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952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
        <p:nvSpPr>
          <p:cNvPr id="219" name="Google Shape;219;p38"/>
          <p:cNvSpPr txBox="1"/>
          <p:nvPr/>
        </p:nvSpPr>
        <p:spPr>
          <a:xfrm>
            <a:off x="153446" y="97402"/>
            <a:ext cx="779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20" name="Google Shape;220;p38"/>
          <p:cNvCxnSpPr/>
          <p:nvPr/>
        </p:nvCxnSpPr>
        <p:spPr>
          <a:xfrm>
            <a:off x="108575" y="511282"/>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9"/>
          <p:cNvSpPr txBox="1"/>
          <p:nvPr/>
        </p:nvSpPr>
        <p:spPr>
          <a:xfrm>
            <a:off x="153448" y="120775"/>
            <a:ext cx="4418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26" name="Google Shape;226;p39"/>
          <p:cNvCxnSpPr/>
          <p:nvPr/>
        </p:nvCxnSpPr>
        <p:spPr>
          <a:xfrm>
            <a:off x="108575" y="569731"/>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227" name="Google Shape;227;p39"/>
          <p:cNvGraphicFramePr/>
          <p:nvPr/>
        </p:nvGraphicFramePr>
        <p:xfrm>
          <a:off x="126675" y="723209"/>
          <a:ext cx="3000000" cy="3000000"/>
        </p:xfrm>
        <a:graphic>
          <a:graphicData uri="http://schemas.openxmlformats.org/drawingml/2006/table">
            <a:tbl>
              <a:tblPr>
                <a:noFill/>
                <a:tableStyleId>{FA528319-6F98-4B39-B0ED-26271DCD7A62}</a:tableStyleId>
              </a:tblPr>
              <a:tblGrid>
                <a:gridCol w="893675"/>
                <a:gridCol w="450100"/>
                <a:gridCol w="7492100"/>
              </a:tblGrid>
              <a:tr h="20487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204875">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Apps: 161</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9EAD3"/>
                    </a:solidFill>
                  </a:tcPr>
                </a:tc>
                <a:tc hMerge="1"/>
                <a:tc hMerge="1"/>
              </a:tr>
              <a:tr h="11737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Information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136</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20 - </a:t>
                      </a:r>
                      <a:r>
                        <a:rPr lang="en-GB" sz="700" u="none" cap="none" strike="noStrike">
                          <a:solidFill>
                            <a:schemeClr val="dk1"/>
                          </a:solidFill>
                          <a:latin typeface="Helvetica Neue"/>
                          <a:ea typeface="Helvetica Neue"/>
                          <a:cs typeface="Helvetica Neue"/>
                          <a:sym typeface="Helvetica Neue"/>
                        </a:rPr>
                        <a:t>App &amp; Vehicle Linking / Profile (QR code / Vehicle linking / App activation / Profile reactivation / Account deletion &amp; recovery)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13 - </a:t>
                      </a:r>
                      <a:r>
                        <a:rPr lang="en-GB" sz="700" u="none" cap="none" strike="noStrike">
                          <a:solidFill>
                            <a:schemeClr val="dk1"/>
                          </a:solidFill>
                          <a:latin typeface="Helvetica Neue"/>
                          <a:ea typeface="Helvetica Neue"/>
                          <a:cs typeface="Helvetica Neue"/>
                          <a:sym typeface="Helvetica Neue"/>
                        </a:rPr>
                        <a:t>Phone Number / Contact Update (Change phone number / Registered wrong number / OTP / Binding change)</a:t>
                      </a:r>
                      <a:r>
                        <a:rPr b="1" lang="en-GB" sz="700" u="none" cap="none" strike="noStrike">
                          <a:solidFill>
                            <a:schemeClr val="dk1"/>
                          </a:solidFill>
                          <a:latin typeface="Helvetica Neue"/>
                          <a:ea typeface="Helvetica Neue"/>
                          <a:cs typeface="Helvetica Neue"/>
                          <a:sym typeface="Helvetica Neue"/>
                        </a:rPr>
                        <a:t>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29 - </a:t>
                      </a:r>
                      <a:r>
                        <a:rPr lang="en-GB" sz="700" u="none" cap="none" strike="noStrike">
                          <a:solidFill>
                            <a:schemeClr val="dk1"/>
                          </a:solidFill>
                          <a:latin typeface="Helvetica Neue"/>
                          <a:ea typeface="Helvetica Neue"/>
                          <a:cs typeface="Helvetica Neue"/>
                          <a:sym typeface="Helvetica Neue"/>
                        </a:rPr>
                        <a:t>App &amp; Vehicle Linking / Profile (QR code / Vehicle linking / App activation / Profile reactivation / Account deletion &amp; recovery)</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22 - </a:t>
                      </a:r>
                      <a:r>
                        <a:rPr lang="en-GB" sz="700" u="none" cap="none" strike="noStrike">
                          <a:solidFill>
                            <a:schemeClr val="dk1"/>
                          </a:solidFill>
                          <a:latin typeface="Helvetica Neue"/>
                          <a:ea typeface="Helvetica Neue"/>
                          <a:cs typeface="Helvetica Neue"/>
                          <a:sym typeface="Helvetica Neue"/>
                        </a:rPr>
                        <a:t>Phone Number / Contact Update Issues (Change phone number / Request to change number / Registered wrong number / Account re-registration issues)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21 - </a:t>
                      </a:r>
                      <a:r>
                        <a:rPr lang="en-GB" sz="700" u="none" cap="none" strike="noStrike">
                          <a:solidFill>
                            <a:schemeClr val="dk1"/>
                          </a:solidFill>
                          <a:latin typeface="Helvetica Neue"/>
                          <a:ea typeface="Helvetica Neue"/>
                          <a:cs typeface="Helvetica Neue"/>
                          <a:sym typeface="Helvetica Neue"/>
                        </a:rPr>
                        <a:t>App &amp; Vehicle Linking / Profile (QR code / Vehicle linking / App activation / Profile reactivation / Account deletion &amp; recovery)</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14 - </a:t>
                      </a:r>
                      <a:r>
                        <a:rPr lang="en-GB" sz="700" u="none" cap="none" strike="noStrike">
                          <a:solidFill>
                            <a:schemeClr val="dk1"/>
                          </a:solidFill>
                          <a:latin typeface="Helvetica Neue"/>
                          <a:ea typeface="Helvetica Neue"/>
                          <a:cs typeface="Helvetica Neue"/>
                          <a:sym typeface="Helvetica Neue"/>
                        </a:rPr>
                        <a:t>Phone Number / Contact Update (Change phone number / Registered wrong number / Dealer update mismatch / Binding change)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7 - </a:t>
                      </a:r>
                      <a:r>
                        <a:rPr lang="en-GB" sz="700" u="none" cap="none" strike="noStrike">
                          <a:solidFill>
                            <a:schemeClr val="dk1"/>
                          </a:solidFill>
                          <a:latin typeface="Helvetica Neue"/>
                          <a:ea typeface="Helvetica Neue"/>
                          <a:cs typeface="Helvetica Neue"/>
                          <a:sym typeface="Helvetica Neue"/>
                        </a:rPr>
                        <a:t>App / Profile linking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10 </a:t>
                      </a:r>
                      <a:r>
                        <a:rPr lang="en-GB" sz="700" u="none" cap="none" strike="noStrike">
                          <a:solidFill>
                            <a:schemeClr val="dk1"/>
                          </a:solidFill>
                          <a:latin typeface="Helvetica Neue"/>
                          <a:ea typeface="Helvetica Neue"/>
                          <a:cs typeface="Helvetica Neue"/>
                          <a:sym typeface="Helvetica Neue"/>
                        </a:rPr>
                        <a:t>- Phone Number / Contact Update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091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Operation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5</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a:t>
                      </a:r>
                      <a:r>
                        <a:rPr lang="en-GB" sz="700" u="none" cap="none" strike="noStrike">
                          <a:solidFill>
                            <a:schemeClr val="dk1"/>
                          </a:solidFill>
                          <a:latin typeface="Helvetica Neue"/>
                          <a:ea typeface="Helvetica Neue"/>
                          <a:cs typeface="Helvetica Neue"/>
                          <a:sym typeface="Helvetica Neue"/>
                        </a:rPr>
                        <a:t> - Data usage explanation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 </a:t>
                      </a:r>
                      <a:r>
                        <a:rPr lang="en-GB" sz="700" u="none" cap="none" strike="noStrike">
                          <a:solidFill>
                            <a:schemeClr val="dk1"/>
                          </a:solidFill>
                          <a:latin typeface="Helvetica Neue"/>
                          <a:ea typeface="Helvetica Neue"/>
                          <a:cs typeface="Helvetica Neue"/>
                          <a:sym typeface="Helvetica Neue"/>
                        </a:rPr>
                        <a:t>Data balance checking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Data balance renewal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Internet data balance viewing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6799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User ID</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20</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App login / account activation</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status / ownership transfer</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App registration / login</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App connectivity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App registration &amp; vehicle linking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Security PIN / app settings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Connected service / vehicle status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Payment method setup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Home assessment booking / account registration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App registration / VIN number / App login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Connected service / vehicle status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4 - App / account access &amp; connectivity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1 - TNG linking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nvSpPr>
        <p:spPr>
          <a:xfrm>
            <a:off x="153449" y="120775"/>
            <a:ext cx="5010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33" name="Google Shape;233;p40"/>
          <p:cNvCxnSpPr/>
          <p:nvPr/>
        </p:nvCxnSpPr>
        <p:spPr>
          <a:xfrm>
            <a:off x="108575" y="569731"/>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234" name="Google Shape;234;p40"/>
          <p:cNvGraphicFramePr/>
          <p:nvPr/>
        </p:nvGraphicFramePr>
        <p:xfrm>
          <a:off x="225600" y="954450"/>
          <a:ext cx="3000000" cy="3000000"/>
        </p:xfrm>
        <a:graphic>
          <a:graphicData uri="http://schemas.openxmlformats.org/drawingml/2006/table">
            <a:tbl>
              <a:tblPr>
                <a:noFill/>
                <a:tableStyleId>{FA528319-6F98-4B39-B0ED-26271DCD7A62}</a:tableStyleId>
              </a:tblPr>
              <a:tblGrid>
                <a:gridCol w="893675"/>
                <a:gridCol w="450100"/>
                <a:gridCol w="7492100"/>
              </a:tblGrid>
              <a:tr h="22022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96925">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Charging: 130</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2CC"/>
                    </a:solidFill>
                  </a:tcPr>
                </a:tc>
                <a:tc hMerge="1"/>
                <a:tc hMerge="1"/>
              </a:tr>
              <a:tr h="10705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Home Charging</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112</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16 - </a:t>
                      </a:r>
                      <a:r>
                        <a:rPr lang="en-GB" sz="700" u="none" cap="none" strike="noStrike">
                          <a:solidFill>
                            <a:schemeClr val="dk1"/>
                          </a:solidFill>
                          <a:latin typeface="Helvetica Neue"/>
                          <a:ea typeface="Helvetica Neue"/>
                          <a:cs typeface="Helvetica Neue"/>
                          <a:sym typeface="Helvetica Neue"/>
                        </a:rPr>
                        <a:t>Home Assessment &amp; Booking procedure (Booking, appointment, invoice, payment, reschedule)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9 - </a:t>
                      </a:r>
                      <a:r>
                        <a:rPr lang="en-GB" sz="700" u="none" cap="none" strike="noStrike">
                          <a:solidFill>
                            <a:schemeClr val="dk1"/>
                          </a:solidFill>
                          <a:latin typeface="Helvetica Neue"/>
                          <a:ea typeface="Helvetica Neue"/>
                          <a:cs typeface="Helvetica Neue"/>
                          <a:sym typeface="Helvetica Neue"/>
                        </a:rPr>
                        <a:t>Wallbox &amp; Charging inquiry (Installation, delivery, warranty, power, disconnects, charging procedure)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19 - </a:t>
                      </a:r>
                      <a:r>
                        <a:rPr lang="en-GB" sz="700" u="none" cap="none" strike="noStrike">
                          <a:solidFill>
                            <a:schemeClr val="dk1"/>
                          </a:solidFill>
                          <a:latin typeface="Helvetica Neue"/>
                          <a:ea typeface="Helvetica Neue"/>
                          <a:cs typeface="Helvetica Neue"/>
                          <a:sym typeface="Helvetica Neue"/>
                        </a:rPr>
                        <a:t>Home Assessment &amp; Booking procedure (Booking, appointment, invoice, payment, reschedule)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10 - </a:t>
                      </a:r>
                      <a:r>
                        <a:rPr lang="en-GB" sz="700" u="none" cap="none" strike="noStrike">
                          <a:solidFill>
                            <a:schemeClr val="dk1"/>
                          </a:solidFill>
                          <a:latin typeface="Helvetica Neue"/>
                          <a:ea typeface="Helvetica Neue"/>
                          <a:cs typeface="Helvetica Neue"/>
                          <a:sym typeface="Helvetica Neue"/>
                        </a:rPr>
                        <a:t>Wallbox &amp; Charging inquiry (Installation, delivery, warranty, power, disconnects, charging procedure)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14</a:t>
                      </a:r>
                      <a:r>
                        <a:rPr lang="en-GB" sz="700" u="none" cap="none" strike="noStrike">
                          <a:solidFill>
                            <a:schemeClr val="dk1"/>
                          </a:solidFill>
                          <a:latin typeface="Helvetica Neue"/>
                          <a:ea typeface="Helvetica Neue"/>
                          <a:cs typeface="Helvetica Neue"/>
                          <a:sym typeface="Helvetica Neue"/>
                        </a:rPr>
                        <a:t> </a:t>
                      </a:r>
                      <a:r>
                        <a:rPr b="1" lang="en-GB" sz="700" u="none" cap="none" strike="noStrike">
                          <a:solidFill>
                            <a:schemeClr val="dk1"/>
                          </a:solidFill>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Home Assessment &amp; Booking inquiry (Booking, appointment, invoice)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9 - </a:t>
                      </a:r>
                      <a:r>
                        <a:rPr lang="en-GB" sz="700" u="none" cap="none" strike="noStrike">
                          <a:solidFill>
                            <a:schemeClr val="dk1"/>
                          </a:solidFill>
                          <a:latin typeface="Helvetica Neue"/>
                          <a:ea typeface="Helvetica Neue"/>
                          <a:cs typeface="Helvetica Neue"/>
                          <a:sym typeface="Helvetica Neue"/>
                        </a:rPr>
                        <a:t>Wallbox installation &amp; warranty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16 - </a:t>
                      </a:r>
                      <a:r>
                        <a:rPr lang="en-GB" sz="700" u="none" cap="none" strike="noStrike">
                          <a:solidFill>
                            <a:schemeClr val="dk1"/>
                          </a:solidFill>
                          <a:latin typeface="Helvetica Neue"/>
                          <a:ea typeface="Helvetica Neue"/>
                          <a:cs typeface="Helvetica Neue"/>
                          <a:sym typeface="Helvetica Neue"/>
                        </a:rPr>
                        <a:t>Home Assessment &amp; Booking inquiry (Booking, appointment, invoice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19 - </a:t>
                      </a:r>
                      <a:r>
                        <a:rPr lang="en-GB" sz="700" u="none" cap="none" strike="noStrike">
                          <a:solidFill>
                            <a:schemeClr val="dk1"/>
                          </a:solidFill>
                          <a:latin typeface="Helvetica Neue"/>
                          <a:ea typeface="Helvetica Neue"/>
                          <a:cs typeface="Helvetica Neue"/>
                          <a:sym typeface="Helvetica Neue"/>
                        </a:rPr>
                        <a:t>Wallbox &amp; Charging inquiry (Installation, delivery, warranty, power, disconnects, charging procedure)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8820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Public Charging</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18</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6 </a:t>
                      </a:r>
                      <a:r>
                        <a:rPr lang="en-GB" sz="700" u="none" cap="none" strike="noStrike">
                          <a:solidFill>
                            <a:schemeClr val="dk1"/>
                          </a:solidFill>
                          <a:latin typeface="Helvetica Neue"/>
                          <a:ea typeface="Helvetica Neue"/>
                          <a:cs typeface="Helvetica Neue"/>
                          <a:sym typeface="Helvetica Neue"/>
                        </a:rPr>
                        <a:t>- Public Charging &amp; Payment inquiry (Charging location, payment method, pre-authorization refund, charging session issue)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8 </a:t>
                      </a:r>
                      <a:r>
                        <a:rPr lang="en-GB" sz="700" u="none" cap="none" strike="noStrike">
                          <a:solidFill>
                            <a:schemeClr val="dk1"/>
                          </a:solidFill>
                          <a:latin typeface="Helvetica Neue"/>
                          <a:ea typeface="Helvetica Neue"/>
                          <a:cs typeface="Helvetica Neue"/>
                          <a:sym typeface="Helvetica Neue"/>
                        </a:rPr>
                        <a:t>- Public Charging &amp; Payment inquiry (Charging location, charging process, payment setup, pre-authorization refund, charging session issue)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 </a:t>
                      </a:r>
                      <a:r>
                        <a:rPr lang="en-GB" sz="700" u="none" cap="none" strike="noStrike">
                          <a:solidFill>
                            <a:schemeClr val="dk1"/>
                          </a:solidFill>
                          <a:latin typeface="Helvetica Neue"/>
                          <a:ea typeface="Helvetica Neue"/>
                          <a:cs typeface="Helvetica Neue"/>
                          <a:sym typeface="Helvetica Neue"/>
                        </a:rPr>
                        <a:t>- Public Charging &amp; Charging procedure inquiry (Charging location, charging station connection, charging session guidance)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1"/>
          <p:cNvSpPr txBox="1"/>
          <p:nvPr/>
        </p:nvSpPr>
        <p:spPr>
          <a:xfrm>
            <a:off x="108575" y="37200"/>
            <a:ext cx="5819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Inquiry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40" name="Google Shape;240;p41"/>
          <p:cNvCxnSpPr/>
          <p:nvPr/>
        </p:nvCxnSpPr>
        <p:spPr>
          <a:xfrm>
            <a:off x="108575" y="497826"/>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241" name="Google Shape;241;p41"/>
          <p:cNvGraphicFramePr/>
          <p:nvPr/>
        </p:nvGraphicFramePr>
        <p:xfrm>
          <a:off x="176488" y="674100"/>
          <a:ext cx="3000000" cy="3000000"/>
        </p:xfrm>
        <a:graphic>
          <a:graphicData uri="http://schemas.openxmlformats.org/drawingml/2006/table">
            <a:tbl>
              <a:tblPr>
                <a:noFill/>
                <a:tableStyleId>{FA528319-6F98-4B39-B0ED-26271DCD7A62}</a:tableStyleId>
              </a:tblPr>
              <a:tblGrid>
                <a:gridCol w="848825"/>
                <a:gridCol w="573350"/>
                <a:gridCol w="7368850"/>
              </a:tblGrid>
              <a:tr h="18747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87475">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Product: 29</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9D2E9"/>
                    </a:solidFill>
                  </a:tcPr>
                </a:tc>
                <a:tc hMerge="1"/>
                <a:tc hMerge="1"/>
              </a:tr>
              <a:tr h="3449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Infotainment</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29</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11 - </a:t>
                      </a:r>
                      <a:r>
                        <a:rPr lang="en-GB" sz="700" u="none" cap="none" strike="noStrike">
                          <a:latin typeface="Helvetica Neue"/>
                          <a:ea typeface="Helvetica Neue"/>
                          <a:cs typeface="Helvetica Neue"/>
                          <a:sym typeface="Helvetica Neue"/>
                        </a:rPr>
                        <a:t>OTA / Software Updates &amp; App / Vehicle System</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(OTA updates, version inquiries, pending updates, Flyme Auto, app issues, connected services, Bluetooth, navigation, TCAM, Android Auto, media player login, system bugs, software rollout, hardware/software mismatch)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5 - </a:t>
                      </a:r>
                      <a:r>
                        <a:rPr lang="en-GB" sz="700" u="none" cap="none" strike="noStrike">
                          <a:latin typeface="Helvetica Neue"/>
                          <a:ea typeface="Helvetica Neue"/>
                          <a:cs typeface="Helvetica Neue"/>
                          <a:sym typeface="Helvetica Neue"/>
                        </a:rPr>
                        <a:t>Map, Navigation &amp; Connected Services / Interior &amp; Comfort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(Map/Waze issues, favourite locations, time format, notifications, connected services, A-Store app, login issues, Android Auto, seat settings, data usage, child safety lock, pedestrian alert sound, feature)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8 - </a:t>
                      </a:r>
                      <a:r>
                        <a:rPr lang="en-GB" sz="700" u="none" cap="none" strike="noStrike">
                          <a:latin typeface="Helvetica Neue"/>
                          <a:ea typeface="Helvetica Neue"/>
                          <a:cs typeface="Helvetica Neue"/>
                          <a:sym typeface="Helvetica Neue"/>
                        </a:rPr>
                        <a:t>OTA / Charging &amp; Connected Services</a:t>
                      </a:r>
                      <a:br>
                        <a:rPr lang="en-GB" sz="700" u="none" cap="none" strike="noStrike">
                          <a:latin typeface="Helvetica Neue"/>
                          <a:ea typeface="Helvetica Neue"/>
                          <a:cs typeface="Helvetica Neue"/>
                          <a:sym typeface="Helvetica Neue"/>
                        </a:rPr>
                      </a:br>
                      <a:r>
                        <a:rPr lang="en-GB" sz="700" u="none" cap="none" strike="noStrike">
                          <a:latin typeface="Helvetica Neue"/>
                          <a:ea typeface="Helvetica Neue"/>
                          <a:cs typeface="Helvetica Neue"/>
                          <a:sym typeface="Helvetica Neue"/>
                        </a:rPr>
                        <a:t>(OTA updates, software version inquiries, charging-related connected features, data package, scheduled charging, V2V power output, network balance)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5 - </a:t>
                      </a:r>
                      <a:r>
                        <a:rPr lang="en-GB" sz="700" u="none" cap="none" strike="noStrike">
                          <a:latin typeface="Helvetica Neue"/>
                          <a:ea typeface="Helvetica Neue"/>
                          <a:cs typeface="Helvetica Neue"/>
                          <a:sym typeface="Helvetica Neue"/>
                        </a:rPr>
                        <a:t>OTA / Software Updates &amp; App / Vehicle System</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(General OTA questions, charging guidance, internet/data queries, app sync issues, charging procedure, system feature questions)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0500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Marketing: 20</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9FC5E8"/>
                    </a:solidFill>
                  </a:tcPr>
                </a:tc>
                <a:tc hMerge="1"/>
                <a:tc hMerge="1"/>
              </a:tr>
              <a:tr h="3449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Event / Campaign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4</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a:t>
                      </a:r>
                      <a:r>
                        <a:rPr lang="en-GB" sz="700" u="none" cap="none" strike="noStrike">
                          <a:solidFill>
                            <a:schemeClr val="dk1"/>
                          </a:solidFill>
                          <a:latin typeface="Helvetica Neue"/>
                          <a:ea typeface="Helvetica Neue"/>
                          <a:cs typeface="Helvetica Neue"/>
                          <a:sym typeface="Helvetica Neue"/>
                        </a:rPr>
                        <a:t> </a:t>
                      </a:r>
                      <a:r>
                        <a:rPr b="1" lang="en-GB" sz="700" u="none" cap="none" strike="noStrike">
                          <a:solidFill>
                            <a:schemeClr val="dk1"/>
                          </a:solidFill>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Marketing Campaigns / Events (LIHAS 2026, KLIMS, MITEC Event)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517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Partnership / Collaboration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latin typeface="Helvetica Neue"/>
                          <a:ea typeface="Helvetica Neue"/>
                          <a:cs typeface="Helvetica Neue"/>
                          <a:sym typeface="Helvetica Neue"/>
                        </a:rPr>
                        <a:t>EV content creator requested media review and test drive opportunity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12 - </a:t>
                      </a:r>
                      <a:r>
                        <a:rPr lang="en-GB" sz="700" u="none" cap="none" strike="noStrike">
                          <a:solidFill>
                            <a:schemeClr val="dk1"/>
                          </a:solidFill>
                          <a:latin typeface="Helvetica Neue"/>
                          <a:ea typeface="Helvetica Neue"/>
                          <a:cs typeface="Helvetica Neue"/>
                          <a:sym typeface="Helvetica Neue"/>
                        </a:rPr>
                        <a:t>Business collaboration proposals, charging vendor inquiry, EV product information request, dealer/distribution partnership, supplier collaboration, event proposals, media/content collaboration, network expansion proposals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95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Proposal</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 </a:t>
                      </a:r>
                      <a:r>
                        <a:rPr lang="en-GB" sz="700" u="none" cap="none" strike="noStrike">
                          <a:solidFill>
                            <a:schemeClr val="dk1"/>
                          </a:solidFill>
                          <a:latin typeface="Helvetica Neue"/>
                          <a:ea typeface="Helvetica Neue"/>
                          <a:cs typeface="Helvetica Neue"/>
                          <a:sym typeface="Helvetica Neue"/>
                        </a:rPr>
                        <a:t>EV charging solution proposals, EV charger manufacturing collaboration, marketing proposal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2"/>
          <p:cNvSpPr txBox="1"/>
          <p:nvPr/>
        </p:nvSpPr>
        <p:spPr>
          <a:xfrm>
            <a:off x="5278375" y="1346400"/>
            <a:ext cx="3776700" cy="303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dk1"/>
                </a:solidFill>
                <a:latin typeface="Helvetica Neue"/>
                <a:ea typeface="Helvetica Neue"/>
                <a:cs typeface="Helvetica Neue"/>
                <a:sym typeface="Helvetica Neue"/>
              </a:rPr>
              <a:t>Proton Complaint Case Trends for June 2026:</a:t>
            </a:r>
            <a:endParaRPr b="1" i="0" sz="900" u="none" cap="none" strike="noStrike">
              <a:solidFill>
                <a:schemeClr val="dk1"/>
              </a:solidFill>
              <a:latin typeface="Arial"/>
              <a:ea typeface="Arial"/>
              <a:cs typeface="Arial"/>
              <a:sym typeface="Arial"/>
            </a:endParaRPr>
          </a:p>
          <a:p>
            <a:pPr indent="-285750" lvl="0" marL="457200" marR="0" rtl="0" algn="l">
              <a:lnSpc>
                <a:spcPct val="100000"/>
              </a:lnSpc>
              <a:spcBef>
                <a:spcPts val="1200"/>
              </a:spcBef>
              <a:spcAft>
                <a:spcPts val="0"/>
              </a:spcAft>
              <a:buClr>
                <a:schemeClr val="dk1"/>
              </a:buClr>
              <a:buSzPts val="900"/>
              <a:buFont typeface="Arial"/>
              <a:buChar char="●"/>
            </a:pPr>
            <a:r>
              <a:rPr b="1" i="0" lang="en-GB" sz="900" u="none" cap="none" strike="noStrike">
                <a:solidFill>
                  <a:schemeClr val="dk1"/>
                </a:solidFill>
                <a:latin typeface="Arial"/>
                <a:ea typeface="Arial"/>
                <a:cs typeface="Arial"/>
                <a:sym typeface="Arial"/>
              </a:rPr>
              <a:t>Total Complaints: 770</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120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Sales	              : 204  </a:t>
            </a:r>
            <a:r>
              <a:rPr b="0" i="1" lang="en-GB" sz="800" u="none" cap="none" strike="noStrike">
                <a:solidFill>
                  <a:srgbClr val="000000"/>
                </a:solidFill>
                <a:highlight>
                  <a:srgbClr val="FFFF00"/>
                </a:highlight>
                <a:latin typeface="Helvetica Neue"/>
                <a:ea typeface="Helvetica Neue"/>
                <a:cs typeface="Helvetica Neue"/>
                <a:sym typeface="Helvetica Neue"/>
              </a:rPr>
              <a:t>e.MAS 5 : 103 , e.MAS 7 : 20 , PHEV : 37</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Product		: 191  </a:t>
            </a:r>
            <a:r>
              <a:rPr b="0" i="1" lang="en-GB" sz="800" u="none" cap="none" strike="noStrike">
                <a:solidFill>
                  <a:srgbClr val="000000"/>
                </a:solidFill>
                <a:highlight>
                  <a:srgbClr val="FFFF00"/>
                </a:highlight>
                <a:latin typeface="Helvetica Neue"/>
                <a:ea typeface="Helvetica Neue"/>
                <a:cs typeface="Helvetica Neue"/>
                <a:sym typeface="Helvetica Neue"/>
              </a:rPr>
              <a:t>e.MAS 5 : 63 , e.MAS 7 : 86 , PHEV : 25</a:t>
            </a:r>
            <a:endParaRPr b="0" i="0" sz="9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Charging	: 133  </a:t>
            </a:r>
            <a:r>
              <a:rPr b="0" i="1" lang="en-GB" sz="800" u="none" cap="none" strike="noStrike">
                <a:solidFill>
                  <a:srgbClr val="000000"/>
                </a:solidFill>
                <a:highlight>
                  <a:srgbClr val="FFFF00"/>
                </a:highlight>
                <a:latin typeface="Helvetica Neue"/>
                <a:ea typeface="Helvetica Neue"/>
                <a:cs typeface="Helvetica Neue"/>
                <a:sym typeface="Helvetica Neue"/>
              </a:rPr>
              <a:t>e.MAS 5 : 47 , e.MAS 7 : 48 , PHEV : 19</a:t>
            </a:r>
            <a:endParaRPr b="0" i="0" sz="9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After-Sales 	: 122  </a:t>
            </a:r>
            <a:r>
              <a:rPr b="0" i="1" lang="en-GB" sz="800" u="none" cap="none" strike="noStrike">
                <a:solidFill>
                  <a:srgbClr val="000000"/>
                </a:solidFill>
                <a:highlight>
                  <a:srgbClr val="FFFF00"/>
                </a:highlight>
                <a:latin typeface="Helvetica Neue"/>
                <a:ea typeface="Helvetica Neue"/>
                <a:cs typeface="Helvetica Neue"/>
                <a:sym typeface="Helvetica Neue"/>
              </a:rPr>
              <a:t>e.MAS 5 : 27 , e.MAS 7 : 72, PHEV : 14</a:t>
            </a:r>
            <a:endParaRPr b="0" i="0" sz="9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Apps 		: 120  </a:t>
            </a:r>
            <a:r>
              <a:rPr b="0" i="1" lang="en-GB" sz="800" u="none" cap="none" strike="noStrike">
                <a:solidFill>
                  <a:srgbClr val="000000"/>
                </a:solidFill>
                <a:highlight>
                  <a:srgbClr val="FFFF00"/>
                </a:highlight>
                <a:latin typeface="Helvetica Neue"/>
                <a:ea typeface="Helvetica Neue"/>
                <a:cs typeface="Helvetica Neue"/>
                <a:sym typeface="Helvetica Neue"/>
              </a:rPr>
              <a:t>e.MAS 5 : 32 , e.MAS 7 : 40 , PHEV : 36</a:t>
            </a:r>
            <a:endParaRPr b="0" i="0" sz="9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900"/>
              <a:buFont typeface="Arial"/>
              <a:buNone/>
            </a:pPr>
            <a:r>
              <a:rPr b="1" i="0" lang="en-GB" sz="900" u="none" cap="none" strike="noStrike">
                <a:solidFill>
                  <a:schemeClr val="dk1"/>
                </a:solidFill>
                <a:latin typeface="Helvetica Neue"/>
                <a:ea typeface="Helvetica Neue"/>
                <a:cs typeface="Helvetica Neue"/>
                <a:sym typeface="Helvetica Neue"/>
              </a:rPr>
              <a:t>Summary: </a:t>
            </a:r>
            <a:endParaRPr b="1" i="0" sz="9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900"/>
              <a:buFont typeface="Arial"/>
              <a:buNone/>
            </a:pPr>
            <a:r>
              <a:t/>
            </a:r>
            <a:endParaRPr b="1" i="0" sz="900" u="none" cap="none" strike="noStrike">
              <a:solidFill>
                <a:schemeClr val="dk1"/>
              </a:solidFill>
              <a:latin typeface="Helvetica Neue"/>
              <a:ea typeface="Helvetica Neue"/>
              <a:cs typeface="Helvetica Neue"/>
              <a:sym typeface="Helvetica Neue"/>
            </a:endParaRPr>
          </a:p>
          <a:p>
            <a:pPr indent="-285750" lvl="0" marL="457200" marR="0" rtl="0" algn="l">
              <a:lnSpc>
                <a:spcPct val="115000"/>
              </a:lnSpc>
              <a:spcBef>
                <a:spcPts val="0"/>
              </a:spcBef>
              <a:spcAft>
                <a:spcPts val="0"/>
              </a:spcAft>
              <a:buClr>
                <a:schemeClr val="dk1"/>
              </a:buClr>
              <a:buSzPts val="900"/>
              <a:buFont typeface="Helvetica Neue"/>
              <a:buChar char="●"/>
            </a:pPr>
            <a:r>
              <a:rPr b="0" i="0" lang="en-GB" sz="900" u="none" cap="none" strike="noStrike">
                <a:solidFill>
                  <a:schemeClr val="dk1"/>
                </a:solidFill>
                <a:latin typeface="Helvetica Neue"/>
                <a:ea typeface="Helvetica Neue"/>
                <a:cs typeface="Helvetica Neue"/>
                <a:sym typeface="Helvetica Neue"/>
              </a:rPr>
              <a:t>In June 2026, complaints were </a:t>
            </a:r>
            <a:r>
              <a:rPr b="1" i="0" lang="en-GB" sz="900" u="none" cap="none" strike="noStrike">
                <a:solidFill>
                  <a:schemeClr val="dk1"/>
                </a:solidFill>
                <a:latin typeface="Helvetica Neue"/>
                <a:ea typeface="Helvetica Neue"/>
                <a:cs typeface="Helvetica Neue"/>
                <a:sym typeface="Helvetica Neue"/>
              </a:rPr>
              <a:t>highest in Sales </a:t>
            </a:r>
            <a:r>
              <a:rPr b="0" i="0" lang="en-GB" sz="900" u="none" cap="none" strike="noStrike">
                <a:solidFill>
                  <a:schemeClr val="dk1"/>
                </a:solidFill>
                <a:latin typeface="Helvetica Neue"/>
                <a:ea typeface="Helvetica Neue"/>
                <a:cs typeface="Helvetica Neue"/>
                <a:sym typeface="Helvetica Neue"/>
              </a:rPr>
              <a:t>(204 Cases) compared to others. </a:t>
            </a:r>
            <a:endParaRPr b="0" i="0" sz="900" u="none" cap="none" strike="noStrike">
              <a:solidFill>
                <a:schemeClr val="dk1"/>
              </a:solidFill>
              <a:latin typeface="Helvetica Neue"/>
              <a:ea typeface="Helvetica Neue"/>
              <a:cs typeface="Helvetica Neue"/>
              <a:sym typeface="Helvetica Neue"/>
            </a:endParaRPr>
          </a:p>
          <a:p>
            <a:pPr indent="-285750" lvl="0" marL="457200" marR="0" rtl="0" algn="l">
              <a:lnSpc>
                <a:spcPct val="115000"/>
              </a:lnSpc>
              <a:spcBef>
                <a:spcPts val="0"/>
              </a:spcBef>
              <a:spcAft>
                <a:spcPts val="0"/>
              </a:spcAft>
              <a:buClr>
                <a:schemeClr val="dk1"/>
              </a:buClr>
              <a:buSzPts val="900"/>
              <a:buFont typeface="Helvetica Neue"/>
              <a:buChar char="●"/>
            </a:pPr>
            <a:r>
              <a:rPr b="0" i="0" lang="en-GB" sz="900" u="none" cap="none" strike="noStrike">
                <a:solidFill>
                  <a:schemeClr val="dk1"/>
                </a:solidFill>
                <a:latin typeface="Helvetica Neue"/>
                <a:ea typeface="Helvetica Neue"/>
                <a:cs typeface="Helvetica Neue"/>
                <a:sym typeface="Helvetica Neue"/>
              </a:rPr>
              <a:t>Key issues reported were </a:t>
            </a:r>
            <a:r>
              <a:rPr b="1" i="0" lang="en-GB" sz="900" u="none" cap="none" strike="noStrike">
                <a:solidFill>
                  <a:schemeClr val="dk1"/>
                </a:solidFill>
                <a:latin typeface="Helvetica Neue"/>
                <a:ea typeface="Helvetica Neue"/>
                <a:cs typeface="Helvetica Neue"/>
                <a:sym typeface="Helvetica Neue"/>
              </a:rPr>
              <a:t>Vehicle Allocation, Refund </a:t>
            </a:r>
            <a:r>
              <a:rPr b="0" i="0" lang="en-GB" sz="900" u="none" cap="none" strike="noStrike">
                <a:solidFill>
                  <a:schemeClr val="dk1"/>
                </a:solidFill>
                <a:latin typeface="Helvetica Neue"/>
                <a:ea typeface="Helvetica Neue"/>
                <a:cs typeface="Helvetica Neue"/>
                <a:sym typeface="Helvetica Neue"/>
              </a:rPr>
              <a:t>and </a:t>
            </a:r>
            <a:r>
              <a:rPr b="1" i="0" lang="en-GB" sz="900" u="none" cap="none" strike="noStrike">
                <a:solidFill>
                  <a:schemeClr val="dk1"/>
                </a:solidFill>
                <a:latin typeface="Helvetica Neue"/>
                <a:ea typeface="Helvetica Neue"/>
                <a:cs typeface="Helvetica Neue"/>
                <a:sym typeface="Helvetica Neue"/>
              </a:rPr>
              <a:t>Raya Rebate.</a:t>
            </a:r>
            <a:endParaRPr b="1" i="0" sz="9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chemeClr val="dk1"/>
              </a:solidFill>
              <a:latin typeface="Helvetica Neue Light"/>
              <a:ea typeface="Helvetica Neue Light"/>
              <a:cs typeface="Helvetica Neue Light"/>
              <a:sym typeface="Helvetica Neue Light"/>
            </a:endParaRPr>
          </a:p>
        </p:txBody>
      </p:sp>
      <p:sp>
        <p:nvSpPr>
          <p:cNvPr id="247" name="Google Shape;247;p42"/>
          <p:cNvSpPr txBox="1"/>
          <p:nvPr/>
        </p:nvSpPr>
        <p:spPr>
          <a:xfrm>
            <a:off x="95075" y="215550"/>
            <a:ext cx="502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Trend – June 2026</a:t>
            </a:r>
            <a:endParaRPr b="1" i="0" sz="1800" u="none" cap="none" strike="noStrike">
              <a:solidFill>
                <a:schemeClr val="dk1"/>
              </a:solidFill>
              <a:latin typeface="Helvetica Neue"/>
              <a:ea typeface="Helvetica Neue"/>
              <a:cs typeface="Helvetica Neue"/>
              <a:sym typeface="Helvetica Neue"/>
            </a:endParaRPr>
          </a:p>
        </p:txBody>
      </p:sp>
      <p:cxnSp>
        <p:nvCxnSpPr>
          <p:cNvPr id="248" name="Google Shape;248;p42"/>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pic>
        <p:nvPicPr>
          <p:cNvPr id="249" name="Google Shape;249;p42" title="Chart"/>
          <p:cNvPicPr preferRelativeResize="0"/>
          <p:nvPr/>
        </p:nvPicPr>
        <p:blipFill rotWithShape="1">
          <a:blip r:embed="rId3">
            <a:alphaModFix/>
          </a:blip>
          <a:srcRect b="0" l="0" r="0" t="0"/>
          <a:stretch/>
        </p:blipFill>
        <p:spPr>
          <a:xfrm>
            <a:off x="79375" y="1255475"/>
            <a:ext cx="5055199" cy="295497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txBox="1"/>
          <p:nvPr/>
        </p:nvSpPr>
        <p:spPr>
          <a:xfrm>
            <a:off x="95075" y="215550"/>
            <a:ext cx="779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55" name="Google Shape;255;p43"/>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256" name="Google Shape;256;p43"/>
          <p:cNvGraphicFramePr/>
          <p:nvPr/>
        </p:nvGraphicFramePr>
        <p:xfrm>
          <a:off x="155676" y="839848"/>
          <a:ext cx="3000000" cy="3000000"/>
        </p:xfrm>
        <a:graphic>
          <a:graphicData uri="http://schemas.openxmlformats.org/drawingml/2006/table">
            <a:tbl>
              <a:tblPr>
                <a:noFill/>
                <a:tableStyleId>{FA528319-6F98-4B39-B0ED-26271DCD7A62}</a:tableStyleId>
              </a:tblPr>
              <a:tblGrid>
                <a:gridCol w="710375"/>
                <a:gridCol w="458525"/>
                <a:gridCol w="7675325"/>
              </a:tblGrid>
              <a:tr h="19287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0725">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Charging: 133</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2CC"/>
                    </a:solidFill>
                  </a:tcPr>
                </a:tc>
                <a:tc hMerge="1"/>
                <a:tc hMerge="1"/>
              </a:tr>
              <a:tr h="4809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Home Charging</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104</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15 </a:t>
                      </a:r>
                      <a:r>
                        <a:rPr lang="en-GB" sz="700" u="none" cap="none" strike="noStrike">
                          <a:solidFill>
                            <a:schemeClr val="dk1"/>
                          </a:solidFill>
                          <a:latin typeface="Helvetica Neue"/>
                          <a:ea typeface="Helvetica Neue"/>
                          <a:cs typeface="Helvetica Neue"/>
                          <a:sym typeface="Helvetica Neue"/>
                        </a:rPr>
                        <a:t>- Unable to book Home Assessment / prior order / system issue / outbound process incomplete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9 </a:t>
                      </a:r>
                      <a:r>
                        <a:rPr lang="en-GB" sz="700" u="none" cap="none" strike="noStrike">
                          <a:solidFill>
                            <a:schemeClr val="dk1"/>
                          </a:solidFill>
                          <a:latin typeface="Helvetica Neue"/>
                          <a:ea typeface="Helvetica Neue"/>
                          <a:cs typeface="Helvetica Neue"/>
                          <a:sym typeface="Helvetica Neue"/>
                        </a:rPr>
                        <a:t>- Wallbox malfunction / unable to charge / no power / red blinking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7 </a:t>
                      </a:r>
                      <a:r>
                        <a:rPr lang="en-GB" sz="700" u="none" cap="none" strike="noStrike">
                          <a:solidFill>
                            <a:schemeClr val="dk1"/>
                          </a:solidFill>
                          <a:latin typeface="Helvetica Neue"/>
                          <a:ea typeface="Helvetica Neue"/>
                          <a:cs typeface="Helvetica Neue"/>
                          <a:sym typeface="Helvetica Neue"/>
                        </a:rPr>
                        <a:t>- Installation-related issue / installer delay / quotation / installation arrangement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Home Assessment refund request / refund status follow-up / payment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Wallbox charging / app synchronization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Charging equipment issue / cable or connector defect</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Pending installation payment inquiry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10 </a:t>
                      </a:r>
                      <a:r>
                        <a:rPr lang="en-GB" sz="700" u="none" cap="none" strike="noStrike">
                          <a:solidFill>
                            <a:schemeClr val="dk1"/>
                          </a:solidFill>
                          <a:latin typeface="Helvetica Neue"/>
                          <a:ea typeface="Helvetica Neue"/>
                          <a:cs typeface="Helvetica Neue"/>
                          <a:sym typeface="Helvetica Neue"/>
                        </a:rPr>
                        <a:t>- Installation-related issue / installer delay / quotation / installation arrangement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8 </a:t>
                      </a:r>
                      <a:r>
                        <a:rPr lang="en-GB" sz="700" u="none" cap="none" strike="noStrike">
                          <a:solidFill>
                            <a:schemeClr val="dk1"/>
                          </a:solidFill>
                          <a:latin typeface="Helvetica Neue"/>
                          <a:ea typeface="Helvetica Neue"/>
                          <a:cs typeface="Helvetica Neue"/>
                          <a:sym typeface="Helvetica Neue"/>
                        </a:rPr>
                        <a:t>- Wallbox malfunction / unable to charge / no power / red blinking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 </a:t>
                      </a:r>
                      <a:r>
                        <a:rPr lang="en-GB" sz="700" u="none" cap="none" strike="noStrike">
                          <a:solidFill>
                            <a:schemeClr val="dk1"/>
                          </a:solidFill>
                          <a:latin typeface="Helvetica Neue"/>
                          <a:ea typeface="Helvetica Neue"/>
                          <a:cs typeface="Helvetica Neue"/>
                          <a:sym typeface="Helvetica Neue"/>
                        </a:rPr>
                        <a:t>- Unable to book Home Assessment / prior order / system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 </a:t>
                      </a:r>
                      <a:r>
                        <a:rPr lang="en-GB" sz="700" u="none" cap="none" strike="noStrike">
                          <a:solidFill>
                            <a:schemeClr val="dk1"/>
                          </a:solidFill>
                          <a:latin typeface="Helvetica Neue"/>
                          <a:ea typeface="Helvetica Neue"/>
                          <a:cs typeface="Helvetica Neue"/>
                          <a:sym typeface="Helvetica Neue"/>
                        </a:rPr>
                        <a:t>- Charging issue / charging stopped unexpectedly / unable to start charging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Wallbox power trip / RCCB trip / current drop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Electrical concern / fuse overheating / DB issue / safety concern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Home Assessment refund status inquiry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Charging port not functioning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Wallbox delivery delay after vehicle handover</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Wallbox charging connector detected but charging not started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Wallbox replacement / warranty follow-up</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Wallbox charging/app synchronization issue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10 </a:t>
                      </a:r>
                      <a:r>
                        <a:rPr lang="en-GB" sz="700" u="none" cap="none" strike="noStrike">
                          <a:solidFill>
                            <a:schemeClr val="dk1"/>
                          </a:solidFill>
                          <a:latin typeface="Helvetica Neue"/>
                          <a:ea typeface="Helvetica Neue"/>
                          <a:cs typeface="Helvetica Neue"/>
                          <a:sym typeface="Helvetica Neue"/>
                        </a:rPr>
                        <a:t>- Unable to book Home Assessment / phone number / prior order / system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 </a:t>
                      </a:r>
                      <a:r>
                        <a:rPr lang="en-GB" sz="700" u="none" cap="none" strike="noStrike">
                          <a:solidFill>
                            <a:schemeClr val="dk1"/>
                          </a:solidFill>
                          <a:latin typeface="Helvetica Neue"/>
                          <a:ea typeface="Helvetica Neue"/>
                          <a:cs typeface="Helvetica Neue"/>
                          <a:sym typeface="Helvetica Neue"/>
                        </a:rPr>
                        <a:t>- Installation-related issue / installer delay / assessment arrangement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Wallbox malfunction / red blinking / unable to charge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Request for wallbox inspection by PRO-NET technician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Request to change installer</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Wallbox delivery delay after vehicle delivery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Home charger overheating / electrical concern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Wallbox charging not detected in app</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Home Assessment refund status inquiry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4"/>
          <p:cNvSpPr txBox="1"/>
          <p:nvPr/>
        </p:nvSpPr>
        <p:spPr>
          <a:xfrm>
            <a:off x="95075" y="215550"/>
            <a:ext cx="779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62" name="Google Shape;262;p44"/>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263" name="Google Shape;263;p44"/>
          <p:cNvGraphicFramePr/>
          <p:nvPr/>
        </p:nvGraphicFramePr>
        <p:xfrm>
          <a:off x="122513" y="1032298"/>
          <a:ext cx="3000000" cy="3000000"/>
        </p:xfrm>
        <a:graphic>
          <a:graphicData uri="http://schemas.openxmlformats.org/drawingml/2006/table">
            <a:tbl>
              <a:tblPr>
                <a:noFill/>
                <a:tableStyleId>{FA528319-6F98-4B39-B0ED-26271DCD7A62}</a:tableStyleId>
              </a:tblPr>
              <a:tblGrid>
                <a:gridCol w="708025"/>
                <a:gridCol w="457000"/>
                <a:gridCol w="7650000"/>
              </a:tblGrid>
              <a:tr h="21632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150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Charging: 133</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2CC"/>
                    </a:solidFill>
                  </a:tcPr>
                </a:tc>
                <a:tc hMerge="1"/>
                <a:tc hMerge="1"/>
              </a:tr>
              <a:tr h="5394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Home Charging</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104</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Unable to book Home Assessment / system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Wallbox malfunction / unable to charge / no power</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Electrical safety concern / DB issue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6879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Public Charging</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29</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9 </a:t>
                      </a:r>
                      <a:r>
                        <a:rPr lang="en-GB" sz="700" u="none" cap="none" strike="noStrike">
                          <a:solidFill>
                            <a:schemeClr val="dk1"/>
                          </a:solidFill>
                          <a:latin typeface="Helvetica Neue"/>
                          <a:ea typeface="Helvetica Neue"/>
                          <a:cs typeface="Helvetica Neue"/>
                          <a:sym typeface="Helvetica Neue"/>
                        </a:rPr>
                        <a:t>- Public charging session issue / charging status stuck / unable to end charging session / app synchronization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Charging gun unable to release / connector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Billing issue / incorrect charging fee dispute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9 </a:t>
                      </a:r>
                      <a:r>
                        <a:rPr lang="en-GB" sz="700" u="none" cap="none" strike="noStrike">
                          <a:solidFill>
                            <a:schemeClr val="dk1"/>
                          </a:solidFill>
                          <a:latin typeface="Helvetica Neue"/>
                          <a:ea typeface="Helvetica Neue"/>
                          <a:cs typeface="Helvetica Neue"/>
                          <a:sym typeface="Helvetica Neue"/>
                        </a:rPr>
                        <a:t>- Public charging session issue / charging status stuck / unable to end charging session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Charging failed / unable to start charging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Pre-authorisation / payment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Charging station availability / charger map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Pre-authorisation / refund / payment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Charging failed but payment/pre-authorisation deducted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mentioned/purchased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Public charging billing / payment / charging session issue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5"/>
          <p:cNvSpPr txBox="1"/>
          <p:nvPr/>
        </p:nvSpPr>
        <p:spPr>
          <a:xfrm>
            <a:off x="95075" y="215550"/>
            <a:ext cx="5134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69" name="Google Shape;269;p45"/>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270" name="Google Shape;270;p45"/>
          <p:cNvGraphicFramePr/>
          <p:nvPr/>
        </p:nvGraphicFramePr>
        <p:xfrm>
          <a:off x="213976" y="907154"/>
          <a:ext cx="3000000" cy="3000000"/>
        </p:xfrm>
        <a:graphic>
          <a:graphicData uri="http://schemas.openxmlformats.org/drawingml/2006/table">
            <a:tbl>
              <a:tblPr>
                <a:noFill/>
                <a:tableStyleId>{FA528319-6F98-4B39-B0ED-26271DCD7A62}</a:tableStyleId>
              </a:tblPr>
              <a:tblGrid>
                <a:gridCol w="710375"/>
                <a:gridCol w="458525"/>
                <a:gridCol w="7675325"/>
              </a:tblGrid>
              <a:tr h="171200">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7120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Sales: 204</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4CCCC"/>
                    </a:solidFill>
                  </a:tcPr>
                </a:tc>
                <a:tc hMerge="1"/>
                <a:tc hMerge="1"/>
              </a:tr>
              <a:tr h="3084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Accessories</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5</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br>
                        <a:rPr b="1"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3 - </a:t>
                      </a:r>
                      <a:r>
                        <a:rPr lang="en-GB" sz="700" u="none" cap="none" strike="noStrike">
                          <a:solidFill>
                            <a:schemeClr val="dk1"/>
                          </a:solidFill>
                          <a:latin typeface="Helvetica Neue"/>
                          <a:ea typeface="Helvetica Neue"/>
                          <a:cs typeface="Helvetica Neue"/>
                          <a:sym typeface="Helvetica Neue"/>
                        </a:rPr>
                        <a:t>White EV plate delivery delay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Vehicle accessories delay (Carpet)</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Touch N’ Go card delay</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084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Customer Experience</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35</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7 -</a:t>
                      </a:r>
                      <a:r>
                        <a:rPr lang="en-GB" sz="700" u="none" cap="none" strike="noStrike">
                          <a:solidFill>
                            <a:schemeClr val="dk1"/>
                          </a:solidFill>
                          <a:latin typeface="Helvetica Neue"/>
                          <a:ea typeface="Helvetica Neue"/>
                          <a:cs typeface="Helvetica Neue"/>
                          <a:sym typeface="Helvetica Neue"/>
                        </a:rPr>
                        <a:t> Poor sales advisor professionalism / communication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 </a:t>
                      </a:r>
                      <a:r>
                        <a:rPr lang="en-GB" sz="700" u="none" cap="none" strike="noStrike">
                          <a:solidFill>
                            <a:schemeClr val="dk1"/>
                          </a:solidFill>
                          <a:latin typeface="Helvetica Neue"/>
                          <a:ea typeface="Helvetica Neue"/>
                          <a:cs typeface="Helvetica Neue"/>
                          <a:sym typeface="Helvetica Neue"/>
                        </a:rPr>
                        <a:t>Booking, refund, or purchase agreement dispute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 </a:t>
                      </a:r>
                      <a:r>
                        <a:rPr lang="en-GB" sz="700" u="none" cap="none" strike="noStrike">
                          <a:solidFill>
                            <a:schemeClr val="dk1"/>
                          </a:solidFill>
                          <a:latin typeface="Helvetica Neue"/>
                          <a:ea typeface="Helvetica Neue"/>
                          <a:cs typeface="Helvetica Neue"/>
                          <a:sym typeface="Helvetica Neue"/>
                        </a:rPr>
                        <a:t>Promotional rebate dispute / delayed rebate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 </a:t>
                      </a:r>
                      <a:r>
                        <a:rPr lang="en-GB" sz="700" u="none" cap="none" strike="noStrike">
                          <a:solidFill>
                            <a:schemeClr val="dk1"/>
                          </a:solidFill>
                          <a:latin typeface="Helvetica Neue"/>
                          <a:ea typeface="Helvetica Neue"/>
                          <a:cs typeface="Helvetica Neue"/>
                          <a:sym typeface="Helvetica Neue"/>
                        </a:rPr>
                        <a:t>Vehicle delivery condition / PDI quality issues</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 </a:t>
                      </a:r>
                      <a:r>
                        <a:rPr lang="en-GB" sz="700" u="none" cap="none" strike="noStrike">
                          <a:solidFill>
                            <a:schemeClr val="dk1"/>
                          </a:solidFill>
                          <a:latin typeface="Helvetica Neue"/>
                          <a:ea typeface="Helvetica Neue"/>
                          <a:cs typeface="Helvetica Neue"/>
                          <a:sym typeface="Helvetica Neue"/>
                        </a:rPr>
                        <a:t>3-pin plug delivery delay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Vehicle defect during vehicle delivery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4 - </a:t>
                      </a:r>
                      <a:r>
                        <a:rPr lang="en-GB" sz="700" u="none" cap="none" strike="noStrike">
                          <a:solidFill>
                            <a:schemeClr val="dk1"/>
                          </a:solidFill>
                          <a:latin typeface="Helvetica Neue"/>
                          <a:ea typeface="Helvetica Neue"/>
                          <a:cs typeface="Helvetica Neue"/>
                          <a:sym typeface="Helvetica Neue"/>
                        </a:rPr>
                        <a:t>Vehicle condition and delivery complaint</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 </a:t>
                      </a:r>
                      <a:r>
                        <a:rPr lang="en-GB" sz="700" u="none" cap="none" strike="noStrike">
                          <a:solidFill>
                            <a:schemeClr val="dk1"/>
                          </a:solidFill>
                          <a:latin typeface="Helvetica Neue"/>
                          <a:ea typeface="Helvetica Neue"/>
                          <a:cs typeface="Helvetica Neue"/>
                          <a:sym typeface="Helvetica Neue"/>
                        </a:rPr>
                        <a:t>Poor sales advisor / dealer service experience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Delay NCD transfer</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4 - </a:t>
                      </a:r>
                      <a:r>
                        <a:rPr lang="en-GB" sz="700" u="none" cap="none" strike="noStrike">
                          <a:solidFill>
                            <a:schemeClr val="dk1"/>
                          </a:solidFill>
                          <a:latin typeface="Helvetica Neue"/>
                          <a:ea typeface="Helvetica Neue"/>
                          <a:cs typeface="Helvetica Neue"/>
                          <a:sym typeface="Helvetica Neue"/>
                        </a:rPr>
                        <a:t>Poor dealer / sales professionalism</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 </a:t>
                      </a:r>
                      <a:r>
                        <a:rPr lang="en-GB" sz="700" u="none" cap="none" strike="noStrike">
                          <a:solidFill>
                            <a:schemeClr val="dk1"/>
                          </a:solidFill>
                          <a:latin typeface="Helvetica Neue"/>
                          <a:ea typeface="Helvetica Neue"/>
                          <a:cs typeface="Helvetica Neue"/>
                          <a:sym typeface="Helvetica Neue"/>
                        </a:rPr>
                        <a:t>Vehicle condition and delivery complaint</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Delay vehicle registration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 </a:t>
                      </a:r>
                      <a:r>
                        <a:rPr lang="en-GB" sz="700" u="none" cap="none" strike="noStrike">
                          <a:solidFill>
                            <a:schemeClr val="dk1"/>
                          </a:solidFill>
                          <a:latin typeface="Helvetica Neue"/>
                          <a:ea typeface="Helvetica Neue"/>
                          <a:cs typeface="Helvetica Neue"/>
                          <a:sym typeface="Helvetica Neue"/>
                        </a:rPr>
                        <a:t>Poor dealer / sales professionalism</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Booking process delay</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6"/>
          <p:cNvSpPr txBox="1"/>
          <p:nvPr/>
        </p:nvSpPr>
        <p:spPr>
          <a:xfrm>
            <a:off x="95075" y="215550"/>
            <a:ext cx="5088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76" name="Google Shape;276;p46"/>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277" name="Google Shape;277;p46"/>
          <p:cNvGraphicFramePr/>
          <p:nvPr/>
        </p:nvGraphicFramePr>
        <p:xfrm>
          <a:off x="144053" y="822565"/>
          <a:ext cx="3000000" cy="3000000"/>
        </p:xfrm>
        <a:graphic>
          <a:graphicData uri="http://schemas.openxmlformats.org/drawingml/2006/table">
            <a:tbl>
              <a:tblPr>
                <a:noFill/>
                <a:tableStyleId>{FA528319-6F98-4B39-B0ED-26271DCD7A62}</a:tableStyleId>
              </a:tblPr>
              <a:tblGrid>
                <a:gridCol w="711325"/>
                <a:gridCol w="459125"/>
                <a:gridCol w="7685425"/>
              </a:tblGrid>
              <a:tr h="17590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Delivery</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128</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 e.MAS 5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61 </a:t>
                      </a:r>
                      <a:r>
                        <a:rPr lang="en-GB" sz="700" u="none" cap="none" strike="noStrike">
                          <a:latin typeface="Helvetica Neue"/>
                          <a:ea typeface="Helvetica Neue"/>
                          <a:cs typeface="Helvetica Neue"/>
                          <a:sym typeface="Helvetica Neue"/>
                        </a:rPr>
                        <a:t>- No vehicle allocation / delivery delay / ETA delay</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 </a:t>
                      </a:r>
                      <a:r>
                        <a:rPr lang="en-GB" sz="700" u="none" cap="none" strike="noStrike">
                          <a:latin typeface="Helvetica Neue"/>
                          <a:ea typeface="Helvetica Neue"/>
                          <a:cs typeface="Helvetica Neue"/>
                          <a:sym typeface="Helvetica Neue"/>
                        </a:rPr>
                        <a:t>- Dealer communication issues / lack of updates</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Delay vehicle handover</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6 </a:t>
                      </a:r>
                      <a:r>
                        <a:rPr lang="en-GB" sz="700" u="none" cap="none" strike="noStrike">
                          <a:latin typeface="Helvetica Neue"/>
                          <a:ea typeface="Helvetica Neue"/>
                          <a:cs typeface="Helvetica Neue"/>
                          <a:sym typeface="Helvetica Neue"/>
                        </a:rPr>
                        <a:t>- No vehicle allocation / delivery delay / ETA delay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23 </a:t>
                      </a:r>
                      <a:r>
                        <a:rPr lang="en-GB" sz="700" u="none" cap="none" strike="noStrike">
                          <a:latin typeface="Helvetica Neue"/>
                          <a:ea typeface="Helvetica Neue"/>
                          <a:cs typeface="Helvetica Neue"/>
                          <a:sym typeface="Helvetica Neue"/>
                        </a:rPr>
                        <a:t>- No vehicle allocation / delivery delay / ETA delay</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 </a:t>
                      </a:r>
                      <a:r>
                        <a:rPr lang="en-GB" sz="700" u="none" cap="none" strike="noStrike">
                          <a:latin typeface="Helvetica Neue"/>
                          <a:ea typeface="Helvetica Neue"/>
                          <a:cs typeface="Helvetica Neue"/>
                          <a:sym typeface="Helvetica Neue"/>
                        </a:rPr>
                        <a:t>Dealer communication issues / lack of updates</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Delivery quality / delivery rejection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28 </a:t>
                      </a:r>
                      <a:r>
                        <a:rPr lang="en-GB" sz="700" u="none" cap="none" strike="noStrike">
                          <a:latin typeface="Helvetica Neue"/>
                          <a:ea typeface="Helvetica Neue"/>
                          <a:cs typeface="Helvetica Neue"/>
                          <a:sym typeface="Helvetica Neue"/>
                        </a:rPr>
                        <a:t>- No vehicle allocation / delivery delay</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3 </a:t>
                      </a:r>
                      <a:r>
                        <a:rPr lang="en-GB" sz="700" u="none" cap="none" strike="noStrike">
                          <a:latin typeface="Helvetica Neue"/>
                          <a:ea typeface="Helvetica Neue"/>
                          <a:cs typeface="Helvetica Neue"/>
                          <a:sym typeface="Helvetica Neue"/>
                        </a:rPr>
                        <a:t>- Booking status </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 </a:t>
                      </a:r>
                      <a:r>
                        <a:rPr lang="en-GB" sz="700" u="none" cap="none" strike="noStrike">
                          <a:latin typeface="Helvetica Neue"/>
                          <a:ea typeface="Helvetica Neue"/>
                          <a:cs typeface="Helvetica Neue"/>
                          <a:sym typeface="Helvetica Neue"/>
                        </a:rPr>
                        <a:t>- Dealer communication issues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1614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Promotion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6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Raya / cash rebate claim delay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Corporate Rebate Eligibility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Proton Xchange / Scrappage Dispute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RM500 Rebate Claim Delay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Promotion / Goodwill Compensation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Rebate Status Delay (Power Exchange / Corporate Membership)</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Government Rebate Eligibility Dispute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7"/>
          <p:cNvSpPr txBox="1"/>
          <p:nvPr/>
        </p:nvSpPr>
        <p:spPr>
          <a:xfrm>
            <a:off x="95075" y="215550"/>
            <a:ext cx="4778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83" name="Google Shape;283;p47"/>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284" name="Google Shape;284;p47"/>
          <p:cNvGraphicFramePr/>
          <p:nvPr/>
        </p:nvGraphicFramePr>
        <p:xfrm>
          <a:off x="144053" y="880890"/>
          <a:ext cx="3000000" cy="3000000"/>
        </p:xfrm>
        <a:graphic>
          <a:graphicData uri="http://schemas.openxmlformats.org/drawingml/2006/table">
            <a:tbl>
              <a:tblPr>
                <a:noFill/>
                <a:tableStyleId>{FA528319-6F98-4B39-B0ED-26271DCD7A62}</a:tableStyleId>
              </a:tblPr>
              <a:tblGrid>
                <a:gridCol w="711325"/>
                <a:gridCol w="459125"/>
                <a:gridCol w="7685425"/>
              </a:tblGrid>
              <a:tr h="12415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Refund</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7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Booking Refund Delay / Cancellation Refund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Booking Fee Refund Request (RM500 / RM99)</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5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Booking Refund Delay / Cancellation Refund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 </a:t>
                      </a: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Booking Refund Delay / Cancellation Refund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highlight>
                            <a:srgbClr val="FFFF00"/>
                          </a:highlight>
                          <a:latin typeface="Helvetica Neue"/>
                          <a:ea typeface="Helvetica Neue"/>
                          <a:cs typeface="Helvetica Neue"/>
                          <a:sym typeface="Helvetica Neue"/>
                        </a:rPr>
                        <a:t> </a:t>
                      </a: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6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Booking Refund Delay / Cancellation Refund</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graphicFrame>
        <p:nvGraphicFramePr>
          <p:cNvPr id="289" name="Google Shape;289;p48"/>
          <p:cNvGraphicFramePr/>
          <p:nvPr/>
        </p:nvGraphicFramePr>
        <p:xfrm>
          <a:off x="140275" y="782195"/>
          <a:ext cx="3000000" cy="3000000"/>
        </p:xfrm>
        <a:graphic>
          <a:graphicData uri="http://schemas.openxmlformats.org/drawingml/2006/table">
            <a:tbl>
              <a:tblPr>
                <a:noFill/>
                <a:tableStyleId>{FA528319-6F98-4B39-B0ED-26271DCD7A62}</a:tableStyleId>
              </a:tblPr>
              <a:tblGrid>
                <a:gridCol w="961425"/>
                <a:gridCol w="505325"/>
                <a:gridCol w="7204800"/>
              </a:tblGrid>
              <a:tr h="20407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4075">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Product: 191</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9D2E9"/>
                    </a:solidFill>
                  </a:tcPr>
                </a:tc>
                <a:tc hMerge="1"/>
                <a:tc hMerge="1"/>
              </a:tr>
              <a:tr h="7639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Infotainment</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143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29 </a:t>
                      </a:r>
                      <a:r>
                        <a:rPr lang="en-GB" sz="700" u="none" cap="none" strike="noStrike">
                          <a:solidFill>
                            <a:schemeClr val="dk1"/>
                          </a:solidFill>
                          <a:latin typeface="Helvetica Neue"/>
                          <a:ea typeface="Helvetica Neue"/>
                          <a:cs typeface="Helvetica Neue"/>
                          <a:sym typeface="Helvetica Neue"/>
                        </a:rPr>
                        <a:t>- 4G / Internet Connection / No Data / Signal / Connectivity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8 </a:t>
                      </a:r>
                      <a:r>
                        <a:rPr lang="en-GB" sz="700" u="none" cap="none" strike="noStrike">
                          <a:solidFill>
                            <a:schemeClr val="dk1"/>
                          </a:solidFill>
                          <a:latin typeface="Helvetica Neue"/>
                          <a:ea typeface="Helvetica Neue"/>
                          <a:cs typeface="Helvetica Neue"/>
                          <a:sym typeface="Helvetica Neue"/>
                        </a:rPr>
                        <a:t>- DHU / Infotainment / Login / Connected Services</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Audio / Display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Software update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47 </a:t>
                      </a:r>
                      <a:r>
                        <a:rPr lang="en-GB" sz="700" u="none" cap="none" strike="noStrike">
                          <a:solidFill>
                            <a:schemeClr val="dk1"/>
                          </a:solidFill>
                          <a:latin typeface="Helvetica Neue"/>
                          <a:ea typeface="Helvetica Neue"/>
                          <a:cs typeface="Helvetica Neue"/>
                          <a:sym typeface="Helvetica Neue"/>
                        </a:rPr>
                        <a:t>- 4G / Internet Connection / No Data / Signal Drop / “Abandon” Status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10 </a:t>
                      </a:r>
                      <a:r>
                        <a:rPr lang="en-GB" sz="700" u="none" cap="none" strike="noStrike">
                          <a:solidFill>
                            <a:schemeClr val="dk1"/>
                          </a:solidFill>
                          <a:latin typeface="Helvetica Neue"/>
                          <a:ea typeface="Helvetica Neue"/>
                          <a:cs typeface="Helvetica Neue"/>
                          <a:sym typeface="Helvetica Neue"/>
                        </a:rPr>
                        <a:t>- App / Connected Services / Login / VIN / QR Code  / Location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7 </a:t>
                      </a:r>
                      <a:r>
                        <a:rPr lang="en-GB" sz="700" u="none" cap="none" strike="noStrike">
                          <a:solidFill>
                            <a:schemeClr val="dk1"/>
                          </a:solidFill>
                          <a:latin typeface="Helvetica Neue"/>
                          <a:ea typeface="Helvetica Neue"/>
                          <a:cs typeface="Helvetica Neue"/>
                          <a:sym typeface="Helvetica Neue"/>
                        </a:rPr>
                        <a:t>- DHU / Infotainment / Screen Blackout / Meter Display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5 </a:t>
                      </a:r>
                      <a:r>
                        <a:rPr lang="en-GB" sz="700" u="none" cap="none" strike="noStrike">
                          <a:solidFill>
                            <a:schemeClr val="dk1"/>
                          </a:solidFill>
                          <a:latin typeface="Helvetica Neue"/>
                          <a:ea typeface="Helvetica Neue"/>
                          <a:cs typeface="Helvetica Neue"/>
                          <a:sym typeface="Helvetica Neue"/>
                        </a:rPr>
                        <a:t>- Software update / OTA Version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Feature / Software / Navigation / Android Auto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 </a:t>
                      </a:r>
                      <a:r>
                        <a:rPr lang="en-GB" sz="700" u="none" cap="none" strike="noStrike">
                          <a:solidFill>
                            <a:schemeClr val="dk1"/>
                          </a:solidFill>
                          <a:latin typeface="Helvetica Neue"/>
                          <a:ea typeface="Helvetica Neue"/>
                          <a:cs typeface="Helvetica Neue"/>
                          <a:sym typeface="Helvetica Neue"/>
                        </a:rPr>
                        <a:t>Vehicle Account Login / VIN &amp; HU ID Mismatch After HDU Replacement</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Tyre pressure warning / Re-calibration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Infotainment / camera delay after software update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9 </a:t>
                      </a:r>
                      <a:r>
                        <a:rPr lang="en-GB" sz="700" u="none" cap="none" strike="noStrike">
                          <a:solidFill>
                            <a:schemeClr val="dk1"/>
                          </a:solidFill>
                          <a:latin typeface="Helvetica Neue"/>
                          <a:ea typeface="Helvetica Neue"/>
                          <a:cs typeface="Helvetica Neue"/>
                          <a:sym typeface="Helvetica Neue"/>
                        </a:rPr>
                        <a:t>- 4G / Internet Connectivity / Network Loss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App / Connected Services / System Sync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Spotify / DHU</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Infotainment / DHU inactive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11 </a:t>
                      </a:r>
                      <a:r>
                        <a:rPr lang="en-GB" sz="700" u="none" cap="none" strike="noStrike">
                          <a:solidFill>
                            <a:schemeClr val="dk1"/>
                          </a:solidFill>
                          <a:latin typeface="Helvetica Neue"/>
                          <a:ea typeface="Helvetica Neue"/>
                          <a:cs typeface="Helvetica Neue"/>
                          <a:sym typeface="Helvetica Neue"/>
                        </a:rPr>
                        <a:t>- 4G / Internet / Network / Data Connectivity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DHU / Screen / Audio / System Blackout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DHU storage low</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639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Telematics</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48</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13 </a:t>
                      </a:r>
                      <a:r>
                        <a:rPr lang="en-GB" sz="700" u="none" cap="none" strike="noStrike">
                          <a:solidFill>
                            <a:schemeClr val="dk1"/>
                          </a:solidFill>
                          <a:latin typeface="Helvetica Neue"/>
                          <a:ea typeface="Helvetica Neue"/>
                          <a:cs typeface="Helvetica Neue"/>
                          <a:sym typeface="Helvetica Neue"/>
                        </a:rPr>
                        <a:t>- App / Connected Services / Vehicle Sync / Data Not Updating / Connectivity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4 </a:t>
                      </a:r>
                      <a:r>
                        <a:rPr lang="en-GB" sz="700" u="none" cap="none" strike="noStrike">
                          <a:solidFill>
                            <a:schemeClr val="dk1"/>
                          </a:solidFill>
                          <a:latin typeface="Helvetica Neue"/>
                          <a:ea typeface="Helvetica Neue"/>
                          <a:cs typeface="Helvetica Neue"/>
                          <a:sym typeface="Helvetica Neue"/>
                        </a:rPr>
                        <a:t>- Unable to Connect / Remote Function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IHU Auto Logout / Login Issue / QR Code Generation</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Connection Timeout / DHU Connectivity Issue</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DHU Auto Shudown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11 </a:t>
                      </a:r>
                      <a:r>
                        <a:rPr lang="en-GB" sz="700" u="none" cap="none" strike="noStrike">
                          <a:solidFill>
                            <a:schemeClr val="dk1"/>
                          </a:solidFill>
                          <a:latin typeface="Helvetica Neue"/>
                          <a:ea typeface="Helvetica Neue"/>
                          <a:cs typeface="Helvetica Neue"/>
                          <a:sym typeface="Helvetica Neue"/>
                        </a:rPr>
                        <a:t>- Vehicle Sync</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9 </a:t>
                      </a:r>
                      <a:r>
                        <a:rPr lang="en-GB" sz="700" u="none" cap="none" strike="noStrike">
                          <a:solidFill>
                            <a:schemeClr val="dk1"/>
                          </a:solidFill>
                          <a:latin typeface="Helvetica Neue"/>
                          <a:ea typeface="Helvetica Neue"/>
                          <a:cs typeface="Helvetica Neue"/>
                          <a:sym typeface="Helvetica Neue"/>
                        </a:rPr>
                        <a:t>- App / Connected Services / Vehicle Sync / Data Not Updating Issue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2 - </a:t>
                      </a:r>
                      <a:r>
                        <a:rPr lang="en-GB" sz="700" u="none" cap="none" strike="noStrike">
                          <a:solidFill>
                            <a:schemeClr val="dk1"/>
                          </a:solidFill>
                          <a:latin typeface="Helvetica Neue"/>
                          <a:ea typeface="Helvetica Neue"/>
                          <a:cs typeface="Helvetica Neue"/>
                          <a:sym typeface="Helvetica Neue"/>
                        </a:rPr>
                        <a:t>Vehicle Linking</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Internet Data Balance</a:t>
                      </a:r>
                      <a:endParaRPr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a:t>
                      </a:r>
                      <a:r>
                        <a:rPr lang="en-GB" sz="700" u="none" cap="none" strike="noStrike">
                          <a:solidFill>
                            <a:schemeClr val="dk1"/>
                          </a:solidFill>
                          <a:latin typeface="Helvetica Neue"/>
                          <a:ea typeface="Helvetica Neue"/>
                          <a:cs typeface="Helvetica Neue"/>
                          <a:sym typeface="Helvetica Neue"/>
                        </a:rPr>
                        <a:t> - App / Connected Services / Sync / Connectivity Issue </a:t>
                      </a:r>
                      <a:endParaRPr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
        <p:nvSpPr>
          <p:cNvPr id="290" name="Google Shape;290;p48"/>
          <p:cNvSpPr txBox="1"/>
          <p:nvPr/>
        </p:nvSpPr>
        <p:spPr>
          <a:xfrm>
            <a:off x="95075" y="215550"/>
            <a:ext cx="7799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91" name="Google Shape;291;p48"/>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graphicFrame>
        <p:nvGraphicFramePr>
          <p:cNvPr id="296" name="Google Shape;296;p49"/>
          <p:cNvGraphicFramePr/>
          <p:nvPr/>
        </p:nvGraphicFramePr>
        <p:xfrm>
          <a:off x="140275" y="874070"/>
          <a:ext cx="3000000" cy="3000000"/>
        </p:xfrm>
        <a:graphic>
          <a:graphicData uri="http://schemas.openxmlformats.org/drawingml/2006/table">
            <a:tbl>
              <a:tblPr>
                <a:noFill/>
                <a:tableStyleId>{FA528319-6F98-4B39-B0ED-26271DCD7A62}</a:tableStyleId>
              </a:tblPr>
              <a:tblGrid>
                <a:gridCol w="961425"/>
                <a:gridCol w="499475"/>
                <a:gridCol w="7210650"/>
              </a:tblGrid>
              <a:tr h="19627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61275">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Apps: 120</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9EAD3"/>
                    </a:solidFill>
                  </a:tcPr>
                </a:tc>
                <a:tc hMerge="1"/>
                <a:tc hMerge="1"/>
              </a:tr>
              <a:tr h="2196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Auto Logout</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App / Auto Logout</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a:t>
                      </a:r>
                      <a:r>
                        <a:rPr lang="en-GB" sz="700" u="none" cap="none" strike="noStrike">
                          <a:latin typeface="Helvetica Neue"/>
                          <a:ea typeface="Helvetica Neue"/>
                          <a:cs typeface="Helvetica Neue"/>
                          <a:sym typeface="Helvetica Neue"/>
                        </a:rPr>
                        <a:t> - App / Auto Logout</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962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No QR Scanner</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73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17 </a:t>
                      </a:r>
                      <a:r>
                        <a:rPr lang="en-GB" sz="700" u="none" cap="none" strike="noStrike">
                          <a:solidFill>
                            <a:schemeClr val="dk1"/>
                          </a:solidFill>
                          <a:latin typeface="Helvetica Neue"/>
                          <a:ea typeface="Helvetica Neue"/>
                          <a:cs typeface="Helvetica Neue"/>
                          <a:sym typeface="Helvetica Neue"/>
                        </a:rPr>
                        <a:t>- No QR scanner / Unable to link app</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27 </a:t>
                      </a:r>
                      <a:r>
                        <a:rPr lang="en-GB" sz="700" u="none" cap="none" strike="noStrike">
                          <a:solidFill>
                            <a:schemeClr val="dk1"/>
                          </a:solidFill>
                          <a:latin typeface="Helvetica Neue"/>
                          <a:ea typeface="Helvetica Neue"/>
                          <a:cs typeface="Helvetica Neue"/>
                          <a:sym typeface="Helvetica Neue"/>
                        </a:rPr>
                        <a:t>- No QR scanner / Unable to link app</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21 </a:t>
                      </a:r>
                      <a:r>
                        <a:rPr lang="en-GB" sz="700" u="none" cap="none" strike="noStrike">
                          <a:solidFill>
                            <a:schemeClr val="dk1"/>
                          </a:solidFill>
                          <a:latin typeface="Helvetica Neue"/>
                          <a:ea typeface="Helvetica Neue"/>
                          <a:cs typeface="Helvetica Neue"/>
                          <a:sym typeface="Helvetica Neue"/>
                        </a:rPr>
                        <a:t>- No QR scanner / Unable to link app</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sz="700" u="none" cap="none" strike="noStrike">
                        <a:solidFill>
                          <a:srgbClr val="FF0000"/>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8 </a:t>
                      </a:r>
                      <a:r>
                        <a:rPr lang="en-GB" sz="700" u="none" cap="none" strike="noStrike">
                          <a:solidFill>
                            <a:schemeClr val="dk1"/>
                          </a:solidFill>
                          <a:latin typeface="Helvetica Neue"/>
                          <a:ea typeface="Helvetica Neue"/>
                          <a:cs typeface="Helvetica Neue"/>
                          <a:sym typeface="Helvetica Neue"/>
                        </a:rPr>
                        <a:t>- No QR scanner </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962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Notification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system warning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Connected service disabled / Vehicle connectivity &amp; charging status issue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sz="700" u="none" cap="none" strike="noStrike">
                        <a:solidFill>
                          <a:srgbClr val="FF0000"/>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TPMS Low Tyre Pressure Warning Issue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
        <p:nvSpPr>
          <p:cNvPr id="297" name="Google Shape;297;p49"/>
          <p:cNvSpPr txBox="1"/>
          <p:nvPr/>
        </p:nvSpPr>
        <p:spPr>
          <a:xfrm>
            <a:off x="95075" y="215550"/>
            <a:ext cx="4848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298" name="Google Shape;298;p49"/>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graphicFrame>
        <p:nvGraphicFramePr>
          <p:cNvPr id="303" name="Google Shape;303;p50"/>
          <p:cNvGraphicFramePr/>
          <p:nvPr/>
        </p:nvGraphicFramePr>
        <p:xfrm>
          <a:off x="208850" y="903220"/>
          <a:ext cx="3000000" cy="3000000"/>
        </p:xfrm>
        <a:graphic>
          <a:graphicData uri="http://schemas.openxmlformats.org/drawingml/2006/table">
            <a:tbl>
              <a:tblPr>
                <a:noFill/>
                <a:tableStyleId>{FA528319-6F98-4B39-B0ED-26271DCD7A62}</a:tableStyleId>
              </a:tblPr>
              <a:tblGrid>
                <a:gridCol w="961425"/>
                <a:gridCol w="499475"/>
                <a:gridCol w="7210650"/>
              </a:tblGrid>
              <a:tr h="2196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Profile</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17</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 </a:t>
                      </a:r>
                      <a:r>
                        <a:rPr lang="en-GB" sz="700" u="none" cap="none" strike="noStrike">
                          <a:latin typeface="Helvetica Neue"/>
                          <a:ea typeface="Helvetica Neue"/>
                          <a:cs typeface="Helvetica Neue"/>
                          <a:sym typeface="Helvetica Neue"/>
                        </a:rPr>
                        <a:t>- Unable to login / registration / account linking issue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OTP not received / OTP limit issue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Unable to login / app access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 </a:t>
                      </a:r>
                      <a:r>
                        <a:rPr lang="en-GB" sz="700" u="none" cap="none" strike="noStrike">
                          <a:latin typeface="Helvetica Neue"/>
                          <a:ea typeface="Helvetica Neue"/>
                          <a:cs typeface="Helvetica Neue"/>
                          <a:sym typeface="Helvetica Neue"/>
                        </a:rPr>
                        <a:t>- OTP not received / OTP limit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Booking details no displayed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Charging status not updated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3 </a:t>
                      </a:r>
                      <a:r>
                        <a:rPr lang="en-GB" sz="700" u="none" cap="none" strike="noStrike">
                          <a:latin typeface="Helvetica Neue"/>
                          <a:ea typeface="Helvetica Neue"/>
                          <a:cs typeface="Helvetica Neue"/>
                          <a:sym typeface="Helvetica Neue"/>
                        </a:rPr>
                        <a:t>- Unable to login / account issue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3 </a:t>
                      </a:r>
                      <a:r>
                        <a:rPr lang="en-GB" sz="700" u="none" cap="none" strike="noStrike">
                          <a:latin typeface="Helvetica Neue"/>
                          <a:ea typeface="Helvetica Neue"/>
                          <a:cs typeface="Helvetica Neue"/>
                          <a:sym typeface="Helvetica Neue"/>
                        </a:rPr>
                        <a:t>- e.MAS App Profile / Personal Information Amendment</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Unauthorized Booking / Data Privacy Concern</a:t>
                      </a:r>
                      <a:endParaRPr b="1"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Unable to login / account issue</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805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Remote Control</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9</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Unable to control vehicle via app / all remote functions timing out </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Unable to control vehicle via app / all functions timing out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Unable to control vehicle via app / all functions timing out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Unable to remote control car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513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Unable to update</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7</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7 </a:t>
                      </a:r>
                      <a:r>
                        <a:rPr lang="en-GB" sz="700" u="none" cap="none" strike="noStrike">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Apps not updating / troubleshooting required </a:t>
                      </a:r>
                      <a:endParaRPr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513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Vehicle Order issue</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Booking details discrepancy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Booking details discrepancy</a:t>
                      </a:r>
                      <a:endParaRPr b="1"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
        <p:nvSpPr>
          <p:cNvPr id="304" name="Google Shape;304;p50"/>
          <p:cNvSpPr txBox="1"/>
          <p:nvPr/>
        </p:nvSpPr>
        <p:spPr>
          <a:xfrm>
            <a:off x="95075" y="215550"/>
            <a:ext cx="5426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305" name="Google Shape;305;p50"/>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graphicFrame>
        <p:nvGraphicFramePr>
          <p:cNvPr id="310" name="Google Shape;310;p51"/>
          <p:cNvGraphicFramePr/>
          <p:nvPr/>
        </p:nvGraphicFramePr>
        <p:xfrm>
          <a:off x="184925" y="963626"/>
          <a:ext cx="3000000" cy="3000000"/>
        </p:xfrm>
        <a:graphic>
          <a:graphicData uri="http://schemas.openxmlformats.org/drawingml/2006/table">
            <a:tbl>
              <a:tblPr>
                <a:noFill/>
                <a:tableStyleId>{FA528319-6F98-4B39-B0ED-26271DCD7A62}</a:tableStyleId>
              </a:tblPr>
              <a:tblGrid>
                <a:gridCol w="961425"/>
                <a:gridCol w="470325"/>
                <a:gridCol w="7239800"/>
              </a:tblGrid>
              <a:tr h="27807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96925">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After Sales: 122</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FE2F3"/>
                    </a:solidFill>
                  </a:tcPr>
                </a:tc>
                <a:tc hMerge="1"/>
                <a:tc hMerge="1"/>
              </a:tr>
              <a:tr h="1142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ADAS</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Auto Emergency Braking System abnormal / AEB warning message detected</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Auto Emergency Braking System abnormal / AEB warning message detected</a:t>
                      </a:r>
                      <a:endParaRPr b="1"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chemeClr val="dk1"/>
                      </a:solidFill>
                      <a:prstDash val="solid"/>
                      <a:round/>
                      <a:headEnd len="sm" w="sm" type="none"/>
                      <a:tailEnd len="sm" w="sm" type="none"/>
                    </a:lnT>
                    <a:lnB cap="flat" cmpd="sng" w="10575">
                      <a:solidFill>
                        <a:srgbClr val="000000"/>
                      </a:solidFill>
                      <a:prstDash val="solid"/>
                      <a:round/>
                      <a:headEnd len="sm" w="sm" type="none"/>
                      <a:tailEnd len="sm" w="sm" type="none"/>
                    </a:lnB>
                  </a:tcPr>
                </a:tc>
              </a:tr>
              <a:tr h="6959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Airbag</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Airbag failure warning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Airbag failure warning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Airbag failure warning</a:t>
                      </a:r>
                      <a:endParaRPr b="1"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930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Air Conditioner</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Air-Conditioning Odour</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Air-Conditioning Vent Defect </a:t>
                      </a:r>
                      <a:endParaRPr b="1"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5978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Body</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22</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Sunroof rattling / leakage / dashboard creaking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Body paint / dashboard cosmetic defect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Undercarriage Cover Detached / Radiator Damage Concern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6 </a:t>
                      </a:r>
                      <a:r>
                        <a:rPr lang="en-GB" sz="700" u="none" cap="none" strike="noStrike">
                          <a:solidFill>
                            <a:schemeClr val="dk1"/>
                          </a:solidFill>
                          <a:latin typeface="Helvetica Neue"/>
                          <a:ea typeface="Helvetica Neue"/>
                          <a:cs typeface="Helvetica Neue"/>
                          <a:sym typeface="Helvetica Neue"/>
                        </a:rPr>
                        <a:t>- Sunroof rattling / water leakage / fender damage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Vehicle alignment + camera system issue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Air-Conditioning Vent Defect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a:t>
                      </a:r>
                      <a:r>
                        <a:rPr lang="en-GB" sz="700" u="none" cap="none" strike="noStrike">
                          <a:solidFill>
                            <a:schemeClr val="dk1"/>
                          </a:solidFill>
                          <a:latin typeface="Helvetica Neue"/>
                          <a:ea typeface="Helvetica Neue"/>
                          <a:cs typeface="Helvetica Neue"/>
                          <a:sym typeface="Helvetica Neue"/>
                        </a:rPr>
                        <a:t> - Wiper Noise Warranty Claim</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Driver Door Rattling Noise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a:t>
                      </a:r>
                      <a:r>
                        <a:rPr lang="en-GB" sz="700" u="none" cap="none" strike="noStrike">
                          <a:solidFill>
                            <a:schemeClr val="dk1"/>
                          </a:solidFill>
                          <a:latin typeface="Helvetica Neue"/>
                          <a:ea typeface="Helvetica Neue"/>
                          <a:cs typeface="Helvetica Neue"/>
                          <a:sym typeface="Helvetica Neue"/>
                        </a:rPr>
                        <a:t> - Tyre Crack / Warranty Replacement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Rear Body Glue Residue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Abnormal Roaring Noise</a:t>
                      </a:r>
                      <a:endParaRPr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chemeClr val="dk1"/>
                      </a:solidFill>
                      <a:prstDash val="solid"/>
                      <a:round/>
                      <a:headEnd len="sm" w="sm" type="none"/>
                      <a:tailEnd len="sm" w="sm" type="none"/>
                    </a:lnB>
                  </a:tcPr>
                </a:tc>
              </a:tr>
            </a:tbl>
          </a:graphicData>
        </a:graphic>
      </p:graphicFrame>
      <p:sp>
        <p:nvSpPr>
          <p:cNvPr id="311" name="Google Shape;311;p51"/>
          <p:cNvSpPr txBox="1"/>
          <p:nvPr/>
        </p:nvSpPr>
        <p:spPr>
          <a:xfrm>
            <a:off x="95075" y="215550"/>
            <a:ext cx="4615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312" name="Google Shape;312;p51"/>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2"/>
          <p:cNvSpPr txBox="1"/>
          <p:nvPr/>
        </p:nvSpPr>
        <p:spPr>
          <a:xfrm>
            <a:off x="95075" y="215550"/>
            <a:ext cx="4842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318" name="Google Shape;318;p52"/>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319" name="Google Shape;319;p52"/>
          <p:cNvGraphicFramePr/>
          <p:nvPr/>
        </p:nvGraphicFramePr>
        <p:xfrm>
          <a:off x="184925" y="753676"/>
          <a:ext cx="3000000" cy="3000000"/>
        </p:xfrm>
        <a:graphic>
          <a:graphicData uri="http://schemas.openxmlformats.org/drawingml/2006/table">
            <a:tbl>
              <a:tblPr>
                <a:noFill/>
                <a:tableStyleId>{FA528319-6F98-4B39-B0ED-26271DCD7A62}</a:tableStyleId>
              </a:tblPr>
              <a:tblGrid>
                <a:gridCol w="961425"/>
                <a:gridCol w="470325"/>
                <a:gridCol w="7239800"/>
              </a:tblGrid>
              <a:tr h="27807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9519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Electrical</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9</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Electrical system / failure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a:t>
                      </a:r>
                      <a:r>
                        <a:rPr lang="en-GB" sz="700" u="none" cap="none" strike="noStrike">
                          <a:solidFill>
                            <a:srgbClr val="FF0000"/>
                          </a:solidFill>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Driver seat adjustment malfunction</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speaker no sound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Electrical system auto activation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a:t>
                      </a:r>
                      <a:r>
                        <a:rPr lang="en-GB" sz="700" u="none" cap="none" strike="noStrike">
                          <a:solidFill>
                            <a:srgbClr val="FF0000"/>
                          </a:solidFill>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Driver seat adjustment malfunction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Battery drain / low battery health / unlock &amp; lighting inconsistency issue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Parking sensor malfunction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headlamp auto turn on and off</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chemeClr val="dk1"/>
                      </a:solidFill>
                      <a:prstDash val="solid"/>
                      <a:round/>
                      <a:headEnd len="sm" w="sm" type="none"/>
                      <a:tailEnd len="sm" w="sm" type="none"/>
                    </a:lnB>
                  </a:tcPr>
                </a:tc>
              </a:tr>
              <a:tr h="19299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Features</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18</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Vehicle Door Lock/Unlock Malfunction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Sudden Warning Alarm from Vehicle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3 </a:t>
                      </a:r>
                      <a:r>
                        <a:rPr lang="en-GB" sz="700" u="none" cap="none" strike="noStrike">
                          <a:solidFill>
                            <a:schemeClr val="dk1"/>
                          </a:solidFill>
                          <a:latin typeface="Helvetica Neue"/>
                          <a:ea typeface="Helvetica Neue"/>
                          <a:cs typeface="Helvetica Neue"/>
                          <a:sym typeface="Helvetica Neue"/>
                        </a:rPr>
                        <a:t>- DHU Display Failure / Bluetooth Connection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TPMS / Tyre Pressure Warning Issue </a:t>
                      </a:r>
                      <a:br>
                        <a:rPr lang="en-GB" sz="700" u="none" cap="none" strike="noStrike">
                          <a:solidFill>
                            <a:schemeClr val="dk1"/>
                          </a:solidFill>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2 </a:t>
                      </a:r>
                      <a:r>
                        <a:rPr lang="en-GB" sz="700" u="none" cap="none" strike="noStrike">
                          <a:solidFill>
                            <a:schemeClr val="dk1"/>
                          </a:solidFill>
                          <a:latin typeface="Helvetica Neue"/>
                          <a:ea typeface="Helvetica Neue"/>
                          <a:cs typeface="Helvetica Neue"/>
                          <a:sym typeface="Helvetica Neue"/>
                        </a:rPr>
                        <a:t>- Driver seat automatic adjustment issue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Auto emergency braking system warning alert</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Electrical brake system warning notification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High Voltage Battery System Warning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a:t>
                      </a:r>
                      <a:r>
                        <a:rPr lang="en-GB" sz="700" u="none" cap="none" strike="noStrike">
                          <a:solidFill>
                            <a:schemeClr val="dk1"/>
                          </a:solidFill>
                          <a:latin typeface="Helvetica Neue"/>
                          <a:ea typeface="Helvetica Neue"/>
                          <a:cs typeface="Helvetica Neue"/>
                          <a:sym typeface="Helvetica Neue"/>
                        </a:rPr>
                        <a:t> - Front Cross Traffic Alert Malfunction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a:t>
                      </a:r>
                      <a:r>
                        <a:rPr lang="en-GB" sz="700" u="none" cap="none" strike="noStrike">
                          <a:solidFill>
                            <a:schemeClr val="dk1"/>
                          </a:solidFill>
                          <a:latin typeface="Helvetica Neue"/>
                          <a:ea typeface="Helvetica Neue"/>
                          <a:cs typeface="Helvetica Neue"/>
                          <a:sym typeface="Helvetica Neue"/>
                        </a:rPr>
                        <a:t> - Meter Cluster Turn Signal Indicator Issue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a:t>
                      </a:r>
                      <a:r>
                        <a:rPr lang="en-GB" sz="700" u="none" cap="none" strike="noStrike">
                          <a:solidFill>
                            <a:schemeClr val="dk1"/>
                          </a:solidFill>
                          <a:latin typeface="Helvetica Neue"/>
                          <a:ea typeface="Helvetica Neue"/>
                          <a:cs typeface="Helvetica Neue"/>
                          <a:sym typeface="Helvetica Neue"/>
                        </a:rPr>
                        <a:t> - Unexpected Camping Mode Activation</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Drive Mode Sound Issue After Software Update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a:t>
                      </a:r>
                      <a:r>
                        <a:rPr lang="en-GB" sz="700" u="none" cap="none" strike="noStrike">
                          <a:solidFill>
                            <a:schemeClr val="dk1"/>
                          </a:solidFill>
                          <a:latin typeface="Helvetica Neue"/>
                          <a:ea typeface="Helvetica Neue"/>
                          <a:cs typeface="Helvetica Neue"/>
                          <a:sym typeface="Helvetica Neue"/>
                        </a:rPr>
                        <a:t> - Dashcam Error Warning</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Headlamp Auto Activation After Software Update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3"/>
          <p:cNvSpPr txBox="1"/>
          <p:nvPr/>
        </p:nvSpPr>
        <p:spPr>
          <a:xfrm>
            <a:off x="95075" y="215550"/>
            <a:ext cx="4912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325" name="Google Shape;325;p53"/>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326" name="Google Shape;326;p53"/>
          <p:cNvGraphicFramePr/>
          <p:nvPr/>
        </p:nvGraphicFramePr>
        <p:xfrm>
          <a:off x="177925" y="881976"/>
          <a:ext cx="3000000" cy="3000000"/>
        </p:xfrm>
        <a:graphic>
          <a:graphicData uri="http://schemas.openxmlformats.org/drawingml/2006/table">
            <a:tbl>
              <a:tblPr>
                <a:noFill/>
                <a:tableStyleId>{FA528319-6F98-4B39-B0ED-26271DCD7A62}</a:tableStyleId>
              </a:tblPr>
              <a:tblGrid>
                <a:gridCol w="961425"/>
                <a:gridCol w="412000"/>
                <a:gridCol w="7368100"/>
              </a:tblGrid>
              <a:tr h="221250">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Service Operation</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en-GB" sz="800" u="none" cap="none" strike="noStrike">
                          <a:latin typeface="Helvetica Neue"/>
                          <a:ea typeface="Helvetica Neue"/>
                          <a:cs typeface="Helvetica Neue"/>
                          <a:sym typeface="Helvetica Neue"/>
                        </a:rPr>
                        <a:t>41</a:t>
                      </a:r>
                      <a:endParaRPr sz="8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5</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5 </a:t>
                      </a:r>
                      <a:r>
                        <a:rPr lang="en-GB" sz="800" u="none" cap="none" strike="noStrike">
                          <a:latin typeface="Helvetica Neue"/>
                          <a:ea typeface="Helvetica Neue"/>
                          <a:cs typeface="Helvetica Neue"/>
                          <a:sym typeface="Helvetica Neue"/>
                        </a:rPr>
                        <a:t>- Unable to book service appointment / appointment system error</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2 </a:t>
                      </a:r>
                      <a:r>
                        <a:rPr lang="en-GB" sz="800" u="none" cap="none" strike="noStrike">
                          <a:latin typeface="Helvetica Neue"/>
                          <a:ea typeface="Helvetica Neue"/>
                          <a:cs typeface="Helvetica Neue"/>
                          <a:sym typeface="Helvetica Neue"/>
                        </a:rPr>
                        <a:t>- Radiator issue (stone impact damage, repair delay, warranty dispute)</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Service pricing discrepancy / overcharging concern</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Wrong service interval information provided by Sales Advisor</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Accident repair / insurance claim delay</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7</a:t>
                      </a:r>
                      <a:endParaRPr b="1" sz="8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20 </a:t>
                      </a:r>
                      <a:r>
                        <a:rPr lang="en-GB" sz="800" u="none" cap="none" strike="noStrike">
                          <a:latin typeface="Helvetica Neue"/>
                          <a:ea typeface="Helvetica Neue"/>
                          <a:cs typeface="Helvetica Neue"/>
                          <a:sym typeface="Helvetica Neue"/>
                        </a:rPr>
                        <a:t>- Unable to book service appointment / appointment system error (including app booking failure, ongoing appointment not updated, cancelled appointments)</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Service maintenance reminder not updated / wheel alignment dissatisfaction</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Service centre delay in software part replacement / poor dealer communication</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New vehicle quality issues and dealer handling complaint (steering alignment, suspension, dent, trim fitting)</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Accident investigation follow-up (unintended acceleration, brake and airbag concerns)</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Courtesy vehicle / rental reimbursement request during repair</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Vehicle repair status / parts arrival update</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New vehicle defects (rear lamp crack, loose rear A/C vent)</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Accident shortly after delivery (information sharing, no vehicle quality concern)</a:t>
                      </a:r>
                      <a:endParaRPr sz="8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solidFill>
                            <a:schemeClr val="dk1"/>
                          </a:solidFill>
                          <a:highlight>
                            <a:srgbClr val="FFFF00"/>
                          </a:highlight>
                          <a:latin typeface="Helvetica Neue"/>
                          <a:ea typeface="Helvetica Neue"/>
                          <a:cs typeface="Helvetica Neue"/>
                          <a:sym typeface="Helvetica Neue"/>
                        </a:rPr>
                        <a:t>e.MAS 7 PHEV</a:t>
                      </a:r>
                      <a:endParaRPr sz="800" u="none" cap="none" strike="noStrike">
                        <a:solidFill>
                          <a:srgbClr val="FF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Incorrect service appointment displayed in app</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Service centre incident / vehicle damaged during servicing</a:t>
                      </a:r>
                      <a:endParaRPr sz="8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Arial"/>
                        <a:buNone/>
                      </a:pPr>
                      <a:r>
                        <a:rPr b="1" lang="en-GB" sz="800" u="none" cap="none" strike="noStrike">
                          <a:latin typeface="Helvetica Neue"/>
                          <a:ea typeface="Helvetica Neue"/>
                          <a:cs typeface="Helvetica Neue"/>
                          <a:sym typeface="Helvetica Neue"/>
                        </a:rPr>
                        <a:t>1 </a:t>
                      </a:r>
                      <a:r>
                        <a:rPr lang="en-GB" sz="800" u="none" cap="none" strike="noStrike">
                          <a:latin typeface="Helvetica Neue"/>
                          <a:ea typeface="Helvetica Neue"/>
                          <a:cs typeface="Helvetica Neue"/>
                          <a:sym typeface="Helvetica Neue"/>
                        </a:rPr>
                        <a:t>- Service centre handling complaint (door scratch, referred between Service Centre and Body &amp; Paint)</a:t>
                      </a:r>
                      <a:endParaRPr sz="8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4"/>
          <p:cNvSpPr txBox="1"/>
          <p:nvPr/>
        </p:nvSpPr>
        <p:spPr>
          <a:xfrm>
            <a:off x="95075" y="215550"/>
            <a:ext cx="4527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Complaint Analysis for June 2026</a:t>
            </a:r>
            <a:endParaRPr b="1" i="0" sz="1800" u="none" cap="none" strike="noStrike">
              <a:solidFill>
                <a:schemeClr val="dk1"/>
              </a:solidFill>
              <a:latin typeface="Helvetica Neue"/>
              <a:ea typeface="Helvetica Neue"/>
              <a:cs typeface="Helvetica Neue"/>
              <a:sym typeface="Helvetica Neue"/>
            </a:endParaRPr>
          </a:p>
        </p:txBody>
      </p:sp>
      <p:cxnSp>
        <p:nvCxnSpPr>
          <p:cNvPr id="332" name="Google Shape;332;p54"/>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333" name="Google Shape;333;p54"/>
          <p:cNvGraphicFramePr/>
          <p:nvPr/>
        </p:nvGraphicFramePr>
        <p:xfrm>
          <a:off x="208850" y="841151"/>
          <a:ext cx="3000000" cy="3000000"/>
        </p:xfrm>
        <a:graphic>
          <a:graphicData uri="http://schemas.openxmlformats.org/drawingml/2006/table">
            <a:tbl>
              <a:tblPr>
                <a:noFill/>
                <a:tableStyleId>{FA528319-6F98-4B39-B0ED-26271DCD7A62}</a:tableStyleId>
              </a:tblPr>
              <a:tblGrid>
                <a:gridCol w="961425"/>
                <a:gridCol w="406175"/>
                <a:gridCol w="7303950"/>
              </a:tblGrid>
              <a:tr h="2212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Spare Part</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6</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1 - Vehicle key detection error (troubleshooting pending customer verification)</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3 - Spare part delay / replacement status not updated (windshield, bumper, clock spring)</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1 - Accident repair delay due to multiple outstanding spare parts / prolonged repair after collision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1 - Spare part delivery delay for insurance repair (parts not received after insurance approval)</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814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Steering</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br>
                        <a:rPr b="1" lang="en-GB" sz="700" u="none" cap="none" strike="noStrike">
                          <a:solidFill>
                            <a:schemeClr val="dk1"/>
                          </a:solidFill>
                          <a:highlight>
                            <a:srgbClr val="FFFF00"/>
                          </a:highlight>
                          <a:latin typeface="Helvetica Neue"/>
                          <a:ea typeface="Helvetica Neue"/>
                          <a:cs typeface="Helvetica Neue"/>
                          <a:sym typeface="Helvetica Neue"/>
                        </a:rPr>
                      </a:b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Multiple vehicle quality issues (rattling/abnormal noise) and connectivity performance issue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[Rattling noise from door trims, steering shroud, steering column, B/C-pillars, and tailgate]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4043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Suspension</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Loud fan noise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 </a:t>
                      </a:r>
                      <a:r>
                        <a:rPr lang="en-GB" sz="700" u="none" cap="none" strike="noStrike">
                          <a:latin typeface="Helvetica Neue"/>
                          <a:ea typeface="Helvetica Neue"/>
                          <a:cs typeface="Helvetica Neue"/>
                          <a:sym typeface="Helvetica Neue"/>
                        </a:rPr>
                        <a:t>- Suspension / ride comfort issue (excessive bouncing, unstable ride quality)</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7832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Technical</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10</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Recurring AC/DC charging failure and vehicle account login/logout issue</a:t>
                      </a:r>
                      <a:r>
                        <a:rPr b="1" lang="en-GB" sz="700" u="none" cap="none" strike="noStrike">
                          <a:solidFill>
                            <a:schemeClr val="dk1"/>
                          </a:solidFill>
                          <a:latin typeface="Helvetica Neue"/>
                          <a:ea typeface="Helvetica Neue"/>
                          <a:cs typeface="Helvetica Neue"/>
                          <a:sym typeface="Helvetica Neue"/>
                        </a:rPr>
                        <a:t> </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br>
                        <a:rPr b="1" lang="en-GB" sz="700" u="none" cap="none" strike="noStrike">
                          <a:solidFill>
                            <a:schemeClr val="dk1"/>
                          </a:solidFill>
                          <a:highlight>
                            <a:srgbClr val="FFFF00"/>
                          </a:highlight>
                          <a:latin typeface="Helvetica Neue"/>
                          <a:ea typeface="Helvetica Neue"/>
                          <a:cs typeface="Helvetica Neue"/>
                          <a:sym typeface="Helvetica Neue"/>
                        </a:rPr>
                      </a:b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Multiple vehicle quality issues reported after new vehicle delivery (noise, USB charging, reverse camera, interior/exterior defects, requested vehicle exchange)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High voltage warning / abnormal vehicle noise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Radio no sound issue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- 360° camera malfunction</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Vehicle shuts down after start-up</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Repeated vehicle breakdown / charging failure and wireless charger issue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Tyre stability issue while driving</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PHEV</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Engine oil health reading abnormal (low mileage)</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Suspected engine oil leak / engine compartment contamination on new vehicle delivery</a:t>
                      </a:r>
                      <a:endParaRPr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6551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Warranty</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5</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a:t>
                      </a:r>
                      <a:r>
                        <a:rPr lang="en-GB" sz="700" u="none" cap="none" strike="noStrike">
                          <a:solidFill>
                            <a:schemeClr val="dk1"/>
                          </a:solidFill>
                          <a:latin typeface="Helvetica Neue"/>
                          <a:ea typeface="Helvetica Neue"/>
                          <a:cs typeface="Helvetica Neue"/>
                          <a:sym typeface="Helvetica Neue"/>
                        </a:rPr>
                        <a:t>- Warranty replacement parts delay</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Driver seat cover torn</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2 </a:t>
                      </a:r>
                      <a:r>
                        <a:rPr lang="en-GB" sz="700" u="none" cap="none" strike="noStrike">
                          <a:latin typeface="Helvetica Neue"/>
                          <a:ea typeface="Helvetica Neue"/>
                          <a:cs typeface="Helvetica Neue"/>
                          <a:sym typeface="Helvetica Neue"/>
                        </a:rPr>
                        <a:t>- Radiator leak warranty dispute (stone impact damage / reimbursement request)</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a:t>
                      </a:r>
                      <a:r>
                        <a:rPr lang="en-GB" sz="700" u="none" cap="none" strike="noStrike">
                          <a:latin typeface="Helvetica Neue"/>
                          <a:ea typeface="Helvetica Neue"/>
                          <a:cs typeface="Helvetica Neue"/>
                          <a:sym typeface="Helvetica Neue"/>
                        </a:rPr>
                        <a:t>- Vehicle delivery defects (cracked glass near DHU and missing carpet)</a:t>
                      </a:r>
                      <a:endParaRPr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chemeClr val="dk1"/>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5"/>
          <p:cNvSpPr txBox="1"/>
          <p:nvPr/>
        </p:nvSpPr>
        <p:spPr>
          <a:xfrm>
            <a:off x="108575" y="215550"/>
            <a:ext cx="4571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Feedback Trend – June 2026</a:t>
            </a:r>
            <a:endParaRPr b="1" i="0" sz="1800" u="none" cap="none" strike="noStrike">
              <a:solidFill>
                <a:schemeClr val="dk1"/>
              </a:solidFill>
              <a:latin typeface="Helvetica Neue"/>
              <a:ea typeface="Helvetica Neue"/>
              <a:cs typeface="Helvetica Neue"/>
              <a:sym typeface="Helvetica Neue"/>
            </a:endParaRPr>
          </a:p>
        </p:txBody>
      </p:sp>
      <p:sp>
        <p:nvSpPr>
          <p:cNvPr id="339" name="Google Shape;339;p55"/>
          <p:cNvSpPr txBox="1"/>
          <p:nvPr/>
        </p:nvSpPr>
        <p:spPr>
          <a:xfrm>
            <a:off x="4823850" y="1286325"/>
            <a:ext cx="4224600" cy="314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00"/>
              <a:buFont typeface="Arial"/>
              <a:buNone/>
            </a:pPr>
            <a:r>
              <a:rPr b="1" i="0" lang="en-GB" sz="900" u="none" cap="none" strike="noStrike">
                <a:solidFill>
                  <a:schemeClr val="dk1"/>
                </a:solidFill>
                <a:latin typeface="Helvetica Neue"/>
                <a:ea typeface="Helvetica Neue"/>
                <a:cs typeface="Helvetica Neue"/>
                <a:sym typeface="Helvetica Neue"/>
              </a:rPr>
              <a:t>Proton Compliment &amp; Feedback Case Trends for June 2026:</a:t>
            </a:r>
            <a:endParaRPr b="1" i="0" sz="900" u="none" cap="none" strike="noStrike">
              <a:solidFill>
                <a:schemeClr val="dk1"/>
              </a:solidFill>
              <a:latin typeface="Helvetica Neue"/>
              <a:ea typeface="Helvetica Neue"/>
              <a:cs typeface="Helvetica Neue"/>
              <a:sym typeface="Helvetica Neue"/>
            </a:endParaRPr>
          </a:p>
          <a:p>
            <a:pPr indent="-285750" lvl="0" marL="457200" marR="0" rtl="0" algn="l">
              <a:lnSpc>
                <a:spcPct val="100000"/>
              </a:lnSpc>
              <a:spcBef>
                <a:spcPts val="1200"/>
              </a:spcBef>
              <a:spcAft>
                <a:spcPts val="0"/>
              </a:spcAft>
              <a:buClr>
                <a:schemeClr val="dk1"/>
              </a:buClr>
              <a:buSzPts val="900"/>
              <a:buFont typeface="Helvetica Neue"/>
              <a:buChar char="●"/>
            </a:pPr>
            <a:r>
              <a:rPr b="1" i="0" lang="en-GB" sz="900" u="none" cap="none" strike="noStrike">
                <a:solidFill>
                  <a:schemeClr val="dk1"/>
                </a:solidFill>
                <a:latin typeface="Helvetica Neue"/>
                <a:ea typeface="Helvetica Neue"/>
                <a:cs typeface="Helvetica Neue"/>
                <a:sym typeface="Helvetica Neue"/>
              </a:rPr>
              <a:t>Total Feedback: 17</a:t>
            </a:r>
            <a:endParaRPr b="0" i="0" sz="900" u="none" cap="none" strike="noStrike">
              <a:solidFill>
                <a:schemeClr val="dk1"/>
              </a:solidFill>
              <a:latin typeface="Helvetica Neue"/>
              <a:ea typeface="Helvetica Neue"/>
              <a:cs typeface="Helvetica Neue"/>
              <a:sym typeface="Helvetica Neue"/>
            </a:endParaRPr>
          </a:p>
          <a:p>
            <a:pPr indent="0" lvl="0" marL="457200" marR="0" rtl="0" algn="l">
              <a:lnSpc>
                <a:spcPct val="100000"/>
              </a:lnSpc>
              <a:spcBef>
                <a:spcPts val="120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Sales 		: 7  </a:t>
            </a:r>
            <a:r>
              <a:rPr b="0" i="1" lang="en-GB" sz="800" u="none" cap="none" strike="noStrike">
                <a:solidFill>
                  <a:srgbClr val="000000"/>
                </a:solidFill>
                <a:highlight>
                  <a:srgbClr val="FFFF00"/>
                </a:highlight>
                <a:latin typeface="Helvetica Neue"/>
                <a:ea typeface="Helvetica Neue"/>
                <a:cs typeface="Helvetica Neue"/>
                <a:sym typeface="Helvetica Neue"/>
              </a:rPr>
              <a:t>e.MAS 5 : 2 , e.MAS 7 : 3</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After-Sales 	: 1  </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Apps	              : 2  </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Product		: 3  </a:t>
            </a:r>
            <a:r>
              <a:rPr b="0" i="1" lang="en-GB" sz="800" u="none" cap="none" strike="noStrike">
                <a:solidFill>
                  <a:srgbClr val="000000"/>
                </a:solidFill>
                <a:highlight>
                  <a:srgbClr val="FFFF00"/>
                </a:highlight>
                <a:latin typeface="Helvetica Neue"/>
                <a:ea typeface="Helvetica Neue"/>
                <a:cs typeface="Helvetica Neue"/>
                <a:sym typeface="Helvetica Neue"/>
              </a:rPr>
              <a:t>e.MAS 7 : 2</a:t>
            </a:r>
            <a:endParaRPr b="0" i="0" sz="9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Charging	: 3  </a:t>
            </a:r>
            <a:r>
              <a:rPr b="0" i="1" lang="en-GB" sz="800" u="none" cap="none" strike="noStrike">
                <a:solidFill>
                  <a:srgbClr val="000000"/>
                </a:solidFill>
                <a:highlight>
                  <a:srgbClr val="FFFF00"/>
                </a:highlight>
                <a:latin typeface="Helvetica Neue"/>
                <a:ea typeface="Helvetica Neue"/>
                <a:cs typeface="Helvetica Neue"/>
                <a:sym typeface="Helvetica Neue"/>
              </a:rPr>
              <a:t>e.MAS 5 : 1 , e.MAS 7 : 1</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rPr b="0" i="0" lang="en-GB" sz="900" u="none" cap="none" strike="noStrike">
                <a:solidFill>
                  <a:schemeClr val="dk1"/>
                </a:solidFill>
                <a:latin typeface="Arial"/>
                <a:ea typeface="Arial"/>
                <a:cs typeface="Arial"/>
                <a:sym typeface="Arial"/>
              </a:rPr>
              <a:t>Others		: 1  </a:t>
            </a:r>
            <a:r>
              <a:rPr b="0" i="1" lang="en-GB" sz="800" u="none" cap="none" strike="noStrike">
                <a:solidFill>
                  <a:srgbClr val="000000"/>
                </a:solidFill>
                <a:highlight>
                  <a:srgbClr val="FFFF00"/>
                </a:highlight>
                <a:latin typeface="Helvetica Neue"/>
                <a:ea typeface="Helvetica Neue"/>
                <a:cs typeface="Helvetica Neue"/>
                <a:sym typeface="Helvetica Neue"/>
              </a:rPr>
              <a:t>e.MAS 7 : 1</a:t>
            </a:r>
            <a:endParaRPr b="0" i="1" sz="800" u="none" cap="none" strike="noStrike">
              <a:solidFill>
                <a:srgbClr val="000000"/>
              </a:solidFill>
              <a:highlight>
                <a:srgbClr val="FFFF00"/>
              </a:highlight>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900"/>
              <a:buFont typeface="Arial"/>
              <a:buNone/>
            </a:pPr>
            <a:r>
              <a:rPr b="1" i="0" lang="en-GB" sz="900" u="none" cap="none" strike="noStrike">
                <a:solidFill>
                  <a:schemeClr val="dk1"/>
                </a:solidFill>
                <a:latin typeface="Helvetica Neue"/>
                <a:ea typeface="Helvetica Neue"/>
                <a:cs typeface="Helvetica Neue"/>
                <a:sym typeface="Helvetica Neue"/>
              </a:rPr>
              <a:t>Summary: </a:t>
            </a:r>
            <a:endParaRPr b="1" i="0" sz="900" u="none" cap="none" strike="noStrike">
              <a:solidFill>
                <a:schemeClr val="dk1"/>
              </a:solidFill>
              <a:latin typeface="Helvetica Neue"/>
              <a:ea typeface="Helvetica Neue"/>
              <a:cs typeface="Helvetica Neue"/>
              <a:sym typeface="Helvetica Neue"/>
            </a:endParaRPr>
          </a:p>
          <a:p>
            <a:pPr indent="-285750" lvl="0" marL="457200" marR="0" rtl="0" algn="l">
              <a:lnSpc>
                <a:spcPct val="115000"/>
              </a:lnSpc>
              <a:spcBef>
                <a:spcPts val="1200"/>
              </a:spcBef>
              <a:spcAft>
                <a:spcPts val="0"/>
              </a:spcAft>
              <a:buClr>
                <a:schemeClr val="dk1"/>
              </a:buClr>
              <a:buSzPts val="900"/>
              <a:buFont typeface="Helvetica Neue Light"/>
              <a:buChar char="●"/>
            </a:pPr>
            <a:r>
              <a:rPr b="0" i="0" lang="en-GB" sz="900" u="none" cap="none" strike="noStrike">
                <a:solidFill>
                  <a:schemeClr val="dk1"/>
                </a:solidFill>
                <a:latin typeface="Helvetica Neue"/>
                <a:ea typeface="Helvetica Neue"/>
                <a:cs typeface="Helvetica Neue"/>
                <a:sym typeface="Helvetica Neue"/>
              </a:rPr>
              <a:t>In June, feedback for </a:t>
            </a:r>
            <a:r>
              <a:rPr b="1" i="0" lang="en-GB" sz="900" u="none" cap="none" strike="noStrike">
                <a:solidFill>
                  <a:schemeClr val="dk1"/>
                </a:solidFill>
                <a:latin typeface="Helvetica Neue"/>
                <a:ea typeface="Helvetica Neue"/>
                <a:cs typeface="Helvetica Neue"/>
                <a:sym typeface="Helvetica Neue"/>
              </a:rPr>
              <a:t>Sales </a:t>
            </a:r>
            <a:r>
              <a:rPr b="0" i="0" lang="en-GB" sz="900" u="none" cap="none" strike="noStrike">
                <a:solidFill>
                  <a:schemeClr val="dk1"/>
                </a:solidFill>
                <a:latin typeface="Helvetica Neue"/>
                <a:ea typeface="Helvetica Neue"/>
                <a:cs typeface="Helvetica Neue"/>
                <a:sym typeface="Helvetica Neue"/>
              </a:rPr>
              <a:t>showed constant trend.</a:t>
            </a:r>
            <a:endParaRPr b="0" i="0" sz="900" u="none" cap="none" strike="noStrike">
              <a:solidFill>
                <a:schemeClr val="dk1"/>
              </a:solidFill>
              <a:latin typeface="Helvetica Neue"/>
              <a:ea typeface="Helvetica Neue"/>
              <a:cs typeface="Helvetica Neue"/>
              <a:sym typeface="Helvetica Neue"/>
            </a:endParaRPr>
          </a:p>
          <a:p>
            <a:pPr indent="0" lvl="0" marL="0" marR="0" rtl="0" algn="l">
              <a:lnSpc>
                <a:spcPct val="115000"/>
              </a:lnSpc>
              <a:spcBef>
                <a:spcPts val="1200"/>
              </a:spcBef>
              <a:spcAft>
                <a:spcPts val="0"/>
              </a:spcAft>
              <a:buClr>
                <a:srgbClr val="000000"/>
              </a:buClr>
              <a:buSzPts val="900"/>
              <a:buFont typeface="Arial"/>
              <a:buNone/>
            </a:pPr>
            <a:r>
              <a:t/>
            </a:r>
            <a:endParaRPr b="0" i="0" sz="900" u="none" cap="none" strike="noStrike">
              <a:solidFill>
                <a:schemeClr val="dk1"/>
              </a:solidFill>
              <a:latin typeface="Helvetica Neue Light"/>
              <a:ea typeface="Helvetica Neue Light"/>
              <a:cs typeface="Helvetica Neue Light"/>
              <a:sym typeface="Helvetica Neue Light"/>
            </a:endParaRPr>
          </a:p>
        </p:txBody>
      </p:sp>
      <p:cxnSp>
        <p:nvCxnSpPr>
          <p:cNvPr id="340" name="Google Shape;340;p55"/>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pic>
        <p:nvPicPr>
          <p:cNvPr id="341" name="Google Shape;341;p55" title="Chart"/>
          <p:cNvPicPr preferRelativeResize="0"/>
          <p:nvPr/>
        </p:nvPicPr>
        <p:blipFill rotWithShape="1">
          <a:blip r:embed="rId3">
            <a:alphaModFix/>
          </a:blip>
          <a:srcRect b="0" l="0" r="0" t="0"/>
          <a:stretch/>
        </p:blipFill>
        <p:spPr>
          <a:xfrm>
            <a:off x="108575" y="1286325"/>
            <a:ext cx="4571526" cy="266904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6"/>
          <p:cNvSpPr txBox="1"/>
          <p:nvPr/>
        </p:nvSpPr>
        <p:spPr>
          <a:xfrm>
            <a:off x="95075" y="215550"/>
            <a:ext cx="6019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Compliment / Feedback Analysis for June 2026</a:t>
            </a:r>
            <a:endParaRPr b="1" i="0" sz="1800" u="none" cap="none" strike="noStrike">
              <a:solidFill>
                <a:schemeClr val="dk1"/>
              </a:solidFill>
              <a:latin typeface="Helvetica Neue"/>
              <a:ea typeface="Helvetica Neue"/>
              <a:cs typeface="Helvetica Neue"/>
              <a:sym typeface="Helvetica Neue"/>
            </a:endParaRPr>
          </a:p>
        </p:txBody>
      </p:sp>
      <p:graphicFrame>
        <p:nvGraphicFramePr>
          <p:cNvPr id="347" name="Google Shape;347;p56"/>
          <p:cNvGraphicFramePr/>
          <p:nvPr/>
        </p:nvGraphicFramePr>
        <p:xfrm>
          <a:off x="108575" y="775033"/>
          <a:ext cx="3000000" cy="3000000"/>
        </p:xfrm>
        <a:graphic>
          <a:graphicData uri="http://schemas.openxmlformats.org/drawingml/2006/table">
            <a:tbl>
              <a:tblPr>
                <a:noFill/>
                <a:tableStyleId>{FA528319-6F98-4B39-B0ED-26271DCD7A62}</a:tableStyleId>
              </a:tblPr>
              <a:tblGrid>
                <a:gridCol w="857400"/>
                <a:gridCol w="552225"/>
                <a:gridCol w="7363175"/>
              </a:tblGrid>
              <a:tr h="100000">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Category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 Case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Remarks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10000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Product: 3</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9D2E9"/>
                    </a:solidFill>
                  </a:tcPr>
                </a:tc>
                <a:tc hMerge="1"/>
                <a:tc hMerge="1"/>
              </a:tr>
              <a:tr h="33757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Features</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3</a:t>
                      </a:r>
                      <a:endParaRPr sz="7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To display gear position on e.MAS 7 PHEV HUD via OTA</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To add occupant sensors for all vehicle seats</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Android auto stability &amp; lane keep assist default settings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chemeClr val="lt1"/>
                    </a:solidFill>
                  </a:tcPr>
                </a:tc>
              </a:tr>
              <a:tr h="10000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Apps: 2</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9EAD3"/>
                    </a:solidFill>
                  </a:tcPr>
                </a:tc>
                <a:tc hMerge="1"/>
                <a:tc hMerge="1"/>
              </a:tr>
              <a:tr h="3226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Content</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Feedback on Proton e.MAS community group moderation</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Suggestions for Proton e.MAS app enhancement for charging</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10000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Sales: 7</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DCDC3"/>
                    </a:solidFill>
                  </a:tcPr>
                </a:tc>
                <a:tc hMerge="1"/>
                <a:tc hMerge="1"/>
              </a:tr>
              <a:tr h="1185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Staff</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Compliment on sales advisor service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4235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Others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6</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2 - </a:t>
                      </a:r>
                      <a:r>
                        <a:rPr lang="en-GB" sz="700" u="none" cap="none" strike="noStrike">
                          <a:solidFill>
                            <a:schemeClr val="dk1"/>
                          </a:solidFill>
                          <a:latin typeface="Helvetica Neue"/>
                          <a:ea typeface="Helvetica Neue"/>
                          <a:cs typeface="Helvetica Neue"/>
                          <a:sym typeface="Helvetica Neue"/>
                        </a:rPr>
                        <a:t>Price reduction</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latin typeface="Helvetica Neue"/>
                          <a:ea typeface="Helvetica Neue"/>
                          <a:cs typeface="Helvetica Neue"/>
                          <a:sym typeface="Helvetica Neue"/>
                        </a:rPr>
                        <a:t>Feature Enhancement Request</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latin typeface="Helvetica Neue"/>
                          <a:ea typeface="Helvetica Neue"/>
                          <a:cs typeface="Helvetica Neue"/>
                          <a:sym typeface="Helvetica Neue"/>
                        </a:rPr>
                        <a:t>1 - </a:t>
                      </a:r>
                      <a:r>
                        <a:rPr lang="en-GB" sz="700" u="none" cap="none" strike="noStrike">
                          <a:latin typeface="Helvetica Neue"/>
                          <a:ea typeface="Helvetica Neue"/>
                          <a:cs typeface="Helvetica Neue"/>
                          <a:sym typeface="Helvetica Neue"/>
                        </a:rPr>
                        <a:t>Feedback on regen &amp; drive mode memory functionality</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Ownership experience</a:t>
                      </a:r>
                      <a:endParaRPr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EV number plate regulations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10000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After Sales: 1</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DAF8"/>
                    </a:solidFill>
                  </a:tcPr>
                </a:tc>
                <a:tc hMerge="1"/>
                <a:tc hMerge="1"/>
              </a:tr>
              <a:tr h="1000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Others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Suggestion for Proton e.MSSAS network expansion in Taiping</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10000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Charging: 3</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2CC"/>
                    </a:solidFill>
                  </a:tcPr>
                </a:tc>
                <a:tc hMerge="1"/>
                <a:tc hMerge="1"/>
              </a:tr>
              <a:tr h="5658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Public Charging</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3</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5</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EV charging infrastructure expansion &amp; reliability</a:t>
                      </a:r>
                      <a:endParaRPr b="1" sz="700" u="none" cap="none" strike="noStrike">
                        <a:solidFill>
                          <a:schemeClr val="dk1"/>
                        </a:solidFill>
                        <a:highlight>
                          <a:srgbClr val="FFFF00"/>
                        </a:highlight>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e.MAS 7 </a:t>
                      </a:r>
                      <a:endParaRPr b="1"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latin typeface="Helvetica Neue"/>
                          <a:ea typeface="Helvetica Neue"/>
                          <a:cs typeface="Helvetica Neue"/>
                          <a:sym typeface="Helvetica Neue"/>
                        </a:rPr>
                        <a:t>EV driving range &amp; charging availability for long-distance travel</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highlight>
                            <a:srgbClr val="FFFF00"/>
                          </a:highlight>
                          <a:latin typeface="Helvetica Neue"/>
                          <a:ea typeface="Helvetica Neue"/>
                          <a:cs typeface="Helvetica Neue"/>
                          <a:sym typeface="Helvetica Neue"/>
                        </a:rPr>
                        <a:t>Vehicle model not mentioned</a:t>
                      </a:r>
                      <a:endParaRPr sz="700" u="none" cap="none" strike="noStrike">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1 - </a:t>
                      </a:r>
                      <a:r>
                        <a:rPr lang="en-GB" sz="700" u="none" cap="none" strike="noStrike">
                          <a:solidFill>
                            <a:schemeClr val="dk1"/>
                          </a:solidFill>
                          <a:latin typeface="Helvetica Neue"/>
                          <a:ea typeface="Helvetica Neue"/>
                          <a:cs typeface="Helvetica Neue"/>
                          <a:sym typeface="Helvetica Neue"/>
                        </a:rPr>
                        <a:t>Request to include residential EV chargers in PRO-NET charging network</a:t>
                      </a:r>
                      <a:endParaRPr b="1" sz="700" u="none" cap="none" strike="noStrike">
                        <a:solidFill>
                          <a:schemeClr val="dk1"/>
                        </a:solidFill>
                        <a:highlight>
                          <a:srgbClr val="FFFF00"/>
                        </a:highlight>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103550">
                <a:tc gridSpan="3">
                  <a:txBody>
                    <a:bodyPr/>
                    <a:lstStyle/>
                    <a:p>
                      <a:pPr indent="0" lvl="0" marL="0" marR="0" rtl="0" algn="l">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Others: 1</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1C232"/>
                    </a:solidFill>
                  </a:tcPr>
                </a:tc>
                <a:tc hMerge="1"/>
                <a:tc hMerge="1"/>
              </a:tr>
              <a:tr h="100000">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Others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1</a:t>
                      </a:r>
                      <a:r>
                        <a:rPr lang="en-GB" sz="700" u="none" cap="none" strike="noStrike">
                          <a:solidFill>
                            <a:schemeClr val="dk1"/>
                          </a:solidFill>
                          <a:latin typeface="Helvetica Neue"/>
                          <a:ea typeface="Helvetica Neue"/>
                          <a:cs typeface="Helvetica Neue"/>
                          <a:sym typeface="Helvetica Neue"/>
                        </a:rPr>
                        <a:t> </a:t>
                      </a:r>
                      <a:r>
                        <a:rPr b="1" lang="en-GB" sz="700" u="none" cap="none" strike="noStrike">
                          <a:solidFill>
                            <a:schemeClr val="dk1"/>
                          </a:solidFill>
                          <a:latin typeface="Helvetica Neue"/>
                          <a:ea typeface="Helvetica Neue"/>
                          <a:cs typeface="Helvetica Neue"/>
                          <a:sym typeface="Helvetica Neue"/>
                        </a:rPr>
                        <a:t>- </a:t>
                      </a:r>
                      <a:r>
                        <a:rPr lang="en-GB" sz="700" u="none" cap="none" strike="noStrike">
                          <a:solidFill>
                            <a:schemeClr val="dk1"/>
                          </a:solidFill>
                          <a:latin typeface="Helvetica Neue"/>
                          <a:ea typeface="Helvetica Neue"/>
                          <a:cs typeface="Helvetica Neue"/>
                          <a:sym typeface="Helvetica Neue"/>
                        </a:rPr>
                        <a:t>e.MAS 7 ride comfort &amp; suspension performance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cxnSp>
        <p:nvCxnSpPr>
          <p:cNvPr id="348" name="Google Shape;348;p56"/>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7"/>
          <p:cNvSpPr txBox="1"/>
          <p:nvPr/>
        </p:nvSpPr>
        <p:spPr>
          <a:xfrm>
            <a:off x="95075" y="215550"/>
            <a:ext cx="786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Table of Contents</a:t>
            </a:r>
            <a:endParaRPr b="1" i="0" sz="1800" u="none" cap="none" strike="noStrike">
              <a:solidFill>
                <a:srgbClr val="FF0000"/>
              </a:solidFill>
              <a:latin typeface="Helvetica Neue"/>
              <a:ea typeface="Helvetica Neue"/>
              <a:cs typeface="Helvetica Neue"/>
              <a:sym typeface="Helvetica Neue"/>
            </a:endParaRPr>
          </a:p>
        </p:txBody>
      </p:sp>
      <p:sp>
        <p:nvSpPr>
          <p:cNvPr id="354" name="Google Shape;354;p57"/>
          <p:cNvSpPr txBox="1"/>
          <p:nvPr/>
        </p:nvSpPr>
        <p:spPr>
          <a:xfrm>
            <a:off x="211225" y="653831"/>
            <a:ext cx="7086600" cy="3765900"/>
          </a:xfrm>
          <a:prstGeom prst="rect">
            <a:avLst/>
          </a:prstGeom>
          <a:noFill/>
          <a:ln>
            <a:noFill/>
          </a:ln>
        </p:spPr>
        <p:txBody>
          <a:bodyPr anchorCtr="0" anchor="ctr" bIns="50800" lIns="50800" spcFirstLastPara="1" rIns="50800" wrap="square" tIns="50800">
            <a:spAutoFit/>
          </a:bodyPr>
          <a:lstStyle/>
          <a:p>
            <a:pPr indent="-336550" lvl="0" marL="342900" marR="0" rtl="0" algn="l">
              <a:lnSpc>
                <a:spcPct val="100000"/>
              </a:lnSpc>
              <a:spcBef>
                <a:spcPts val="0"/>
              </a:spcBef>
              <a:spcAft>
                <a:spcPts val="0"/>
              </a:spcAft>
              <a:buClr>
                <a:schemeClr val="accent6"/>
              </a:buClr>
              <a:buSzPts val="1300"/>
              <a:buFont typeface="Helvetica Neue"/>
              <a:buAutoNum type="arabicPeriod"/>
            </a:pPr>
            <a:r>
              <a:rPr b="1" i="0" lang="en-GB" sz="1300" u="none" cap="none" strike="noStrike">
                <a:solidFill>
                  <a:schemeClr val="accent6"/>
                </a:solidFill>
                <a:latin typeface="Helvetica Neue"/>
                <a:ea typeface="Helvetica Neue"/>
                <a:cs typeface="Helvetica Neue"/>
                <a:sym typeface="Helvetica Neue"/>
              </a:rPr>
              <a:t>PeC Cases</a:t>
            </a:r>
            <a:br>
              <a:rPr b="0" i="0" lang="en-GB" sz="1300" u="none" cap="none" strike="noStrike">
                <a:solidFill>
                  <a:schemeClr val="accent6"/>
                </a:solidFill>
                <a:latin typeface="Helvetica Neue Light"/>
                <a:ea typeface="Helvetica Neue Light"/>
                <a:cs typeface="Helvetica Neue Light"/>
                <a:sym typeface="Helvetica Neue Light"/>
              </a:rPr>
            </a:br>
            <a:r>
              <a:rPr b="0" i="0" lang="en-GB" sz="1300" u="none" cap="none" strike="noStrike">
                <a:solidFill>
                  <a:schemeClr val="accent6"/>
                </a:solidFill>
                <a:latin typeface="Helvetica Neue Light"/>
                <a:ea typeface="Helvetica Neue Light"/>
                <a:cs typeface="Helvetica Neue Light"/>
                <a:sym typeface="Helvetica Neue Light"/>
              </a:rPr>
              <a:t>- Channel Analysis</a:t>
            </a:r>
            <a:endParaRPr b="0" i="0" sz="1300" u="none" cap="none" strike="noStrike">
              <a:solidFill>
                <a:schemeClr val="accent6"/>
              </a:solidFill>
              <a:latin typeface="Helvetica Neue Light"/>
              <a:ea typeface="Helvetica Neue Light"/>
              <a:cs typeface="Helvetica Neue Light"/>
              <a:sym typeface="Helvetica Neue Light"/>
            </a:endParaRPr>
          </a:p>
          <a:p>
            <a:pPr indent="-336550" lvl="0" marL="342900" marR="0" rtl="0" algn="l">
              <a:lnSpc>
                <a:spcPct val="100000"/>
              </a:lnSpc>
              <a:spcBef>
                <a:spcPts val="0"/>
              </a:spcBef>
              <a:spcAft>
                <a:spcPts val="0"/>
              </a:spcAft>
              <a:buClr>
                <a:schemeClr val="accent6"/>
              </a:buClr>
              <a:buSzPts val="1300"/>
              <a:buFont typeface="Helvetica Neue"/>
              <a:buAutoNum type="arabicPeriod"/>
            </a:pPr>
            <a:r>
              <a:rPr b="1" i="0" lang="en-GB" sz="1300" u="none" cap="none" strike="noStrike">
                <a:solidFill>
                  <a:schemeClr val="accent6"/>
                </a:solidFill>
                <a:latin typeface="Helvetica Neue"/>
                <a:ea typeface="Helvetica Neue"/>
                <a:cs typeface="Helvetica Neue"/>
                <a:sym typeface="Helvetica Neue"/>
              </a:rPr>
              <a:t>PeC Incoming Channel Performance</a:t>
            </a:r>
            <a:br>
              <a:rPr b="0" i="0" lang="en-GB" sz="1300" u="none" cap="none" strike="noStrike">
                <a:solidFill>
                  <a:schemeClr val="accent6"/>
                </a:solidFill>
                <a:latin typeface="Helvetica Neue Light"/>
                <a:ea typeface="Helvetica Neue Light"/>
                <a:cs typeface="Helvetica Neue Light"/>
                <a:sym typeface="Helvetica Neue Light"/>
              </a:rPr>
            </a:br>
            <a:r>
              <a:rPr b="0" i="0" lang="en-GB" sz="1300" u="none" cap="none" strike="noStrike">
                <a:solidFill>
                  <a:schemeClr val="accent6"/>
                </a:solidFill>
                <a:latin typeface="Helvetica Neue Light"/>
                <a:ea typeface="Helvetica Neue Light"/>
                <a:cs typeface="Helvetica Neue Light"/>
                <a:sym typeface="Helvetica Neue Light"/>
              </a:rPr>
              <a:t>- Proton e.MAS Incoming Calls Analysis</a:t>
            </a:r>
            <a:br>
              <a:rPr b="0" i="0" lang="en-GB" sz="1300" u="none" cap="none" strike="noStrike">
                <a:solidFill>
                  <a:schemeClr val="accent6"/>
                </a:solidFill>
                <a:latin typeface="Helvetica Neue Light"/>
                <a:ea typeface="Helvetica Neue Light"/>
                <a:cs typeface="Helvetica Neue Light"/>
                <a:sym typeface="Helvetica Neue Light"/>
              </a:rPr>
            </a:br>
            <a:r>
              <a:rPr b="0" i="0" lang="en-GB" sz="1300" u="none" cap="none" strike="noStrike">
                <a:solidFill>
                  <a:schemeClr val="accent6"/>
                </a:solidFill>
                <a:latin typeface="Helvetica Neue Light"/>
                <a:ea typeface="Helvetica Neue Light"/>
                <a:cs typeface="Helvetica Neue Light"/>
                <a:sym typeface="Helvetica Neue Light"/>
              </a:rPr>
              <a:t>- Proton e.MAS Calls Average Handling Time</a:t>
            </a:r>
            <a:endParaRPr b="0" i="0" sz="1300" u="none" cap="none" strike="noStrike">
              <a:solidFill>
                <a:schemeClr val="accent6"/>
              </a:solidFill>
              <a:latin typeface="Helvetica Neue Light"/>
              <a:ea typeface="Helvetica Neue Light"/>
              <a:cs typeface="Helvetica Neue Light"/>
              <a:sym typeface="Helvetica Neue Light"/>
            </a:endParaRPr>
          </a:p>
          <a:p>
            <a:pPr indent="-336550" lvl="0" marL="342900" marR="0" rtl="0" algn="l">
              <a:lnSpc>
                <a:spcPct val="100000"/>
              </a:lnSpc>
              <a:spcBef>
                <a:spcPts val="0"/>
              </a:spcBef>
              <a:spcAft>
                <a:spcPts val="0"/>
              </a:spcAft>
              <a:buClr>
                <a:schemeClr val="accent6"/>
              </a:buClr>
              <a:buSzPts val="1300"/>
              <a:buFont typeface="Helvetica Neue"/>
              <a:buAutoNum type="arabicPeriod"/>
            </a:pPr>
            <a:r>
              <a:rPr b="1" i="0" lang="en-GB" sz="1300" u="none" cap="none" strike="noStrike">
                <a:solidFill>
                  <a:schemeClr val="accent6"/>
                </a:solidFill>
                <a:latin typeface="Helvetica Neue"/>
                <a:ea typeface="Helvetica Neue"/>
                <a:cs typeface="Helvetica Neue"/>
                <a:sym typeface="Helvetica Neue"/>
              </a:rPr>
              <a:t>PeC Concern Analysis</a:t>
            </a:r>
            <a:br>
              <a:rPr b="0" i="0" lang="en-GB" sz="1300" u="none" cap="none" strike="noStrike">
                <a:solidFill>
                  <a:schemeClr val="accent6"/>
                </a:solidFill>
                <a:latin typeface="Helvetica Neue Light"/>
                <a:ea typeface="Helvetica Neue Light"/>
                <a:cs typeface="Helvetica Neue Light"/>
                <a:sym typeface="Helvetica Neue Light"/>
              </a:rPr>
            </a:br>
            <a:r>
              <a:rPr b="0" i="0" lang="en-GB" sz="1300" u="none" cap="none" strike="noStrike">
                <a:solidFill>
                  <a:schemeClr val="accent6"/>
                </a:solidFill>
                <a:latin typeface="Helvetica Neue Light"/>
                <a:ea typeface="Helvetica Neue Light"/>
                <a:cs typeface="Helvetica Neue Light"/>
                <a:sym typeface="Helvetica Neue Light"/>
              </a:rPr>
              <a:t>- Inquiry Analysis</a:t>
            </a:r>
            <a:endParaRPr b="0" i="0" sz="13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accent6"/>
                </a:solidFill>
                <a:latin typeface="Helvetica Neue Light"/>
                <a:ea typeface="Helvetica Neue Light"/>
                <a:cs typeface="Helvetica Neue Light"/>
                <a:sym typeface="Helvetica Neue Light"/>
              </a:rPr>
              <a:t>- Complaint Analysis</a:t>
            </a:r>
            <a:endParaRPr b="0" i="0" sz="13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Feedback Analysis</a:t>
            </a:r>
            <a:endParaRPr b="0" i="0" sz="1300" u="none" cap="none" strike="noStrike">
              <a:solidFill>
                <a:schemeClr val="accent6"/>
              </a:solidFill>
              <a:latin typeface="Helvetica Neue Light"/>
              <a:ea typeface="Helvetica Neue Light"/>
              <a:cs typeface="Helvetica Neue Light"/>
              <a:sym typeface="Helvetica Neue Light"/>
            </a:endParaRPr>
          </a:p>
          <a:p>
            <a:pPr indent="-336550" lvl="0" marL="342900" marR="0" rtl="0" algn="l">
              <a:lnSpc>
                <a:spcPct val="100000"/>
              </a:lnSpc>
              <a:spcBef>
                <a:spcPts val="0"/>
              </a:spcBef>
              <a:spcAft>
                <a:spcPts val="0"/>
              </a:spcAft>
              <a:buClr>
                <a:schemeClr val="dk1"/>
              </a:buClr>
              <a:buSzPts val="1300"/>
              <a:buFont typeface="Helvetica Neue"/>
              <a:buAutoNum type="arabicPeriod"/>
            </a:pPr>
            <a:r>
              <a:rPr b="1" i="0" lang="en-GB" sz="1300" u="none" cap="none" strike="noStrike">
                <a:solidFill>
                  <a:schemeClr val="dk1"/>
                </a:solidFill>
                <a:latin typeface="Helvetica Neue"/>
                <a:ea typeface="Helvetica Neue"/>
                <a:cs typeface="Helvetica Neue"/>
                <a:sym typeface="Helvetica Neue"/>
              </a:rPr>
              <a:t>PeC Dealer Analysis</a:t>
            </a:r>
            <a:br>
              <a:rPr b="0" i="0" lang="en-GB" sz="1300" u="none" cap="none" strike="noStrike">
                <a:solidFill>
                  <a:schemeClr val="dk1"/>
                </a:solidFill>
                <a:latin typeface="Helvetica Neue Light"/>
                <a:ea typeface="Helvetica Neue Light"/>
                <a:cs typeface="Helvetica Neue Light"/>
                <a:sym typeface="Helvetica Neue Light"/>
              </a:rPr>
            </a:br>
            <a:r>
              <a:rPr b="0" i="0" lang="en-GB" sz="1300" u="none" cap="none" strike="noStrike">
                <a:solidFill>
                  <a:schemeClr val="dk1"/>
                </a:solidFill>
                <a:latin typeface="Helvetica Neue Light"/>
                <a:ea typeface="Helvetica Neue Light"/>
                <a:cs typeface="Helvetica Neue Light"/>
                <a:sym typeface="Helvetica Neue Light"/>
              </a:rPr>
              <a:t>- Case Escalated To Dealers</a:t>
            </a:r>
            <a:br>
              <a:rPr b="0" i="0" lang="en-GB" sz="1300" u="none" cap="none" strike="noStrike">
                <a:solidFill>
                  <a:schemeClr val="dk1"/>
                </a:solidFill>
                <a:latin typeface="Helvetica Neue Light"/>
                <a:ea typeface="Helvetica Neue Light"/>
                <a:cs typeface="Helvetica Neue Light"/>
                <a:sym typeface="Helvetica Neue Light"/>
              </a:rPr>
            </a:br>
            <a:r>
              <a:rPr b="0" i="0" lang="en-GB" sz="1300" u="none" cap="none" strike="noStrike">
                <a:solidFill>
                  <a:schemeClr val="dk1"/>
                </a:solidFill>
                <a:latin typeface="Helvetica Neue Light"/>
                <a:ea typeface="Helvetica Neue Light"/>
                <a:cs typeface="Helvetica Neue Light"/>
                <a:sym typeface="Helvetica Neue Light"/>
              </a:rPr>
              <a:t>- Proton e.MAS Dealer Complaint Case Escalation Trends</a:t>
            </a:r>
            <a:br>
              <a:rPr b="0" i="0" lang="en-GB" sz="1300" u="none" cap="none" strike="noStrike">
                <a:solidFill>
                  <a:schemeClr val="dk1"/>
                </a:solidFill>
                <a:latin typeface="Helvetica Neue Light"/>
                <a:ea typeface="Helvetica Neue Light"/>
                <a:cs typeface="Helvetica Neue Light"/>
                <a:sym typeface="Helvetica Neue Light"/>
              </a:rPr>
            </a:br>
            <a:r>
              <a:rPr b="0" i="0" lang="en-GB" sz="1300" u="none" cap="none" strike="noStrike">
                <a:solidFill>
                  <a:schemeClr val="dk1"/>
                </a:solidFill>
                <a:latin typeface="Helvetica Neue Light"/>
                <a:ea typeface="Helvetica Neue Light"/>
                <a:cs typeface="Helvetica Neue Light"/>
                <a:sym typeface="Helvetica Neue Light"/>
              </a:rPr>
              <a:t>- Dealer Turnaround Time</a:t>
            </a:r>
            <a:br>
              <a:rPr b="0" i="0" lang="en-GB" sz="1300" u="none" cap="none" strike="noStrike">
                <a:solidFill>
                  <a:schemeClr val="dk1"/>
                </a:solidFill>
                <a:latin typeface="Helvetica Neue Light"/>
                <a:ea typeface="Helvetica Neue Light"/>
                <a:cs typeface="Helvetica Neue Light"/>
                <a:sym typeface="Helvetica Neue Light"/>
              </a:rPr>
            </a:br>
            <a:r>
              <a:rPr b="0" i="0" lang="en-GB" sz="1300" u="none" cap="none" strike="noStrike">
                <a:solidFill>
                  <a:schemeClr val="dk1"/>
                </a:solidFill>
                <a:latin typeface="Helvetica Neue Light"/>
                <a:ea typeface="Helvetica Neue Light"/>
                <a:cs typeface="Helvetica Neue Light"/>
                <a:sym typeface="Helvetica Neue Light"/>
              </a:rPr>
              <a:t>- Work In Progress (WIP) Cases</a:t>
            </a:r>
            <a:br>
              <a:rPr b="0" i="0" lang="en-GB" sz="1300" u="none" cap="none" strike="noStrike">
                <a:solidFill>
                  <a:schemeClr val="dk1"/>
                </a:solidFill>
                <a:latin typeface="Helvetica Neue Light"/>
                <a:ea typeface="Helvetica Neue Light"/>
                <a:cs typeface="Helvetica Neue Light"/>
                <a:sym typeface="Helvetica Neue Light"/>
              </a:rPr>
            </a:br>
            <a:r>
              <a:rPr b="0" i="0" lang="en-GB" sz="1300" u="none" cap="none" strike="noStrike">
                <a:solidFill>
                  <a:schemeClr val="dk1"/>
                </a:solidFill>
                <a:latin typeface="Helvetica Neue Light"/>
                <a:ea typeface="Helvetica Neue Light"/>
                <a:cs typeface="Helvetica Neue Light"/>
                <a:sym typeface="Helvetica Neue Light"/>
              </a:rPr>
              <a:t>- Temp Close Cases</a:t>
            </a:r>
            <a:endParaRPr b="0" i="0" sz="1300" u="none" cap="none" strike="noStrike">
              <a:solidFill>
                <a:schemeClr val="dk1"/>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300" u="none" cap="none" strike="noStrike">
                <a:solidFill>
                  <a:schemeClr val="accent6"/>
                </a:solidFill>
                <a:latin typeface="Helvetica Neue"/>
                <a:ea typeface="Helvetica Neue"/>
                <a:cs typeface="Helvetica Neue"/>
                <a:sym typeface="Helvetica Neue"/>
              </a:rPr>
              <a:t>RSA Analysis</a:t>
            </a:r>
            <a:endParaRPr b="1" i="0" sz="1300" u="none" cap="none" strike="noStrike">
              <a:solidFill>
                <a:schemeClr val="accent6"/>
              </a:solidFill>
              <a:latin typeface="Helvetica Neue"/>
              <a:ea typeface="Helvetica Neue"/>
              <a:cs typeface="Helvetica Neue"/>
              <a:sym typeface="Helvetica Neue"/>
            </a:endParaRPr>
          </a:p>
          <a:p>
            <a:pPr indent="342900" lvl="0" marL="0" marR="0" rtl="0" algn="l">
              <a:lnSpc>
                <a:spcPct val="100000"/>
              </a:lnSpc>
              <a:spcBef>
                <a:spcPts val="0"/>
              </a:spcBef>
              <a:spcAft>
                <a:spcPts val="0"/>
              </a:spcAft>
              <a:buClr>
                <a:srgbClr val="000000"/>
              </a:buClr>
              <a:buSzPts val="1300"/>
              <a:buFont typeface="Arial"/>
              <a:buNone/>
            </a:pPr>
            <a:r>
              <a:rPr b="0" i="0" lang="en-GB" sz="1300" u="none" cap="none" strike="noStrike">
                <a:solidFill>
                  <a:schemeClr val="accent6"/>
                </a:solidFill>
                <a:latin typeface="Helvetica Neue Light"/>
                <a:ea typeface="Helvetica Neue Light"/>
                <a:cs typeface="Helvetica Neue Light"/>
                <a:sym typeface="Helvetica Neue Light"/>
              </a:rPr>
              <a:t>- RSA Call Analysis</a:t>
            </a:r>
            <a:endParaRPr b="0" i="0" sz="1300" u="none" cap="none" strike="noStrike">
              <a:solidFill>
                <a:schemeClr val="accent6"/>
              </a:solidFill>
              <a:latin typeface="Helvetica Neue Light"/>
              <a:ea typeface="Helvetica Neue Light"/>
              <a:cs typeface="Helvetica Neue Light"/>
              <a:sym typeface="Helvetica Neue Light"/>
            </a:endParaRPr>
          </a:p>
          <a:p>
            <a:pPr indent="-336550" lvl="0" marL="342900" marR="0" rtl="0" algn="l">
              <a:lnSpc>
                <a:spcPct val="100000"/>
              </a:lnSpc>
              <a:spcBef>
                <a:spcPts val="0"/>
              </a:spcBef>
              <a:spcAft>
                <a:spcPts val="0"/>
              </a:spcAft>
              <a:buClr>
                <a:schemeClr val="accent6"/>
              </a:buClr>
              <a:buSzPts val="1300"/>
              <a:buFont typeface="Helvetica Neue"/>
              <a:buAutoNum type="arabicPeriod"/>
            </a:pPr>
            <a:r>
              <a:rPr b="1" i="0" lang="en-GB" sz="1300" u="none" cap="none" strike="noStrike">
                <a:solidFill>
                  <a:schemeClr val="accent6"/>
                </a:solidFill>
                <a:latin typeface="Helvetica Neue"/>
                <a:ea typeface="Helvetica Neue"/>
                <a:cs typeface="Helvetica Neue"/>
                <a:sym typeface="Helvetica Neue"/>
              </a:rPr>
              <a:t>Summary</a:t>
            </a:r>
            <a:endParaRPr b="1" i="0" sz="1300" u="none" cap="none" strike="noStrike">
              <a:solidFill>
                <a:schemeClr val="accent6"/>
              </a:solidFill>
              <a:latin typeface="Helvetica Neue"/>
              <a:ea typeface="Helvetica Neue"/>
              <a:cs typeface="Helvetica Neue"/>
              <a:sym typeface="Helvetica Neue"/>
            </a:endParaRPr>
          </a:p>
        </p:txBody>
      </p:sp>
      <p:cxnSp>
        <p:nvCxnSpPr>
          <p:cNvPr id="355" name="Google Shape;355;p57"/>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8"/>
          <p:cNvSpPr txBox="1"/>
          <p:nvPr/>
        </p:nvSpPr>
        <p:spPr>
          <a:xfrm>
            <a:off x="95075" y="63150"/>
            <a:ext cx="5781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PeC Cases Escalated To Dealers – June 2026</a:t>
            </a:r>
            <a:endParaRPr b="1" i="0" sz="1800" u="none" cap="none" strike="noStrike">
              <a:solidFill>
                <a:schemeClr val="dk1"/>
              </a:solidFill>
              <a:latin typeface="Helvetica Neue"/>
              <a:ea typeface="Helvetica Neue"/>
              <a:cs typeface="Helvetica Neue"/>
              <a:sym typeface="Helvetica Neue"/>
            </a:endParaRPr>
          </a:p>
        </p:txBody>
      </p:sp>
      <p:sp>
        <p:nvSpPr>
          <p:cNvPr id="361" name="Google Shape;361;p58"/>
          <p:cNvSpPr txBox="1"/>
          <p:nvPr/>
        </p:nvSpPr>
        <p:spPr>
          <a:xfrm>
            <a:off x="201218" y="4096800"/>
            <a:ext cx="3978600" cy="1046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800"/>
              <a:buFont typeface="Helvetica Neue Light"/>
              <a:buNone/>
            </a:pPr>
            <a:r>
              <a:rPr b="1" i="0" lang="en-GB" sz="800" u="sng" cap="none" strike="noStrike">
                <a:solidFill>
                  <a:schemeClr val="dk1"/>
                </a:solidFill>
                <a:latin typeface="Helvetica Neue"/>
                <a:ea typeface="Helvetica Neue"/>
                <a:cs typeface="Helvetica Neue"/>
                <a:sym typeface="Helvetica Neue"/>
              </a:rPr>
              <a:t>Cases Handle by Dealer:</a:t>
            </a:r>
            <a:endParaRPr b="1" i="0" sz="800" u="none" cap="none" strike="noStrike">
              <a:solidFill>
                <a:schemeClr val="dk1"/>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000000"/>
              </a:buClr>
              <a:buSzPts val="1100"/>
              <a:buFont typeface="Arial"/>
              <a:buNone/>
            </a:pPr>
            <a:r>
              <a:rPr b="1" i="0" lang="en-GB" sz="800" u="none" cap="none" strike="noStrike">
                <a:solidFill>
                  <a:schemeClr val="dk1"/>
                </a:solidFill>
                <a:latin typeface="Helvetica Neue"/>
                <a:ea typeface="Helvetica Neue"/>
                <a:cs typeface="Helvetica Neue"/>
                <a:sym typeface="Helvetica Neue"/>
              </a:rPr>
              <a:t>Total Cases			: 1811</a:t>
            </a:r>
            <a:endParaRPr b="1" i="0" sz="800" u="none" cap="none" strike="noStrike">
              <a:solidFill>
                <a:schemeClr val="dk1"/>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000000"/>
              </a:buClr>
              <a:buSzPts val="1100"/>
              <a:buFont typeface="Arial"/>
              <a:buNone/>
            </a:pPr>
            <a:r>
              <a:rPr b="0" i="0" lang="en-GB" sz="800" u="none" cap="none" strike="noStrike">
                <a:solidFill>
                  <a:schemeClr val="dk1"/>
                </a:solidFill>
                <a:latin typeface="Helvetica Neue"/>
                <a:ea typeface="Helvetica Neue"/>
                <a:cs typeface="Helvetica Neue"/>
                <a:sym typeface="Helvetica Neue"/>
              </a:rPr>
              <a:t> • </a:t>
            </a:r>
            <a:r>
              <a:rPr b="1" i="0" lang="en-GB" sz="800" u="none" cap="none" strike="noStrike">
                <a:solidFill>
                  <a:schemeClr val="dk1"/>
                </a:solidFill>
                <a:latin typeface="Helvetica Neue"/>
                <a:ea typeface="Helvetica Neue"/>
                <a:cs typeface="Helvetica Neue"/>
                <a:sym typeface="Helvetica Neue"/>
              </a:rPr>
              <a:t>Escalated to Dealers		</a:t>
            </a:r>
            <a:r>
              <a:rPr b="0" i="0" lang="en-GB" sz="800" u="none" cap="none" strike="noStrike">
                <a:solidFill>
                  <a:schemeClr val="dk1"/>
                </a:solidFill>
                <a:latin typeface="Helvetica Neue"/>
                <a:ea typeface="Helvetica Neue"/>
                <a:cs typeface="Helvetica Neue"/>
                <a:sym typeface="Helvetica Neue"/>
              </a:rPr>
              <a:t>: 353</a:t>
            </a:r>
            <a:endParaRPr b="0" i="0" sz="800" u="none" cap="none" strike="noStrike">
              <a:solidFill>
                <a:schemeClr val="dk1"/>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000000"/>
              </a:buClr>
              <a:buSzPts val="1100"/>
              <a:buFont typeface="Arial"/>
              <a:buNone/>
            </a:pPr>
            <a:r>
              <a:rPr b="0" i="0" lang="en-GB" sz="800" u="none" cap="none" strike="noStrike">
                <a:solidFill>
                  <a:schemeClr val="dk1"/>
                </a:solidFill>
                <a:latin typeface="Helvetica Neue"/>
                <a:ea typeface="Helvetica Neue"/>
                <a:cs typeface="Helvetica Neue"/>
                <a:sym typeface="Helvetica Neue"/>
              </a:rPr>
              <a:t> • </a:t>
            </a:r>
            <a:r>
              <a:rPr b="1" i="0" lang="en-GB" sz="800" u="none" cap="none" strike="noStrike">
                <a:solidFill>
                  <a:schemeClr val="dk1"/>
                </a:solidFill>
                <a:latin typeface="Helvetica Neue"/>
                <a:ea typeface="Helvetica Neue"/>
                <a:cs typeface="Helvetica Neue"/>
                <a:sym typeface="Helvetica Neue"/>
              </a:rPr>
              <a:t>Escalated to HQ		</a:t>
            </a:r>
            <a:r>
              <a:rPr b="0" i="0" lang="en-GB" sz="800" u="none" cap="none" strike="noStrike">
                <a:solidFill>
                  <a:schemeClr val="dk1"/>
                </a:solidFill>
                <a:latin typeface="Helvetica Neue"/>
                <a:ea typeface="Helvetica Neue"/>
                <a:cs typeface="Helvetica Neue"/>
                <a:sym typeface="Helvetica Neue"/>
              </a:rPr>
              <a:t>: 245</a:t>
            </a:r>
            <a:endParaRPr b="0" i="0" sz="800" u="none" cap="none" strike="noStrike">
              <a:solidFill>
                <a:schemeClr val="dk1"/>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000000"/>
              </a:buClr>
              <a:buSzPts val="800"/>
              <a:buFont typeface="Helvetica Neue Light"/>
              <a:buNone/>
            </a:pPr>
            <a:r>
              <a:rPr b="0" i="0" lang="en-GB" sz="800" u="none" cap="none" strike="noStrike">
                <a:solidFill>
                  <a:schemeClr val="dk1"/>
                </a:solidFill>
                <a:latin typeface="Helvetica Neue"/>
                <a:ea typeface="Helvetica Neue"/>
                <a:cs typeface="Helvetica Neue"/>
                <a:sym typeface="Helvetica Neue"/>
              </a:rPr>
              <a:t> • </a:t>
            </a:r>
            <a:r>
              <a:rPr b="1" i="0" lang="en-GB" sz="800" u="none" cap="none" strike="noStrike">
                <a:solidFill>
                  <a:schemeClr val="dk1"/>
                </a:solidFill>
                <a:latin typeface="Helvetica Neue"/>
                <a:ea typeface="Helvetica Neue"/>
                <a:cs typeface="Helvetica Neue"/>
                <a:sym typeface="Helvetica Neue"/>
              </a:rPr>
              <a:t>N/A (No escalation needed)	</a:t>
            </a:r>
            <a:r>
              <a:rPr b="0" i="0" lang="en-GB" sz="800" u="none" cap="none" strike="noStrike">
                <a:solidFill>
                  <a:schemeClr val="dk1"/>
                </a:solidFill>
                <a:latin typeface="Helvetica Neue"/>
                <a:ea typeface="Helvetica Neue"/>
                <a:cs typeface="Helvetica Neue"/>
                <a:sym typeface="Helvetica Neue"/>
              </a:rPr>
              <a:t>: 1213</a:t>
            </a:r>
            <a:endParaRPr b="0" i="0" sz="800" u="none" cap="none" strike="noStrike">
              <a:solidFill>
                <a:schemeClr val="dk1"/>
              </a:solidFill>
              <a:latin typeface="Helvetica Neue Light"/>
              <a:ea typeface="Helvetica Neue Light"/>
              <a:cs typeface="Helvetica Neue Light"/>
              <a:sym typeface="Helvetica Neue Light"/>
            </a:endParaRPr>
          </a:p>
          <a:p>
            <a:pPr indent="0" lvl="0" marL="0" marR="0" rtl="0" algn="just">
              <a:lnSpc>
                <a:spcPct val="100000"/>
              </a:lnSpc>
              <a:spcBef>
                <a:spcPts val="0"/>
              </a:spcBef>
              <a:spcAft>
                <a:spcPts val="0"/>
              </a:spcAft>
              <a:buClr>
                <a:srgbClr val="000000"/>
              </a:buClr>
              <a:buSzPts val="800"/>
              <a:buFont typeface="Helvetica Neue Light"/>
              <a:buNone/>
            </a:pPr>
            <a:r>
              <a:t/>
            </a:r>
            <a:endParaRPr b="0" i="0" sz="800" u="none" cap="none" strike="noStrike">
              <a:solidFill>
                <a:schemeClr val="dk1"/>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000000"/>
              </a:buClr>
              <a:buSzPts val="800"/>
              <a:buFont typeface="Helvetica Neue Light"/>
              <a:buNone/>
            </a:pPr>
            <a:r>
              <a:rPr b="0" i="1" lang="en-GB" sz="800" u="none" cap="none" strike="noStrike">
                <a:solidFill>
                  <a:schemeClr val="dk1"/>
                </a:solidFill>
                <a:latin typeface="Helvetica Neue"/>
                <a:ea typeface="Helvetica Neue"/>
                <a:cs typeface="Helvetica Neue"/>
                <a:sym typeface="Helvetica Neue"/>
              </a:rPr>
              <a:t>N/A: </a:t>
            </a:r>
            <a:r>
              <a:rPr b="0" i="1" lang="en-GB" sz="800" u="none" cap="none" strike="noStrike">
                <a:solidFill>
                  <a:schemeClr val="dk1"/>
                </a:solidFill>
                <a:latin typeface="Helvetica Neue Light"/>
                <a:ea typeface="Helvetica Neue Light"/>
                <a:cs typeface="Helvetica Neue Light"/>
                <a:sym typeface="Helvetica Neue Light"/>
              </a:rPr>
              <a:t>refers to cases resolved without dealer involvement</a:t>
            </a:r>
            <a:endParaRPr b="0" i="1" sz="800" u="none" cap="none" strike="noStrike">
              <a:solidFill>
                <a:schemeClr val="dk1"/>
              </a:solidFill>
              <a:latin typeface="Helvetica Neue Light"/>
              <a:ea typeface="Helvetica Neue Light"/>
              <a:cs typeface="Helvetica Neue Light"/>
              <a:sym typeface="Helvetica Neue Light"/>
            </a:endParaRPr>
          </a:p>
        </p:txBody>
      </p:sp>
      <p:cxnSp>
        <p:nvCxnSpPr>
          <p:cNvPr id="362" name="Google Shape;362;p58"/>
          <p:cNvCxnSpPr/>
          <p:nvPr/>
        </p:nvCxnSpPr>
        <p:spPr>
          <a:xfrm>
            <a:off x="108575" y="505302"/>
            <a:ext cx="7208100" cy="0"/>
          </a:xfrm>
          <a:prstGeom prst="straightConnector1">
            <a:avLst/>
          </a:prstGeom>
          <a:noFill/>
          <a:ln cap="flat" cmpd="sng" w="28575">
            <a:solidFill>
              <a:schemeClr val="accent2"/>
            </a:solidFill>
            <a:prstDash val="solid"/>
            <a:round/>
            <a:headEnd len="sm" w="sm" type="none"/>
            <a:tailEnd len="med" w="med" type="oval"/>
          </a:ln>
        </p:spPr>
      </p:cxnSp>
      <p:pic>
        <p:nvPicPr>
          <p:cNvPr id="363" name="Google Shape;363;p58" title="Chart"/>
          <p:cNvPicPr preferRelativeResize="0"/>
          <p:nvPr/>
        </p:nvPicPr>
        <p:blipFill rotWithShape="1">
          <a:blip r:embed="rId3">
            <a:alphaModFix/>
          </a:blip>
          <a:srcRect b="0" l="0" r="0" t="0"/>
          <a:stretch/>
        </p:blipFill>
        <p:spPr>
          <a:xfrm>
            <a:off x="718075" y="505300"/>
            <a:ext cx="7508977" cy="366442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9"/>
          <p:cNvSpPr txBox="1"/>
          <p:nvPr/>
        </p:nvSpPr>
        <p:spPr>
          <a:xfrm>
            <a:off x="163650" y="3147417"/>
            <a:ext cx="5192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41414"/>
              </a:buClr>
              <a:buSzPts val="900"/>
              <a:buFont typeface="Helvetica Neue Light"/>
              <a:buNone/>
            </a:pPr>
            <a:r>
              <a:rPr b="1" i="0" lang="en-GB" sz="700" u="sng" cap="none" strike="noStrike">
                <a:solidFill>
                  <a:schemeClr val="dk1"/>
                </a:solidFill>
                <a:latin typeface="Helvetica Neue"/>
                <a:ea typeface="Helvetica Neue"/>
                <a:cs typeface="Helvetica Neue"/>
                <a:sym typeface="Helvetica Neue"/>
              </a:rPr>
              <a:t>Proton e.MAS Complaint Trend: Cases to Dealers – June 2026</a:t>
            </a:r>
            <a:endParaRPr b="1" i="0" sz="700" u="sng"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800"/>
              <a:buFont typeface="Helvetica Neue Light"/>
              <a:buNone/>
            </a:pPr>
            <a:r>
              <a:rPr b="0" i="0" lang="en-GB" sz="700" u="none" cap="none" strike="noStrike">
                <a:solidFill>
                  <a:schemeClr val="dk1"/>
                </a:solidFill>
                <a:latin typeface="Helvetica Neue"/>
                <a:ea typeface="Helvetica Neue"/>
                <a:cs typeface="Helvetica Neue"/>
                <a:sym typeface="Helvetica Neue"/>
              </a:rPr>
              <a:t>The chart above shows the complaint cases trend by respective dealers for June 2026. Total </a:t>
            </a:r>
            <a:r>
              <a:rPr b="1" i="0" lang="en-GB" sz="700" u="none" cap="none" strike="noStrike">
                <a:solidFill>
                  <a:schemeClr val="dk1"/>
                </a:solidFill>
                <a:latin typeface="Helvetica Neue"/>
                <a:ea typeface="Helvetica Neue"/>
                <a:cs typeface="Helvetica Neue"/>
                <a:sym typeface="Helvetica Neue"/>
              </a:rPr>
              <a:t>353 </a:t>
            </a:r>
            <a:r>
              <a:rPr b="0" i="0" lang="en-GB" sz="700" u="none" cap="none" strike="noStrike">
                <a:solidFill>
                  <a:schemeClr val="dk1"/>
                </a:solidFill>
                <a:latin typeface="Helvetica Neue"/>
                <a:ea typeface="Helvetica Neue"/>
                <a:cs typeface="Helvetica Neue"/>
                <a:sym typeface="Helvetica Neue"/>
              </a:rPr>
              <a:t>cases escalated to dealer. </a:t>
            </a:r>
            <a:endParaRPr b="0" i="0" sz="700" u="none" cap="none" strike="noStrike">
              <a:solidFill>
                <a:schemeClr val="dk1"/>
              </a:solidFill>
              <a:latin typeface="Helvetica Neue"/>
              <a:ea typeface="Helvetica Neue"/>
              <a:cs typeface="Helvetica Neue"/>
              <a:sym typeface="Helvetica Neue"/>
            </a:endParaRPr>
          </a:p>
        </p:txBody>
      </p:sp>
      <p:sp>
        <p:nvSpPr>
          <p:cNvPr id="369" name="Google Shape;369;p59"/>
          <p:cNvSpPr txBox="1"/>
          <p:nvPr/>
        </p:nvSpPr>
        <p:spPr>
          <a:xfrm>
            <a:off x="108575" y="98525"/>
            <a:ext cx="6135600" cy="461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2000"/>
              <a:buFont typeface="Helvetica Neue Light"/>
              <a:buNone/>
            </a:pPr>
            <a:r>
              <a:rPr b="1" i="0" lang="en-GB" sz="1800" u="none" cap="none" strike="noStrike">
                <a:solidFill>
                  <a:schemeClr val="dk1"/>
                </a:solidFill>
                <a:latin typeface="Helvetica Neue"/>
                <a:ea typeface="Helvetica Neue"/>
                <a:cs typeface="Helvetica Neue"/>
                <a:sym typeface="Helvetica Neue"/>
              </a:rPr>
              <a:t>PeC Complaint Trend: Cases to Dealers – June 2026</a:t>
            </a:r>
            <a:endParaRPr b="1" i="0" sz="1800" u="none" cap="none" strike="noStrike">
              <a:solidFill>
                <a:schemeClr val="dk1"/>
              </a:solidFill>
              <a:latin typeface="Helvetica Neue"/>
              <a:ea typeface="Helvetica Neue"/>
              <a:cs typeface="Helvetica Neue"/>
              <a:sym typeface="Helvetica Neue"/>
            </a:endParaRPr>
          </a:p>
        </p:txBody>
      </p:sp>
      <p:sp>
        <p:nvSpPr>
          <p:cNvPr id="370" name="Google Shape;370;p59"/>
          <p:cNvSpPr txBox="1"/>
          <p:nvPr/>
        </p:nvSpPr>
        <p:spPr>
          <a:xfrm>
            <a:off x="2286075" y="3453600"/>
            <a:ext cx="2451600" cy="1689900"/>
          </a:xfrm>
          <a:prstGeom prst="rect">
            <a:avLst/>
          </a:prstGeom>
          <a:noFill/>
          <a:ln>
            <a:noFill/>
          </a:ln>
        </p:spPr>
        <p:txBody>
          <a:bodyPr anchorCtr="0" anchor="t" bIns="91425" lIns="91425" spcFirstLastPara="1" rIns="91425" wrap="square" tIns="91425">
            <a:noAutofit/>
          </a:bodyPr>
          <a:lstStyle/>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EON Glenmarie                    	: 15</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Eleganz Lifestyle (Butterworth)  	: 1</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Eleganz Lifestyle (Jelutong)    	: 12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Fook Loi Eurocar                 	: 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GB Auto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Gerak Elektron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Ghee Hua                         		: 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HK Electra                       		: 5</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Igreen Premium (Bukit Tinggi)    	: 8</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Igreen Premium (Setapak)         	: 8</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Indahsari NEV                    		: 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Jawira                           		: 15</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Jewel Sonic                      		: 11</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Jing Auto World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JM Otomobil                      		: 3</a:t>
            </a:r>
            <a:endParaRPr b="0" i="0" sz="600" u="none" cap="none" strike="noStrike">
              <a:solidFill>
                <a:schemeClr val="dk1"/>
              </a:solidFill>
              <a:latin typeface="Helvetica Neue"/>
              <a:ea typeface="Helvetica Neue"/>
              <a:cs typeface="Helvetica Neue"/>
              <a:sym typeface="Helvetica Neue"/>
            </a:endParaRPr>
          </a:p>
        </p:txBody>
      </p:sp>
      <p:sp>
        <p:nvSpPr>
          <p:cNvPr id="371" name="Google Shape;371;p59"/>
          <p:cNvSpPr txBox="1"/>
          <p:nvPr/>
        </p:nvSpPr>
        <p:spPr>
          <a:xfrm>
            <a:off x="26575" y="3460050"/>
            <a:ext cx="2494800" cy="1677000"/>
          </a:xfrm>
          <a:prstGeom prst="rect">
            <a:avLst/>
          </a:prstGeom>
          <a:noFill/>
          <a:ln>
            <a:noFill/>
          </a:ln>
        </p:spPr>
        <p:txBody>
          <a:bodyPr anchorCtr="0" anchor="t" bIns="91425" lIns="91425" spcFirstLastPara="1" rIns="91425" wrap="square" tIns="91425">
            <a:noAutofit/>
          </a:bodyPr>
          <a:lstStyle/>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Proauto Drive (Kajang)        	   : 1</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Proton e.MAS Plentong    		   : 1</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Able Agility                     		   : 5</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Able Mobility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AG Autoworld B&amp;P                 	   : 1</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AG Autoworld Iskandar Puteri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AG Autoworld Plentong            	   : 15</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AJG Mobility (Bukit Jalil)       	   : 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AJG Mobility (Puchong)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AJG Mobility (Seri Kembangan)    	   : 12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AKRR (Tebrau)                    	   : 4</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Cahaya Technology                	   : 14</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CS Prima Auto                    	   : 13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Dimensi World                    	   : 4</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EON Damansara                    	   : 5</a:t>
            </a:r>
            <a:endParaRPr b="0" i="0" sz="600" u="none" cap="none" strike="noStrike">
              <a:solidFill>
                <a:schemeClr val="dk1"/>
              </a:solidFill>
              <a:latin typeface="Helvetica Neue"/>
              <a:ea typeface="Helvetica Neue"/>
              <a:cs typeface="Helvetica Neue"/>
              <a:sym typeface="Helvetica Neue"/>
            </a:endParaRPr>
          </a:p>
        </p:txBody>
      </p:sp>
      <p:cxnSp>
        <p:nvCxnSpPr>
          <p:cNvPr id="372" name="Google Shape;372;p59"/>
          <p:cNvCxnSpPr/>
          <p:nvPr/>
        </p:nvCxnSpPr>
        <p:spPr>
          <a:xfrm>
            <a:off x="108575" y="602490"/>
            <a:ext cx="7208100" cy="0"/>
          </a:xfrm>
          <a:prstGeom prst="straightConnector1">
            <a:avLst/>
          </a:prstGeom>
          <a:noFill/>
          <a:ln cap="flat" cmpd="sng" w="28575">
            <a:solidFill>
              <a:schemeClr val="accent2"/>
            </a:solidFill>
            <a:prstDash val="solid"/>
            <a:round/>
            <a:headEnd len="sm" w="sm" type="none"/>
            <a:tailEnd len="med" w="med" type="oval"/>
          </a:ln>
        </p:spPr>
      </p:cxnSp>
      <p:sp>
        <p:nvSpPr>
          <p:cNvPr id="373" name="Google Shape;373;p59"/>
          <p:cNvSpPr txBox="1"/>
          <p:nvPr/>
        </p:nvSpPr>
        <p:spPr>
          <a:xfrm>
            <a:off x="4572000" y="3446400"/>
            <a:ext cx="3000000" cy="1764000"/>
          </a:xfrm>
          <a:prstGeom prst="rect">
            <a:avLst/>
          </a:prstGeom>
          <a:noFill/>
          <a:ln>
            <a:noFill/>
          </a:ln>
        </p:spPr>
        <p:txBody>
          <a:bodyPr anchorCtr="0" anchor="t" bIns="91425" lIns="91425" spcFirstLastPara="1" rIns="91425" wrap="square" tIns="91425">
            <a:spAutoFit/>
          </a:bodyPr>
          <a:lstStyle/>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KKT New Energy                   	: 6</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LHM Evolve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Lon G Puncak                     	: 4</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Mayang Holdings (Kulai)          	: 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Mayang Holdings (Muar)           	: 7</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MBf EV Auto B&amp;P                  	: 5</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MBf EV Auto (Jln Tun Razak)      	: 10</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Melinau EV                       		: 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Mercu Usaha Automobile           	: 1</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NHL Auto Tech                    	: 8</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Pantai Bharu Autohaus            	: 2</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Peringgit Max Auto               	: 5</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PKT Autopro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Proauto Drive                    		: 5</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Promas EV (Batu Pahat)           	: 5</a:t>
            </a:r>
            <a:endParaRPr b="0" i="0" sz="600" u="none" cap="none" strike="noStrike">
              <a:solidFill>
                <a:schemeClr val="dk1"/>
              </a:solidFill>
              <a:latin typeface="Helvetica Neue"/>
              <a:ea typeface="Helvetica Neue"/>
              <a:cs typeface="Helvetica Neue"/>
              <a:sym typeface="Helvetica Neue"/>
            </a:endParaRPr>
          </a:p>
        </p:txBody>
      </p:sp>
      <p:sp>
        <p:nvSpPr>
          <p:cNvPr id="374" name="Google Shape;374;p59"/>
          <p:cNvSpPr txBox="1"/>
          <p:nvPr/>
        </p:nvSpPr>
        <p:spPr>
          <a:xfrm>
            <a:off x="6843075" y="3446400"/>
            <a:ext cx="3000000" cy="1233000"/>
          </a:xfrm>
          <a:prstGeom prst="rect">
            <a:avLst/>
          </a:prstGeom>
          <a:noFill/>
          <a:ln>
            <a:noFill/>
          </a:ln>
        </p:spPr>
        <p:txBody>
          <a:bodyPr anchorCtr="0" anchor="t" bIns="91425" lIns="91425" spcFirstLastPara="1" rIns="91425" wrap="square" tIns="91425">
            <a:spAutoFit/>
          </a:bodyPr>
          <a:lstStyle/>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Promas EV (Tampoi)              	 : 9</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Proton e.MAS Plentong (AG)       	 : 1</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Rahmat Jutamas                   	 : 6</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Regal Motors (Desa ParkCity)     	 : 3</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Regal Motors (Petaling Jaya)     	 : 9</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SG Car                           		 : 17</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Supernau Motors                  	 : 1</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Wheelcorp EV                     	 : 7</a:t>
            </a:r>
            <a:endParaRPr b="0" i="0" sz="600" u="none" cap="none" strike="noStrike">
              <a:solidFill>
                <a:schemeClr val="dk1"/>
              </a:solidFill>
              <a:latin typeface="Helvetica Neue"/>
              <a:ea typeface="Helvetica Neue"/>
              <a:cs typeface="Helvetica Neue"/>
              <a:sym typeface="Helvetica Neue"/>
            </a:endParaRPr>
          </a:p>
          <a:p>
            <a:pPr indent="-266700" lvl="0" marL="457200" marR="0" rtl="0" algn="l">
              <a:lnSpc>
                <a:spcPct val="115000"/>
              </a:lnSpc>
              <a:spcBef>
                <a:spcPts val="0"/>
              </a:spcBef>
              <a:spcAft>
                <a:spcPts val="0"/>
              </a:spcAft>
              <a:buClr>
                <a:schemeClr val="dk1"/>
              </a:buClr>
              <a:buSzPts val="600"/>
              <a:buFont typeface="Helvetica Neue"/>
              <a:buChar char="●"/>
            </a:pPr>
            <a:r>
              <a:rPr b="0" i="0" lang="en-GB" sz="600" u="none" cap="none" strike="noStrike">
                <a:solidFill>
                  <a:schemeClr val="dk1"/>
                </a:solidFill>
                <a:latin typeface="Helvetica Neue"/>
                <a:ea typeface="Helvetica Neue"/>
                <a:cs typeface="Helvetica Neue"/>
                <a:sym typeface="Helvetica Neue"/>
              </a:rPr>
              <a:t>Xtream Auto                      		 : 5</a:t>
            </a:r>
            <a:endParaRPr b="0" i="0" sz="600" u="none" cap="none" strike="noStrike">
              <a:solidFill>
                <a:schemeClr val="dk1"/>
              </a:solidFill>
              <a:latin typeface="Helvetica Neue"/>
              <a:ea typeface="Helvetica Neue"/>
              <a:cs typeface="Helvetica Neue"/>
              <a:sym typeface="Helvetica Neue"/>
            </a:endParaRPr>
          </a:p>
          <a:p>
            <a:pPr indent="0" lvl="0" marL="457200" marR="0" rtl="0" algn="l">
              <a:lnSpc>
                <a:spcPct val="115000"/>
              </a:lnSpc>
              <a:spcBef>
                <a:spcPts val="0"/>
              </a:spcBef>
              <a:spcAft>
                <a:spcPts val="0"/>
              </a:spcAft>
              <a:buClr>
                <a:srgbClr val="000000"/>
              </a:buClr>
              <a:buSzPts val="600"/>
              <a:buFont typeface="Arial"/>
              <a:buNone/>
            </a:pPr>
            <a:r>
              <a:t/>
            </a:r>
            <a:endParaRPr b="0" i="0" sz="600" u="none" cap="none" strike="noStrike">
              <a:solidFill>
                <a:schemeClr val="dk1"/>
              </a:solidFill>
              <a:latin typeface="Helvetica Neue"/>
              <a:ea typeface="Helvetica Neue"/>
              <a:cs typeface="Helvetica Neue"/>
              <a:sym typeface="Helvetica Neue"/>
            </a:endParaRPr>
          </a:p>
        </p:txBody>
      </p:sp>
      <p:pic>
        <p:nvPicPr>
          <p:cNvPr id="375" name="Google Shape;375;p59" title="Chart"/>
          <p:cNvPicPr preferRelativeResize="0"/>
          <p:nvPr/>
        </p:nvPicPr>
        <p:blipFill rotWithShape="1">
          <a:blip r:embed="rId3">
            <a:alphaModFix/>
          </a:blip>
          <a:srcRect b="0" l="0" r="0" t="0"/>
          <a:stretch/>
        </p:blipFill>
        <p:spPr>
          <a:xfrm>
            <a:off x="768200" y="685025"/>
            <a:ext cx="7043799" cy="23798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0"/>
          <p:cNvSpPr txBox="1"/>
          <p:nvPr/>
        </p:nvSpPr>
        <p:spPr>
          <a:xfrm>
            <a:off x="337325" y="3436850"/>
            <a:ext cx="8727300" cy="1667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800"/>
              <a:buFont typeface="Helvetica Neue Light"/>
              <a:buNone/>
            </a:pPr>
            <a:r>
              <a:rPr b="1" i="0" lang="en-GB" sz="700" u="none" cap="none" strike="noStrike">
                <a:solidFill>
                  <a:schemeClr val="dk1"/>
                </a:solidFill>
                <a:latin typeface="Helvetica Neue"/>
                <a:ea typeface="Helvetica Neue"/>
                <a:cs typeface="Helvetica Neue"/>
                <a:sym typeface="Helvetica Neue"/>
              </a:rPr>
              <a:t>Average Turnaround Time by Dealers:</a:t>
            </a:r>
            <a:endParaRPr b="0" i="0" sz="700" u="none" cap="none" strike="noStrike">
              <a:solidFill>
                <a:schemeClr val="dk1"/>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700"/>
              <a:buFont typeface="Arial"/>
              <a:buNone/>
            </a:pPr>
            <a:r>
              <a:rPr b="1" i="0" lang="en-GB" sz="700" u="none" cap="none" strike="noStrike">
                <a:solidFill>
                  <a:schemeClr val="dk1"/>
                </a:solidFill>
                <a:latin typeface="Helvetica Neue"/>
                <a:ea typeface="Helvetica Neue"/>
                <a:cs typeface="Helvetica Neue"/>
                <a:sym typeface="Helvetica Neue"/>
              </a:rPr>
              <a:t>🚨 Slowest Resolution Times:</a:t>
            </a:r>
            <a:endParaRPr b="1" i="0" sz="700" u="none" cap="none" strike="noStrike">
              <a:solidFill>
                <a:schemeClr val="dk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Helvetica Neue"/>
              <a:ea typeface="Helvetica Neue"/>
              <a:cs typeface="Helvetica Neue"/>
              <a:sym typeface="Helvetica Neue"/>
            </a:endParaRPr>
          </a:p>
          <a:p>
            <a:pPr indent="-273050" lvl="0" marL="457200" marR="0" rtl="0" algn="l">
              <a:lnSpc>
                <a:spcPct val="100000"/>
              </a:lnSpc>
              <a:spcBef>
                <a:spcPts val="0"/>
              </a:spcBef>
              <a:spcAft>
                <a:spcPts val="0"/>
              </a:spcAft>
              <a:buClr>
                <a:schemeClr val="dk1"/>
              </a:buClr>
              <a:buSzPts val="700"/>
              <a:buFont typeface="Arial"/>
              <a:buChar char="●"/>
            </a:pPr>
            <a:r>
              <a:rPr b="1" i="0" lang="en-GB" sz="700" u="none" cap="none" strike="noStrike">
                <a:solidFill>
                  <a:schemeClr val="dk1"/>
                </a:solidFill>
                <a:latin typeface="Helvetica Neue"/>
                <a:ea typeface="Helvetica Neue"/>
                <a:cs typeface="Helvetica Neue"/>
                <a:sym typeface="Helvetica Neue"/>
              </a:rPr>
              <a:t>AG Autoworld Plentong (B&amp;P) – 23 days (Parts delay (bumper)</a:t>
            </a:r>
            <a:endParaRPr b="1" i="0" sz="700" u="none" cap="none" strike="noStrike">
              <a:solidFill>
                <a:schemeClr val="dk1"/>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700"/>
              <a:buFont typeface="Arial"/>
              <a:buNone/>
            </a:pPr>
            <a:r>
              <a:rPr b="1" i="0" lang="en-GB" sz="700" u="none" cap="none" strike="noStrike">
                <a:solidFill>
                  <a:schemeClr val="dk1"/>
                </a:solidFill>
                <a:latin typeface="Helvetica Neue"/>
                <a:ea typeface="Helvetica Neue"/>
                <a:cs typeface="Helvetica Neue"/>
                <a:sym typeface="Helvetica Neue"/>
              </a:rPr>
              <a:t>• </a:t>
            </a:r>
            <a:r>
              <a:rPr b="0" i="0" lang="en-GB" sz="700" u="none" cap="none" strike="noStrike">
                <a:solidFill>
                  <a:schemeClr val="dk1"/>
                </a:solidFill>
                <a:latin typeface="Helvetica Neue"/>
                <a:ea typeface="Helvetica Neue"/>
                <a:cs typeface="Helvetica Neue"/>
                <a:sym typeface="Helvetica Neue"/>
              </a:rPr>
              <a:t>Case resolution was prolonged due to delays in spare parts ordering caused by the implementation of the new B&amp;P Dealer Code and pending PRO-NET approval. Additional time was required while awaiting the customer's availability to schedule the repair after the part arrived.</a:t>
            </a:r>
            <a:endParaRPr b="0" i="0" sz="700" u="none" cap="none" strike="noStrike">
              <a:solidFill>
                <a:schemeClr val="dk1"/>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Helvetica Neue"/>
              <a:ea typeface="Helvetica Neue"/>
              <a:cs typeface="Helvetica Neue"/>
              <a:sym typeface="Helvetica Neue"/>
            </a:endParaRPr>
          </a:p>
          <a:p>
            <a:pPr indent="-273050" lvl="0" marL="457200" marR="0" rtl="0" algn="l">
              <a:lnSpc>
                <a:spcPct val="100000"/>
              </a:lnSpc>
              <a:spcBef>
                <a:spcPts val="0"/>
              </a:spcBef>
              <a:spcAft>
                <a:spcPts val="0"/>
              </a:spcAft>
              <a:buClr>
                <a:schemeClr val="dk1"/>
              </a:buClr>
              <a:buSzPts val="700"/>
              <a:buFont typeface="Arial"/>
              <a:buChar char="●"/>
            </a:pPr>
            <a:r>
              <a:rPr b="1" i="0" lang="en-GB" sz="700" u="none" cap="none" strike="noStrike">
                <a:solidFill>
                  <a:schemeClr val="dk1"/>
                </a:solidFill>
                <a:latin typeface="Helvetica Neue"/>
                <a:ea typeface="Helvetica Neue"/>
                <a:cs typeface="Helvetica Neue"/>
                <a:sym typeface="Helvetica Neue"/>
              </a:rPr>
              <a:t>EON Damansara – 18 days (Pending rebate refund)</a:t>
            </a:r>
            <a:endParaRPr b="1" i="0" sz="700" u="none" cap="none" strike="noStrike">
              <a:solidFill>
                <a:schemeClr val="dk1"/>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700"/>
              <a:buFont typeface="Arial"/>
              <a:buNone/>
            </a:pPr>
            <a:r>
              <a:rPr b="1" i="0" lang="en-GB" sz="700" u="none" cap="none" strike="noStrike">
                <a:solidFill>
                  <a:schemeClr val="dk1"/>
                </a:solidFill>
                <a:latin typeface="Helvetica Neue"/>
                <a:ea typeface="Helvetica Neue"/>
                <a:cs typeface="Helvetica Neue"/>
                <a:sym typeface="Helvetica Neue"/>
              </a:rPr>
              <a:t>• </a:t>
            </a:r>
            <a:r>
              <a:rPr b="0" i="0" lang="en-GB" sz="700" u="none" cap="none" strike="noStrike">
                <a:solidFill>
                  <a:schemeClr val="dk1"/>
                </a:solidFill>
                <a:latin typeface="Helvetica Neue"/>
                <a:ea typeface="Helvetica Neue"/>
                <a:cs typeface="Helvetica Neue"/>
                <a:sym typeface="Helvetica Neue"/>
              </a:rPr>
              <a:t>Case resolution was delayed due to awaiting dealer verification and confirmation of the Raya rebate refund. The vehicle registration plate issue was clarified to be under JPJ's jurisdiction and outside the dealer's authority.</a:t>
            </a:r>
            <a:endParaRPr b="1" i="0" sz="700" u="none" cap="none" strike="noStrike">
              <a:solidFill>
                <a:schemeClr val="dk1"/>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700"/>
              <a:buFont typeface="Arial"/>
              <a:buNone/>
            </a:pPr>
            <a:r>
              <a:t/>
            </a:r>
            <a:endParaRPr b="1" i="0" sz="700" u="none" cap="none" strike="noStrike">
              <a:solidFill>
                <a:schemeClr val="dk1"/>
              </a:solidFill>
              <a:latin typeface="Helvetica Neue"/>
              <a:ea typeface="Helvetica Neue"/>
              <a:cs typeface="Helvetica Neue"/>
              <a:sym typeface="Helvetica Neue"/>
            </a:endParaRPr>
          </a:p>
          <a:p>
            <a:pPr indent="-273050" lvl="0" marL="457200" marR="0" rtl="0" algn="l">
              <a:lnSpc>
                <a:spcPct val="100000"/>
              </a:lnSpc>
              <a:spcBef>
                <a:spcPts val="0"/>
              </a:spcBef>
              <a:spcAft>
                <a:spcPts val="0"/>
              </a:spcAft>
              <a:buClr>
                <a:schemeClr val="dk1"/>
              </a:buClr>
              <a:buSzPts val="700"/>
              <a:buFont typeface="Arial"/>
              <a:buChar char="●"/>
            </a:pPr>
            <a:r>
              <a:rPr b="1" i="0" lang="en-GB" sz="700" u="none" cap="none" strike="noStrike">
                <a:solidFill>
                  <a:schemeClr val="dk1"/>
                </a:solidFill>
                <a:latin typeface="Helvetica Neue"/>
                <a:ea typeface="Helvetica Neue"/>
                <a:cs typeface="Helvetica Neue"/>
                <a:sym typeface="Helvetica Neue"/>
              </a:rPr>
              <a:t>AKRR (Tebrau) / ACOTECH – 28 days (No QR scanner &amp; vehicle not sync with apps)</a:t>
            </a:r>
            <a:endParaRPr b="1" i="0" sz="700" u="none" cap="none" strike="noStrike">
              <a:solidFill>
                <a:schemeClr val="dk1"/>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Helvetica Neue"/>
                <a:ea typeface="Helvetica Neue"/>
                <a:cs typeface="Helvetica Neue"/>
                <a:sym typeface="Helvetica Neue"/>
              </a:rPr>
              <a:t>• Case resolution was delayed due to technical investigation by ACOTECH and repeated follow-up with the customer to verify the issue after troubleshooting. The case was eventually closed after no response was received from the customer.</a:t>
            </a:r>
            <a:endParaRPr b="0" i="0" sz="700" u="none" cap="none" strike="noStrike">
              <a:solidFill>
                <a:schemeClr val="dk1"/>
              </a:solidFill>
              <a:latin typeface="Helvetica Neue"/>
              <a:ea typeface="Helvetica Neue"/>
              <a:cs typeface="Helvetica Neue"/>
              <a:sym typeface="Helvetica Neue"/>
            </a:endParaRPr>
          </a:p>
        </p:txBody>
      </p:sp>
      <p:sp>
        <p:nvSpPr>
          <p:cNvPr id="381" name="Google Shape;381;p60"/>
          <p:cNvSpPr txBox="1"/>
          <p:nvPr/>
        </p:nvSpPr>
        <p:spPr>
          <a:xfrm>
            <a:off x="152400" y="90425"/>
            <a:ext cx="6097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900" u="none" cap="none" strike="noStrike">
                <a:solidFill>
                  <a:schemeClr val="dk1"/>
                </a:solidFill>
                <a:latin typeface="Helvetica Neue"/>
                <a:ea typeface="Helvetica Neue"/>
                <a:cs typeface="Helvetica Neue"/>
                <a:sym typeface="Helvetica Neue"/>
              </a:rPr>
              <a:t>Dealer Average Turnaround Time (Day) – </a:t>
            </a:r>
            <a:r>
              <a:rPr b="1" i="0" lang="en-GB" sz="1800" u="none" cap="none" strike="noStrike">
                <a:solidFill>
                  <a:schemeClr val="dk1"/>
                </a:solidFill>
                <a:latin typeface="Helvetica Neue"/>
                <a:ea typeface="Helvetica Neue"/>
                <a:cs typeface="Helvetica Neue"/>
                <a:sym typeface="Helvetica Neue"/>
              </a:rPr>
              <a:t>June 2026</a:t>
            </a:r>
            <a:endParaRPr b="1" i="0" sz="1800" u="none" cap="none" strike="noStrike">
              <a:solidFill>
                <a:schemeClr val="dk1"/>
              </a:solidFill>
              <a:latin typeface="Helvetica Neue"/>
              <a:ea typeface="Helvetica Neue"/>
              <a:cs typeface="Helvetica Neue"/>
              <a:sym typeface="Helvetica Neue"/>
            </a:endParaRPr>
          </a:p>
        </p:txBody>
      </p:sp>
      <p:cxnSp>
        <p:nvCxnSpPr>
          <p:cNvPr id="382" name="Google Shape;382;p60"/>
          <p:cNvCxnSpPr/>
          <p:nvPr/>
        </p:nvCxnSpPr>
        <p:spPr>
          <a:xfrm>
            <a:off x="108575" y="550158"/>
            <a:ext cx="7208100" cy="0"/>
          </a:xfrm>
          <a:prstGeom prst="straightConnector1">
            <a:avLst/>
          </a:prstGeom>
          <a:noFill/>
          <a:ln cap="flat" cmpd="sng" w="28575">
            <a:solidFill>
              <a:schemeClr val="accent2"/>
            </a:solidFill>
            <a:prstDash val="solid"/>
            <a:round/>
            <a:headEnd len="sm" w="sm" type="none"/>
            <a:tailEnd len="med" w="med" type="oval"/>
          </a:ln>
        </p:spPr>
      </p:cxnSp>
      <p:pic>
        <p:nvPicPr>
          <p:cNvPr id="383" name="Google Shape;383;p60" title="Chart"/>
          <p:cNvPicPr preferRelativeResize="0"/>
          <p:nvPr/>
        </p:nvPicPr>
        <p:blipFill rotWithShape="1">
          <a:blip r:embed="rId3">
            <a:alphaModFix/>
          </a:blip>
          <a:srcRect b="0" l="0" r="0" t="0"/>
          <a:stretch/>
        </p:blipFill>
        <p:spPr>
          <a:xfrm>
            <a:off x="1411775" y="719825"/>
            <a:ext cx="5615007" cy="26265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graphicFrame>
        <p:nvGraphicFramePr>
          <p:cNvPr id="388" name="Google Shape;388;p61"/>
          <p:cNvGraphicFramePr/>
          <p:nvPr/>
        </p:nvGraphicFramePr>
        <p:xfrm>
          <a:off x="98137" y="804164"/>
          <a:ext cx="3000000" cy="3000000"/>
        </p:xfrm>
        <a:graphic>
          <a:graphicData uri="http://schemas.openxmlformats.org/drawingml/2006/table">
            <a:tbl>
              <a:tblPr>
                <a:noFill/>
                <a:tableStyleId>{FA528319-6F98-4B39-B0ED-26271DCD7A62}</a:tableStyleId>
              </a:tblPr>
              <a:tblGrid>
                <a:gridCol w="258000"/>
                <a:gridCol w="1054050"/>
                <a:gridCol w="567750"/>
                <a:gridCol w="546600"/>
                <a:gridCol w="906850"/>
                <a:gridCol w="952425"/>
                <a:gridCol w="553550"/>
                <a:gridCol w="570525"/>
                <a:gridCol w="3538000"/>
              </a:tblGrid>
              <a:tr h="264425">
                <a:tc gridSpan="9">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Complaint </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FDCDC3"/>
                    </a:solidFill>
                  </a:tcPr>
                </a:tc>
                <a:tc hMerge="1"/>
                <a:tc hMerge="1"/>
                <a:tc hMerge="1"/>
                <a:tc hMerge="1"/>
                <a:tc hMerge="1"/>
                <a:tc hMerge="1"/>
                <a:tc hMerge="1"/>
                <a:tc hMerge="1"/>
              </a:tr>
              <a:tr h="33282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Case ID</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Case Division</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Concern</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Purchased From</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Escalated To</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Car Plate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Duration (Days)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Prolonged Duration Mainly Due To:</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550325">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080626-PROEV-32070</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Sales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Customer Experience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MBf EV Auto Sdn. Bhd. - Jalan Tun Razak</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MBf EV Auto Sdn. Bhd. - Jalan Tun Razak</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NA</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42</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Awaiting dealer's investigation and response regarding the customer's complaint.</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825">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150626-PROEV-32545</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After Sales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Warranty</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Wheelcorp EV Sdn. Bhd. - Setia Alam</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Wheelcorp EV Sdn. Bhd. - Setia Alam</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SJR8168</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35</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Awaiting dealer's confirmation on the warranty repair status following case reopening.</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825">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3</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190626-PROEV-32775</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Product</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Telematics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Proton e.MAS Kota Kinabalu - Fook Loi Eurocar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(ACOTECH)</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SS74L</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31</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Awaiting ACOTECH investigation and customer confirmation on app synchronisation issue.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825">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4</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210626-PROEV-32867</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Apps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Remote Control</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Proton e.MAS Kuantan - HK Electra </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(ACOTECH)</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CDX4545</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29</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Awaiting ACOTECH investigation and PRO-NET update on remote control issue.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825">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5</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240626-PROEV-33106</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After Sales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Technical</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Edaran Otomobil Nasional Sdn. Bhd. - Glenmarie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Edaran Otomobil Nasional Sdn. Bhd. - Glenmarie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BSC3866</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26</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Awaiting dealer's response regarding the customer's compensation request following repeated breakdowns.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825">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6</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300626-PROEV-33488</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Charging</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Home Charging Installation</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Proton e.MAS Puchong - AJG Mobility</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Proton New Energy Technology Sdn. Bhd. (Charging Team)</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MEE2788</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20</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Awaiting Charging Team's update on the wallbox installation rectification.</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cxnSp>
        <p:nvCxnSpPr>
          <p:cNvPr id="389" name="Google Shape;389;p61"/>
          <p:cNvCxnSpPr/>
          <p:nvPr/>
        </p:nvCxnSpPr>
        <p:spPr>
          <a:xfrm>
            <a:off x="108575" y="647346"/>
            <a:ext cx="7208100" cy="0"/>
          </a:xfrm>
          <a:prstGeom prst="straightConnector1">
            <a:avLst/>
          </a:prstGeom>
          <a:noFill/>
          <a:ln cap="flat" cmpd="sng" w="28575">
            <a:solidFill>
              <a:schemeClr val="accent2"/>
            </a:solidFill>
            <a:prstDash val="solid"/>
            <a:round/>
            <a:headEnd len="sm" w="sm" type="none"/>
            <a:tailEnd len="med" w="med" type="oval"/>
          </a:ln>
        </p:spPr>
      </p:cxnSp>
      <p:sp>
        <p:nvSpPr>
          <p:cNvPr id="390" name="Google Shape;390;p61"/>
          <p:cNvSpPr txBox="1"/>
          <p:nvPr/>
        </p:nvSpPr>
        <p:spPr>
          <a:xfrm>
            <a:off x="119567" y="215200"/>
            <a:ext cx="78672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900" u="none" cap="none" strike="noStrike">
                <a:solidFill>
                  <a:schemeClr val="dk1"/>
                </a:solidFill>
                <a:latin typeface="Helvetica Neue"/>
                <a:ea typeface="Helvetica Neue"/>
                <a:cs typeface="Helvetica Neue"/>
                <a:sym typeface="Helvetica Neue"/>
              </a:rPr>
              <a:t>WIP Case – June 2026 (Latest update was on 20 July)</a:t>
            </a:r>
            <a:endParaRPr b="1"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cxnSp>
        <p:nvCxnSpPr>
          <p:cNvPr id="395" name="Google Shape;395;p62"/>
          <p:cNvCxnSpPr/>
          <p:nvPr/>
        </p:nvCxnSpPr>
        <p:spPr>
          <a:xfrm>
            <a:off x="108575" y="647346"/>
            <a:ext cx="7208100" cy="0"/>
          </a:xfrm>
          <a:prstGeom prst="straightConnector1">
            <a:avLst/>
          </a:prstGeom>
          <a:noFill/>
          <a:ln cap="flat" cmpd="sng" w="28575">
            <a:solidFill>
              <a:schemeClr val="accent2"/>
            </a:solidFill>
            <a:prstDash val="solid"/>
            <a:round/>
            <a:headEnd len="sm" w="sm" type="none"/>
            <a:tailEnd len="med" w="med" type="oval"/>
          </a:ln>
        </p:spPr>
      </p:cxnSp>
      <p:sp>
        <p:nvSpPr>
          <p:cNvPr id="396" name="Google Shape;396;p62"/>
          <p:cNvSpPr txBox="1"/>
          <p:nvPr/>
        </p:nvSpPr>
        <p:spPr>
          <a:xfrm>
            <a:off x="119567" y="215200"/>
            <a:ext cx="78672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900" u="none" cap="none" strike="noStrike">
                <a:solidFill>
                  <a:schemeClr val="dk1"/>
                </a:solidFill>
                <a:latin typeface="Helvetica Neue"/>
                <a:ea typeface="Helvetica Neue"/>
                <a:cs typeface="Helvetica Neue"/>
                <a:sym typeface="Helvetica Neue"/>
              </a:rPr>
              <a:t>WIP Case – June 2026 (Latest update was on 20 July)</a:t>
            </a:r>
            <a:endParaRPr b="1" i="0" sz="1800" u="none" cap="none" strike="noStrike">
              <a:solidFill>
                <a:schemeClr val="dk1"/>
              </a:solidFill>
              <a:latin typeface="Helvetica Neue"/>
              <a:ea typeface="Helvetica Neue"/>
              <a:cs typeface="Helvetica Neue"/>
              <a:sym typeface="Helvetica Neue"/>
            </a:endParaRPr>
          </a:p>
        </p:txBody>
      </p:sp>
      <p:graphicFrame>
        <p:nvGraphicFramePr>
          <p:cNvPr id="397" name="Google Shape;397;p62"/>
          <p:cNvGraphicFramePr/>
          <p:nvPr/>
        </p:nvGraphicFramePr>
        <p:xfrm>
          <a:off x="119587" y="1037814"/>
          <a:ext cx="3000000" cy="3000000"/>
        </p:xfrm>
        <a:graphic>
          <a:graphicData uri="http://schemas.openxmlformats.org/drawingml/2006/table">
            <a:tbl>
              <a:tblPr>
                <a:noFill/>
                <a:tableStyleId>{FA528319-6F98-4B39-B0ED-26271DCD7A62}</a:tableStyleId>
              </a:tblPr>
              <a:tblGrid>
                <a:gridCol w="258000"/>
                <a:gridCol w="1054050"/>
                <a:gridCol w="488875"/>
                <a:gridCol w="743900"/>
                <a:gridCol w="877700"/>
                <a:gridCol w="1104000"/>
                <a:gridCol w="524400"/>
                <a:gridCol w="623025"/>
                <a:gridCol w="3273800"/>
              </a:tblGrid>
              <a:tr h="264425">
                <a:tc gridSpan="9">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Inquiry</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solidFill>
                      <a:srgbClr val="9FC5E8"/>
                    </a:solidFill>
                  </a:tcPr>
                </a:tc>
                <a:tc hMerge="1"/>
                <a:tc hMerge="1"/>
                <a:tc hMerge="1"/>
                <a:tc hMerge="1"/>
                <a:tc hMerge="1"/>
                <a:tc hMerge="1"/>
                <a:tc hMerge="1"/>
                <a:tc hMerge="1"/>
              </a:tr>
              <a:tr h="332825">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No.</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Case ID</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Case Division</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Concern</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Purchased From</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Escalated To</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Car Plate</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Duration (Days)</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b="1" lang="en-GB" sz="700" u="none" cap="none" strike="noStrike">
                          <a:solidFill>
                            <a:schemeClr val="dk1"/>
                          </a:solidFill>
                          <a:latin typeface="Helvetica Neue"/>
                          <a:ea typeface="Helvetica Neue"/>
                          <a:cs typeface="Helvetica Neue"/>
                          <a:sym typeface="Helvetica Neue"/>
                        </a:rPr>
                        <a:t>Prolonged Duration Mainly Due To:</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825">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1</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050626-PROEV-31789</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Sales</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Transfer Ownership</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NHL Auto Tech Sdn. Bhd. - Melaka</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Proton New Energy Technology Sdn. Bhd.</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BSH2345</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45</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latin typeface="Helvetica Neue"/>
                          <a:ea typeface="Helvetica Neue"/>
                          <a:cs typeface="Helvetica Neue"/>
                          <a:sym typeface="Helvetica Neue"/>
                        </a:rPr>
                        <a:t>Awaiting HQ (Rapheal) to process the transfer of ownership request.</a:t>
                      </a:r>
                      <a:endParaRPr sz="700" u="none" cap="none" strike="noStrike">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8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a:t>
                      </a:r>
                      <a:endParaRPr b="1"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050626-PROEV-31812</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Sales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Transfer Ownership</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Edaran Otomobil Nasional Sdn. Bhd. - Glenmarie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Edaran Otomobil Nasional Sdn. Bhd. - Glenmarie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BSH9098</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45</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Awaiting dealer to process the transfer of ownership and registered phone number update.</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r h="332825">
                <a:tc>
                  <a:txBody>
                    <a:bodyPr/>
                    <a:lstStyle/>
                    <a:p>
                      <a:pPr indent="0" lvl="0" marL="0" marR="0" rtl="0" algn="ctr">
                        <a:lnSpc>
                          <a:spcPct val="115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3</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250626-PROEV-33151</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Sales</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Transfer Ownership</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Eleganz Lifestyle Sdn. Bhd. - Jelutong</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Eleganz Lifestyle Sdn. Bhd. - Jelutong</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VRF6628</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25</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lang="en-GB" sz="700" u="none" cap="none" strike="noStrike">
                          <a:solidFill>
                            <a:schemeClr val="dk1"/>
                          </a:solidFill>
                          <a:latin typeface="Helvetica Neue"/>
                          <a:ea typeface="Helvetica Neue"/>
                          <a:cs typeface="Helvetica Neue"/>
                          <a:sym typeface="Helvetica Neue"/>
                        </a:rPr>
                        <a:t>Awaiting dealer to process the transfer of ownership request.</a:t>
                      </a:r>
                      <a:endParaRPr sz="700" u="none" cap="none" strike="noStrike">
                        <a:solidFill>
                          <a:schemeClr val="dk1"/>
                        </a:solidFill>
                        <a:latin typeface="Helvetica Neue"/>
                        <a:ea typeface="Helvetica Neue"/>
                        <a:cs typeface="Helvetica Neue"/>
                        <a:sym typeface="Helvetica Neue"/>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10575">
                      <a:solidFill>
                        <a:srgbClr val="000000"/>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63"/>
          <p:cNvSpPr txBox="1"/>
          <p:nvPr/>
        </p:nvSpPr>
        <p:spPr>
          <a:xfrm>
            <a:off x="95075" y="215550"/>
            <a:ext cx="786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Table of Contents</a:t>
            </a:r>
            <a:endParaRPr b="1" i="0" sz="1800" u="none" cap="none" strike="noStrike">
              <a:solidFill>
                <a:srgbClr val="FF0000"/>
              </a:solidFill>
              <a:latin typeface="Helvetica Neue"/>
              <a:ea typeface="Helvetica Neue"/>
              <a:cs typeface="Helvetica Neue"/>
              <a:sym typeface="Helvetica Neue"/>
            </a:endParaRPr>
          </a:p>
        </p:txBody>
      </p:sp>
      <p:sp>
        <p:nvSpPr>
          <p:cNvPr id="403" name="Google Shape;403;p63"/>
          <p:cNvSpPr txBox="1"/>
          <p:nvPr/>
        </p:nvSpPr>
        <p:spPr>
          <a:xfrm>
            <a:off x="211225" y="721115"/>
            <a:ext cx="7086600" cy="4027800"/>
          </a:xfrm>
          <a:prstGeom prst="rect">
            <a:avLst/>
          </a:prstGeom>
          <a:noFill/>
          <a:ln>
            <a:noFill/>
          </a:ln>
        </p:spPr>
        <p:txBody>
          <a:bodyPr anchorCtr="0" anchor="ctr" bIns="50800" lIns="50800" spcFirstLastPara="1" rIns="50800" wrap="square" tIns="50800">
            <a:spAutoFit/>
          </a:bodyPr>
          <a:lstStyle/>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Cases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Channel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Incoming Channel Performance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Incoming Calls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Calls Average Handling Time</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Concern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Inquiry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Complaint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Feedback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Dealer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Case Escalated To Dealers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Dealer Case Escalation Trends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Dealer Turnaround Time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Work In Progress (WIP) Cases </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dk1"/>
              </a:buClr>
              <a:buSzPts val="1500"/>
              <a:buFont typeface="Helvetica Neue"/>
              <a:buAutoNum type="arabicPeriod"/>
            </a:pPr>
            <a:r>
              <a:rPr b="1" i="0" lang="en-GB" sz="1500" u="none" cap="none" strike="noStrike">
                <a:solidFill>
                  <a:schemeClr val="dk1"/>
                </a:solidFill>
                <a:latin typeface="Helvetica Neue"/>
                <a:ea typeface="Helvetica Neue"/>
                <a:cs typeface="Helvetica Neue"/>
                <a:sym typeface="Helvetica Neue"/>
              </a:rPr>
              <a:t>RSA Analysis</a:t>
            </a:r>
            <a:endParaRPr b="1" i="0" sz="1500" u="none" cap="none" strike="noStrike">
              <a:solidFill>
                <a:schemeClr val="dk1"/>
              </a:solidFill>
              <a:latin typeface="Helvetica Neue"/>
              <a:ea typeface="Helvetica Neue"/>
              <a:cs typeface="Helvetica Neue"/>
              <a:sym typeface="Helvetica Neue"/>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dk1"/>
                </a:solidFill>
                <a:latin typeface="Helvetica Neue Light"/>
                <a:ea typeface="Helvetica Neue Light"/>
                <a:cs typeface="Helvetica Neue Light"/>
                <a:sym typeface="Helvetica Neue Light"/>
              </a:rPr>
              <a:t>- RSA Call Analysis</a:t>
            </a:r>
            <a:endParaRPr b="0" i="0" sz="1500" u="none" cap="none" strike="noStrike">
              <a:solidFill>
                <a:schemeClr val="dk1"/>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Summary</a:t>
            </a:r>
            <a:endParaRPr b="1" i="0" sz="1500" u="none" cap="none" strike="noStrike">
              <a:solidFill>
                <a:schemeClr val="accent6"/>
              </a:solidFill>
              <a:latin typeface="Helvetica Neue"/>
              <a:ea typeface="Helvetica Neue"/>
              <a:cs typeface="Helvetica Neue"/>
              <a:sym typeface="Helvetica Neue"/>
            </a:endParaRPr>
          </a:p>
        </p:txBody>
      </p:sp>
      <p:cxnSp>
        <p:nvCxnSpPr>
          <p:cNvPr id="404" name="Google Shape;404;p63"/>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4"/>
          <p:cNvSpPr txBox="1"/>
          <p:nvPr/>
        </p:nvSpPr>
        <p:spPr>
          <a:xfrm>
            <a:off x="3802651" y="2453949"/>
            <a:ext cx="4926600" cy="1037100"/>
          </a:xfrm>
          <a:prstGeom prst="rect">
            <a:avLst/>
          </a:prstGeom>
          <a:noFill/>
          <a:ln>
            <a:noFill/>
          </a:ln>
        </p:spPr>
        <p:txBody>
          <a:bodyPr anchorCtr="0" anchor="ctr" bIns="31875" lIns="31875" spcFirstLastPara="1" rIns="31875" wrap="square" tIns="31875">
            <a:spAutoFit/>
          </a:bodyPr>
          <a:lstStyle/>
          <a:p>
            <a:pPr indent="0" lvl="0" marL="0" marR="0" rtl="0" algn="just">
              <a:lnSpc>
                <a:spcPct val="115000"/>
              </a:lnSpc>
              <a:spcBef>
                <a:spcPts val="0"/>
              </a:spcBef>
              <a:spcAft>
                <a:spcPts val="0"/>
              </a:spcAft>
              <a:buClr>
                <a:srgbClr val="141414"/>
              </a:buClr>
              <a:buSzPts val="900"/>
              <a:buFont typeface="Helvetica Neue Light"/>
              <a:buNone/>
            </a:pPr>
            <a:r>
              <a:rPr b="1" i="0" lang="en-GB" sz="800" u="none" cap="none" strike="noStrike">
                <a:solidFill>
                  <a:schemeClr val="dk1"/>
                </a:solidFill>
                <a:latin typeface="Helvetica Neue"/>
                <a:ea typeface="Helvetica Neue"/>
                <a:cs typeface="Helvetica Neue"/>
                <a:sym typeface="Helvetica Neue"/>
              </a:rPr>
              <a:t>June RSA Call Performance:</a:t>
            </a:r>
            <a:endParaRPr b="1" i="0" sz="800" u="none" cap="none" strike="noStrike">
              <a:solidFill>
                <a:schemeClr val="dk1"/>
              </a:solidFill>
              <a:latin typeface="Helvetica Neue"/>
              <a:ea typeface="Helvetica Neue"/>
              <a:cs typeface="Helvetica Neue"/>
              <a:sym typeface="Helvetica Neue"/>
            </a:endParaRPr>
          </a:p>
          <a:p>
            <a:pPr indent="0" lvl="0" marL="0" marR="0" rtl="0" algn="just">
              <a:lnSpc>
                <a:spcPct val="115000"/>
              </a:lnSpc>
              <a:spcBef>
                <a:spcPts val="0"/>
              </a:spcBef>
              <a:spcAft>
                <a:spcPts val="0"/>
              </a:spcAft>
              <a:buClr>
                <a:srgbClr val="000000"/>
              </a:buClr>
              <a:buSzPts val="900"/>
              <a:buFont typeface="Helvetica Neue Light"/>
              <a:buNone/>
            </a:pPr>
            <a:r>
              <a:t/>
            </a:r>
            <a:endParaRPr b="0" i="0" sz="800" u="none" cap="none" strike="noStrike">
              <a:solidFill>
                <a:schemeClr val="dk1"/>
              </a:solidFill>
              <a:latin typeface="Helvetica Neue Light"/>
              <a:ea typeface="Helvetica Neue Light"/>
              <a:cs typeface="Helvetica Neue Light"/>
              <a:sym typeface="Helvetica Neue Light"/>
            </a:endParaRPr>
          </a:p>
          <a:p>
            <a:pPr indent="0" lvl="0" marL="0" marR="0" rtl="0" algn="just">
              <a:lnSpc>
                <a:spcPct val="115000"/>
              </a:lnSpc>
              <a:spcBef>
                <a:spcPts val="0"/>
              </a:spcBef>
              <a:spcAft>
                <a:spcPts val="0"/>
              </a:spcAft>
              <a:buClr>
                <a:srgbClr val="000000"/>
              </a:buClr>
              <a:buSzPts val="900"/>
              <a:buFont typeface="Helvetica Neue Light"/>
              <a:buNone/>
            </a:pPr>
            <a:r>
              <a:rPr b="0" i="0" lang="en-GB" sz="800" u="none" cap="none" strike="noStrike">
                <a:solidFill>
                  <a:schemeClr val="dk1"/>
                </a:solidFill>
                <a:latin typeface="Helvetica Neue Light"/>
                <a:ea typeface="Helvetica Neue Light"/>
                <a:cs typeface="Helvetica Neue Light"/>
                <a:sym typeface="Helvetica Neue Light"/>
              </a:rPr>
              <a:t>In June, there is </a:t>
            </a:r>
            <a:r>
              <a:rPr b="1" i="0" lang="en-GB" sz="800" u="none" cap="none" strike="noStrike">
                <a:solidFill>
                  <a:schemeClr val="dk1"/>
                </a:solidFill>
                <a:latin typeface="Helvetica Neue"/>
                <a:ea typeface="Helvetica Neue"/>
                <a:cs typeface="Helvetica Neue"/>
                <a:sym typeface="Helvetica Neue"/>
              </a:rPr>
              <a:t>no </a:t>
            </a:r>
            <a:r>
              <a:rPr b="0" i="0" lang="en-GB" sz="800" u="none" cap="none" strike="noStrike">
                <a:solidFill>
                  <a:schemeClr val="dk1"/>
                </a:solidFill>
                <a:latin typeface="Helvetica Neue Light"/>
                <a:ea typeface="Helvetica Neue Light"/>
                <a:cs typeface="Helvetica Neue Light"/>
                <a:sym typeface="Helvetica Neue Light"/>
              </a:rPr>
              <a:t>abandon call. </a:t>
            </a:r>
            <a:endParaRPr b="0" i="0" sz="800" u="none" cap="none" strike="noStrike">
              <a:solidFill>
                <a:schemeClr val="dk1"/>
              </a:solidFill>
              <a:latin typeface="Helvetica Neue Light"/>
              <a:ea typeface="Helvetica Neue Light"/>
              <a:cs typeface="Helvetica Neue Light"/>
              <a:sym typeface="Helvetica Neue Light"/>
            </a:endParaRPr>
          </a:p>
          <a:p>
            <a:pPr indent="0" lvl="0" marL="0" marR="0" rtl="0" algn="just">
              <a:lnSpc>
                <a:spcPct val="115000"/>
              </a:lnSpc>
              <a:spcBef>
                <a:spcPts val="0"/>
              </a:spcBef>
              <a:spcAft>
                <a:spcPts val="0"/>
              </a:spcAft>
              <a:buClr>
                <a:srgbClr val="000000"/>
              </a:buClr>
              <a:buSzPts val="900"/>
              <a:buFont typeface="Helvetica Neue Light"/>
              <a:buNone/>
            </a:pPr>
            <a:r>
              <a:t/>
            </a:r>
            <a:endParaRPr b="0" i="0" sz="800" u="none" cap="none" strike="noStrike">
              <a:solidFill>
                <a:srgbClr val="FF0000"/>
              </a:solidFill>
              <a:latin typeface="Helvetica Neue Light"/>
              <a:ea typeface="Helvetica Neue Light"/>
              <a:cs typeface="Helvetica Neue Light"/>
              <a:sym typeface="Helvetica Neue Light"/>
            </a:endParaRPr>
          </a:p>
          <a:p>
            <a:pPr indent="0" lvl="0" marL="0" marR="0" rtl="0" algn="just">
              <a:lnSpc>
                <a:spcPct val="115000"/>
              </a:lnSpc>
              <a:spcBef>
                <a:spcPts val="0"/>
              </a:spcBef>
              <a:spcAft>
                <a:spcPts val="0"/>
              </a:spcAft>
              <a:buClr>
                <a:srgbClr val="000000"/>
              </a:buClr>
              <a:buSzPts val="900"/>
              <a:buFont typeface="Helvetica Neue Light"/>
              <a:buNone/>
            </a:pPr>
            <a:r>
              <a:rPr b="0" i="0" lang="en-GB" sz="800" u="none" cap="none" strike="noStrike">
                <a:solidFill>
                  <a:schemeClr val="dk1"/>
                </a:solidFill>
                <a:latin typeface="Helvetica Neue Light"/>
                <a:ea typeface="Helvetica Neue Light"/>
                <a:cs typeface="Helvetica Neue Light"/>
                <a:sym typeface="Helvetica Neue Light"/>
              </a:rPr>
              <a:t>Out of </a:t>
            </a:r>
            <a:r>
              <a:rPr b="1" i="0" lang="en-GB" sz="800" u="none" cap="none" strike="noStrike">
                <a:solidFill>
                  <a:schemeClr val="dk1"/>
                </a:solidFill>
                <a:latin typeface="Helvetica Neue"/>
                <a:ea typeface="Helvetica Neue"/>
                <a:cs typeface="Helvetica Neue"/>
                <a:sym typeface="Helvetica Neue"/>
              </a:rPr>
              <a:t>124 </a:t>
            </a:r>
            <a:r>
              <a:rPr b="0" i="0" lang="en-GB" sz="800" u="none" cap="none" strike="noStrike">
                <a:solidFill>
                  <a:schemeClr val="dk1"/>
                </a:solidFill>
                <a:latin typeface="Helvetica Neue Light"/>
                <a:ea typeface="Helvetica Neue Light"/>
                <a:cs typeface="Helvetica Neue Light"/>
                <a:sym typeface="Helvetica Neue Light"/>
              </a:rPr>
              <a:t>received calls, there were</a:t>
            </a:r>
            <a:r>
              <a:rPr b="0" i="0" lang="en-GB" sz="800" u="none" cap="none" strike="noStrike">
                <a:solidFill>
                  <a:schemeClr val="dk1"/>
                </a:solidFill>
                <a:latin typeface="Helvetica Neue"/>
                <a:ea typeface="Helvetica Neue"/>
                <a:cs typeface="Helvetica Neue"/>
                <a:sym typeface="Helvetica Neue"/>
              </a:rPr>
              <a:t> </a:t>
            </a:r>
            <a:r>
              <a:rPr b="1" i="0" lang="en-GB" sz="800" u="none" cap="none" strike="noStrike">
                <a:solidFill>
                  <a:schemeClr val="dk1"/>
                </a:solidFill>
                <a:latin typeface="Helvetica Neue"/>
                <a:ea typeface="Helvetica Neue"/>
                <a:cs typeface="Helvetica Neue"/>
                <a:sym typeface="Helvetica Neue"/>
              </a:rPr>
              <a:t>59 </a:t>
            </a:r>
            <a:r>
              <a:rPr b="0" i="0" lang="en-GB" sz="800" u="none" cap="none" strike="noStrike">
                <a:solidFill>
                  <a:schemeClr val="dk1"/>
                </a:solidFill>
                <a:latin typeface="Helvetica Neue Light"/>
                <a:ea typeface="Helvetica Neue Light"/>
                <a:cs typeface="Helvetica Neue Light"/>
                <a:sym typeface="Helvetica Neue Light"/>
              </a:rPr>
              <a:t>RSA cases in June. </a:t>
            </a:r>
            <a:endParaRPr b="0" i="0" sz="800" u="none" cap="none" strike="noStrike">
              <a:solidFill>
                <a:schemeClr val="dk1"/>
              </a:solidFill>
              <a:latin typeface="Helvetica Neue Light"/>
              <a:ea typeface="Helvetica Neue Light"/>
              <a:cs typeface="Helvetica Neue Light"/>
              <a:sym typeface="Helvetica Neue Light"/>
            </a:endParaRPr>
          </a:p>
          <a:p>
            <a:pPr indent="-279400" lvl="0" marL="457200" marR="0" rtl="0" algn="just">
              <a:lnSpc>
                <a:spcPct val="115000"/>
              </a:lnSpc>
              <a:spcBef>
                <a:spcPts val="0"/>
              </a:spcBef>
              <a:spcAft>
                <a:spcPts val="0"/>
              </a:spcAft>
              <a:buClr>
                <a:schemeClr val="dk1"/>
              </a:buClr>
              <a:buSzPts val="800"/>
              <a:buFont typeface="Helvetica Neue Light"/>
              <a:buChar char="●"/>
            </a:pPr>
            <a:r>
              <a:rPr b="0" i="0" lang="en-GB" sz="800" u="none" cap="none" strike="noStrike">
                <a:solidFill>
                  <a:schemeClr val="dk1"/>
                </a:solidFill>
                <a:latin typeface="Helvetica Neue Light"/>
                <a:ea typeface="Helvetica Neue Light"/>
                <a:cs typeface="Helvetica Neue Light"/>
                <a:sym typeface="Helvetica Neue Light"/>
              </a:rPr>
              <a:t>The remaining RSA calls were general inquiries, and customers were informed to select the correct extension to be connected to the PeC.</a:t>
            </a:r>
            <a:endParaRPr b="0" i="0" sz="800" u="none" cap="none" strike="noStrike">
              <a:solidFill>
                <a:schemeClr val="dk1"/>
              </a:solidFill>
              <a:latin typeface="Helvetica Neue Light"/>
              <a:ea typeface="Helvetica Neue Light"/>
              <a:cs typeface="Helvetica Neue Light"/>
              <a:sym typeface="Helvetica Neue Light"/>
            </a:endParaRPr>
          </a:p>
        </p:txBody>
      </p:sp>
      <p:graphicFrame>
        <p:nvGraphicFramePr>
          <p:cNvPr id="410" name="Google Shape;410;p64"/>
          <p:cNvGraphicFramePr/>
          <p:nvPr/>
        </p:nvGraphicFramePr>
        <p:xfrm>
          <a:off x="3649463" y="1143789"/>
          <a:ext cx="3000000" cy="3000000"/>
        </p:xfrm>
        <a:graphic>
          <a:graphicData uri="http://schemas.openxmlformats.org/drawingml/2006/table">
            <a:tbl>
              <a:tblPr bandRow="1" firstRow="1">
                <a:noFill/>
                <a:tableStyleId>{F1084519-4279-44A9-911C-BBCF0D6E2461}</a:tableStyleId>
              </a:tblPr>
              <a:tblGrid>
                <a:gridCol w="626125"/>
                <a:gridCol w="885725"/>
                <a:gridCol w="944875"/>
                <a:gridCol w="881900"/>
                <a:gridCol w="944875"/>
                <a:gridCol w="944875"/>
              </a:tblGrid>
              <a:tr h="451325">
                <a:tc>
                  <a:txBody>
                    <a:bodyPr/>
                    <a:lstStyle/>
                    <a:p>
                      <a:pPr indent="0" lvl="0" marL="0" marR="0" rtl="0" algn="ctr">
                        <a:lnSpc>
                          <a:spcPct val="100000"/>
                        </a:lnSpc>
                        <a:spcBef>
                          <a:spcPts val="0"/>
                        </a:spcBef>
                        <a:spcAft>
                          <a:spcPts val="0"/>
                        </a:spcAft>
                        <a:buClr>
                          <a:srgbClr val="141414"/>
                        </a:buClr>
                        <a:buSzPts val="800"/>
                        <a:buFont typeface="Helvetica Neue Light"/>
                        <a:buNone/>
                      </a:pPr>
                      <a:r>
                        <a:rPr lang="en-GB" sz="800" u="none" cap="none" strike="noStrike">
                          <a:solidFill>
                            <a:schemeClr val="dk1"/>
                          </a:solidFill>
                          <a:latin typeface="Helvetica Neue"/>
                          <a:ea typeface="Helvetica Neue"/>
                          <a:cs typeface="Helvetica Neue"/>
                          <a:sym typeface="Helvetica Neue"/>
                        </a:rPr>
                        <a:t>Month</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B7BBC1"/>
                    </a:solidFill>
                  </a:tcPr>
                </a:tc>
                <a:tc>
                  <a:txBody>
                    <a:bodyPr/>
                    <a:lstStyle/>
                    <a:p>
                      <a:pPr indent="0" lvl="0" marL="0" marR="0" rtl="0" algn="ctr">
                        <a:lnSpc>
                          <a:spcPct val="100000"/>
                        </a:lnSpc>
                        <a:spcBef>
                          <a:spcPts val="0"/>
                        </a:spcBef>
                        <a:spcAft>
                          <a:spcPts val="0"/>
                        </a:spcAft>
                        <a:buClr>
                          <a:srgbClr val="141414"/>
                        </a:buClr>
                        <a:buSzPts val="800"/>
                        <a:buFont typeface="Helvetica Neue Light"/>
                        <a:buNone/>
                      </a:pPr>
                      <a:r>
                        <a:rPr lang="en-GB" sz="800" u="none" cap="none" strike="noStrike">
                          <a:solidFill>
                            <a:schemeClr val="dk1"/>
                          </a:solidFill>
                          <a:latin typeface="Helvetica Neue"/>
                          <a:ea typeface="Helvetica Neue"/>
                          <a:cs typeface="Helvetica Neue"/>
                          <a:sym typeface="Helvetica Neue"/>
                        </a:rPr>
                        <a:t>Total Number Of Incoming Calls</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B7BBC1"/>
                    </a:solidFill>
                  </a:tcPr>
                </a:tc>
                <a:tc>
                  <a:txBody>
                    <a:bodyPr/>
                    <a:lstStyle/>
                    <a:p>
                      <a:pPr indent="0" lvl="0" marL="0" marR="0" rtl="0" algn="ctr">
                        <a:lnSpc>
                          <a:spcPct val="100000"/>
                        </a:lnSpc>
                        <a:spcBef>
                          <a:spcPts val="0"/>
                        </a:spcBef>
                        <a:spcAft>
                          <a:spcPts val="0"/>
                        </a:spcAft>
                        <a:buClr>
                          <a:srgbClr val="141414"/>
                        </a:buClr>
                        <a:buSzPts val="800"/>
                        <a:buFont typeface="Helvetica Neue Light"/>
                        <a:buNone/>
                      </a:pPr>
                      <a:r>
                        <a:rPr lang="en-GB" sz="800" u="none" cap="none" strike="noStrike">
                          <a:solidFill>
                            <a:schemeClr val="dk1"/>
                          </a:solidFill>
                          <a:latin typeface="Helvetica Neue"/>
                          <a:ea typeface="Helvetica Neue"/>
                          <a:cs typeface="Helvetica Neue"/>
                          <a:sym typeface="Helvetica Neue"/>
                        </a:rPr>
                        <a:t>Total Number Of Calls Answer</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B7BBC1"/>
                    </a:solidFill>
                  </a:tcPr>
                </a:tc>
                <a:tc>
                  <a:txBody>
                    <a:bodyPr/>
                    <a:lstStyle/>
                    <a:p>
                      <a:pPr indent="0" lvl="0" marL="0" marR="0" rtl="0" algn="ctr">
                        <a:lnSpc>
                          <a:spcPct val="100000"/>
                        </a:lnSpc>
                        <a:spcBef>
                          <a:spcPts val="0"/>
                        </a:spcBef>
                        <a:spcAft>
                          <a:spcPts val="0"/>
                        </a:spcAft>
                        <a:buClr>
                          <a:srgbClr val="141414"/>
                        </a:buClr>
                        <a:buSzPts val="800"/>
                        <a:buFont typeface="Helvetica Neue Light"/>
                        <a:buNone/>
                      </a:pPr>
                      <a:r>
                        <a:rPr lang="en-GB" sz="800" u="none" cap="none" strike="noStrike">
                          <a:solidFill>
                            <a:schemeClr val="dk1"/>
                          </a:solidFill>
                          <a:latin typeface="Helvetica Neue"/>
                          <a:ea typeface="Helvetica Neue"/>
                          <a:cs typeface="Helvetica Neue"/>
                          <a:sym typeface="Helvetica Neue"/>
                        </a:rPr>
                        <a:t>Total Number Of Calls Abandoned</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B7BBC1"/>
                    </a:solidFill>
                  </a:tcPr>
                </a:tc>
                <a:tc>
                  <a:txBody>
                    <a:bodyPr/>
                    <a:lstStyle/>
                    <a:p>
                      <a:pPr indent="0" lvl="0" marL="0" marR="0" rtl="0" algn="ctr">
                        <a:lnSpc>
                          <a:spcPct val="100000"/>
                        </a:lnSpc>
                        <a:spcBef>
                          <a:spcPts val="0"/>
                        </a:spcBef>
                        <a:spcAft>
                          <a:spcPts val="0"/>
                        </a:spcAft>
                        <a:buClr>
                          <a:srgbClr val="141414"/>
                        </a:buClr>
                        <a:buSzPts val="800"/>
                        <a:buFont typeface="Helvetica Neue Light"/>
                        <a:buNone/>
                      </a:pPr>
                      <a:r>
                        <a:rPr lang="en-GB" sz="800" u="none" cap="none" strike="noStrike">
                          <a:solidFill>
                            <a:schemeClr val="dk1"/>
                          </a:solidFill>
                          <a:latin typeface="Helvetica Neue"/>
                          <a:ea typeface="Helvetica Neue"/>
                          <a:cs typeface="Helvetica Neue"/>
                          <a:sym typeface="Helvetica Neue"/>
                        </a:rPr>
                        <a:t>Total Number Of Calls Answered Within 20 Seconds</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B7BBC1"/>
                    </a:solidFill>
                  </a:tcPr>
                </a:tc>
                <a:tc>
                  <a:txBody>
                    <a:bodyPr/>
                    <a:lstStyle/>
                    <a:p>
                      <a:pPr indent="0" lvl="0" marL="0" marR="0" rtl="0" algn="ctr">
                        <a:lnSpc>
                          <a:spcPct val="100000"/>
                        </a:lnSpc>
                        <a:spcBef>
                          <a:spcPts val="0"/>
                        </a:spcBef>
                        <a:spcAft>
                          <a:spcPts val="0"/>
                        </a:spcAft>
                        <a:buClr>
                          <a:srgbClr val="141414"/>
                        </a:buClr>
                        <a:buSzPts val="800"/>
                        <a:buFont typeface="Helvetica Neue Light"/>
                        <a:buNone/>
                      </a:pPr>
                      <a:r>
                        <a:rPr lang="en-GB" sz="800" u="none" cap="none" strike="noStrike">
                          <a:solidFill>
                            <a:schemeClr val="dk1"/>
                          </a:solidFill>
                          <a:latin typeface="Helvetica Neue"/>
                          <a:ea typeface="Helvetica Neue"/>
                          <a:cs typeface="Helvetica Neue"/>
                          <a:sym typeface="Helvetica Neue"/>
                        </a:rPr>
                        <a:t>% Calls Answered Within 20 Seconds</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B7BBC1"/>
                    </a:solidFill>
                  </a:tcPr>
                </a:tc>
              </a:tr>
              <a:tr h="270225">
                <a:tc>
                  <a:txBody>
                    <a:bodyPr/>
                    <a:lstStyle/>
                    <a:p>
                      <a:pPr indent="0" lvl="0" marL="0" marR="0" rtl="0" algn="ctr">
                        <a:lnSpc>
                          <a:spcPct val="100000"/>
                        </a:lnSpc>
                        <a:spcBef>
                          <a:spcPts val="0"/>
                        </a:spcBef>
                        <a:spcAft>
                          <a:spcPts val="0"/>
                        </a:spcAft>
                        <a:buClr>
                          <a:srgbClr val="141414"/>
                        </a:buClr>
                        <a:buSzPts val="900"/>
                        <a:buFont typeface="Helvetica Neue Light"/>
                        <a:buNone/>
                      </a:pPr>
                      <a:r>
                        <a:rPr lang="en-GB" sz="800" u="none" cap="none" strike="noStrike">
                          <a:solidFill>
                            <a:schemeClr val="dk1"/>
                          </a:solidFill>
                          <a:latin typeface="Helvetica Neue"/>
                          <a:ea typeface="Helvetica Neue"/>
                          <a:cs typeface="Helvetica Neue"/>
                          <a:sym typeface="Helvetica Neue"/>
                        </a:rPr>
                        <a:t>June </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141414"/>
                        </a:buClr>
                        <a:buSzPts val="900"/>
                        <a:buFont typeface="Helvetica Neue Light"/>
                        <a:buNone/>
                      </a:pPr>
                      <a:r>
                        <a:rPr lang="en-GB" sz="800" u="none" cap="none" strike="noStrike">
                          <a:solidFill>
                            <a:schemeClr val="dk1"/>
                          </a:solidFill>
                          <a:latin typeface="Helvetica Neue"/>
                          <a:ea typeface="Helvetica Neue"/>
                          <a:cs typeface="Helvetica Neue"/>
                          <a:sym typeface="Helvetica Neue"/>
                        </a:rPr>
                        <a:t>124</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chemeClr val="dk1"/>
                        </a:buClr>
                        <a:buSzPts val="900"/>
                        <a:buFont typeface="Helvetica Neue Light"/>
                        <a:buNone/>
                      </a:pPr>
                      <a:r>
                        <a:rPr lang="en-GB" sz="800" u="none" cap="none" strike="noStrike">
                          <a:solidFill>
                            <a:schemeClr val="dk1"/>
                          </a:solidFill>
                          <a:latin typeface="Helvetica Neue"/>
                          <a:ea typeface="Helvetica Neue"/>
                          <a:cs typeface="Helvetica Neue"/>
                          <a:sym typeface="Helvetica Neue"/>
                        </a:rPr>
                        <a:t>124</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141414"/>
                        </a:buClr>
                        <a:buSzPts val="900"/>
                        <a:buFont typeface="Helvetica Neue Light"/>
                        <a:buNone/>
                      </a:pPr>
                      <a:r>
                        <a:rPr lang="en-GB" sz="800" u="none" cap="none" strike="noStrike">
                          <a:solidFill>
                            <a:schemeClr val="dk1"/>
                          </a:solidFill>
                          <a:latin typeface="Helvetica Neue"/>
                          <a:ea typeface="Helvetica Neue"/>
                          <a:cs typeface="Helvetica Neue"/>
                          <a:sym typeface="Helvetica Neue"/>
                        </a:rPr>
                        <a:t>0</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141414"/>
                        </a:buClr>
                        <a:buSzPts val="900"/>
                        <a:buFont typeface="Helvetica Neue Light"/>
                        <a:buNone/>
                      </a:pPr>
                      <a:r>
                        <a:rPr lang="en-GB" sz="800" u="none" cap="none" strike="noStrike">
                          <a:solidFill>
                            <a:schemeClr val="dk1"/>
                          </a:solidFill>
                          <a:latin typeface="Helvetica Neue"/>
                          <a:ea typeface="Helvetica Neue"/>
                          <a:cs typeface="Helvetica Neue"/>
                          <a:sym typeface="Helvetica Neue"/>
                        </a:rPr>
                        <a:t>124</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F2F2F2"/>
                    </a:solidFill>
                  </a:tcPr>
                </a:tc>
                <a:tc>
                  <a:txBody>
                    <a:bodyPr/>
                    <a:lstStyle/>
                    <a:p>
                      <a:pPr indent="0" lvl="0" marL="0" marR="0" rtl="0" algn="ctr">
                        <a:lnSpc>
                          <a:spcPct val="100000"/>
                        </a:lnSpc>
                        <a:spcBef>
                          <a:spcPts val="0"/>
                        </a:spcBef>
                        <a:spcAft>
                          <a:spcPts val="0"/>
                        </a:spcAft>
                        <a:buClr>
                          <a:srgbClr val="141414"/>
                        </a:buClr>
                        <a:buSzPts val="900"/>
                        <a:buFont typeface="Helvetica Neue Light"/>
                        <a:buNone/>
                      </a:pPr>
                      <a:r>
                        <a:rPr lang="en-GB" sz="800" u="none" cap="none" strike="noStrike">
                          <a:solidFill>
                            <a:schemeClr val="dk1"/>
                          </a:solidFill>
                          <a:latin typeface="Helvetica Neue"/>
                          <a:ea typeface="Helvetica Neue"/>
                          <a:cs typeface="Helvetica Neue"/>
                          <a:sym typeface="Helvetica Neue"/>
                        </a:rPr>
                        <a:t>100%</a:t>
                      </a:r>
                      <a:endParaRPr sz="800" u="none" cap="none" strike="noStrike">
                        <a:solidFill>
                          <a:schemeClr val="dk1"/>
                        </a:solidFill>
                        <a:latin typeface="Helvetica Neue"/>
                        <a:ea typeface="Helvetica Neue"/>
                        <a:cs typeface="Helvetica Neue"/>
                        <a:sym typeface="Helvetica Neue"/>
                      </a:endParaRPr>
                    </a:p>
                  </a:txBody>
                  <a:tcPr marT="24100" marB="24100" marR="64300" marL="64300" anchor="ctr">
                    <a:lnL cap="flat" cmpd="sng" w="9525">
                      <a:solidFill>
                        <a:srgbClr val="141414"/>
                      </a:solidFill>
                      <a:prstDash val="solid"/>
                      <a:round/>
                      <a:headEnd len="sm" w="sm" type="none"/>
                      <a:tailEnd len="sm" w="sm" type="none"/>
                    </a:lnL>
                    <a:lnR cap="flat" cmpd="sng" w="9525">
                      <a:solidFill>
                        <a:srgbClr val="141414"/>
                      </a:solidFill>
                      <a:prstDash val="solid"/>
                      <a:round/>
                      <a:headEnd len="sm" w="sm" type="none"/>
                      <a:tailEnd len="sm" w="sm" type="none"/>
                    </a:lnR>
                    <a:lnT cap="flat" cmpd="sng" w="9525">
                      <a:solidFill>
                        <a:srgbClr val="141414"/>
                      </a:solidFill>
                      <a:prstDash val="solid"/>
                      <a:round/>
                      <a:headEnd len="sm" w="sm" type="none"/>
                      <a:tailEnd len="sm" w="sm" type="none"/>
                    </a:lnT>
                    <a:lnB cap="flat" cmpd="sng" w="9525">
                      <a:solidFill>
                        <a:srgbClr val="141414"/>
                      </a:solidFill>
                      <a:prstDash val="solid"/>
                      <a:round/>
                      <a:headEnd len="sm" w="sm" type="none"/>
                      <a:tailEnd len="sm" w="sm" type="none"/>
                    </a:lnB>
                    <a:solidFill>
                      <a:srgbClr val="F2F2F2"/>
                    </a:solidFill>
                  </a:tcPr>
                </a:tc>
              </a:tr>
            </a:tbl>
          </a:graphicData>
        </a:graphic>
      </p:graphicFrame>
      <p:sp>
        <p:nvSpPr>
          <p:cNvPr id="411" name="Google Shape;411;p64"/>
          <p:cNvSpPr txBox="1"/>
          <p:nvPr/>
        </p:nvSpPr>
        <p:spPr>
          <a:xfrm>
            <a:off x="133800" y="178050"/>
            <a:ext cx="41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41414"/>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 RSA Case Analysis – June 2026</a:t>
            </a:r>
            <a:endParaRPr b="1" i="0" sz="1800" u="none" cap="none" strike="noStrike">
              <a:solidFill>
                <a:schemeClr val="dk1"/>
              </a:solidFill>
              <a:latin typeface="Helvetica Neue"/>
              <a:ea typeface="Helvetica Neue"/>
              <a:cs typeface="Helvetica Neue"/>
              <a:sym typeface="Helvetica Neue"/>
            </a:endParaRPr>
          </a:p>
        </p:txBody>
      </p:sp>
      <p:pic>
        <p:nvPicPr>
          <p:cNvPr id="412" name="Google Shape;412;p64" title="Chart"/>
          <p:cNvPicPr preferRelativeResize="0"/>
          <p:nvPr/>
        </p:nvPicPr>
        <p:blipFill rotWithShape="1">
          <a:blip r:embed="rId3">
            <a:alphaModFix/>
          </a:blip>
          <a:srcRect b="0" l="0" r="0" t="0"/>
          <a:stretch/>
        </p:blipFill>
        <p:spPr>
          <a:xfrm>
            <a:off x="186625" y="1097648"/>
            <a:ext cx="3316650" cy="2612474"/>
          </a:xfrm>
          <a:prstGeom prst="rect">
            <a:avLst/>
          </a:prstGeom>
          <a:noFill/>
          <a:ln>
            <a:noFill/>
          </a:ln>
        </p:spPr>
      </p:pic>
      <p:cxnSp>
        <p:nvCxnSpPr>
          <p:cNvPr id="413" name="Google Shape;413;p64"/>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graphicFrame>
        <p:nvGraphicFramePr>
          <p:cNvPr id="418" name="Google Shape;418;p65"/>
          <p:cNvGraphicFramePr/>
          <p:nvPr/>
        </p:nvGraphicFramePr>
        <p:xfrm>
          <a:off x="126142" y="714741"/>
          <a:ext cx="3000000" cy="3000000"/>
        </p:xfrm>
        <a:graphic>
          <a:graphicData uri="http://schemas.openxmlformats.org/drawingml/2006/table">
            <a:tbl>
              <a:tblPr>
                <a:noFill/>
                <a:tableStyleId>{FA528319-6F98-4B39-B0ED-26271DCD7A62}</a:tableStyleId>
              </a:tblPr>
              <a:tblGrid>
                <a:gridCol w="674425"/>
                <a:gridCol w="691250"/>
                <a:gridCol w="691250"/>
                <a:gridCol w="1611375"/>
                <a:gridCol w="614225"/>
                <a:gridCol w="784050"/>
                <a:gridCol w="806425"/>
                <a:gridCol w="644900"/>
                <a:gridCol w="626725"/>
                <a:gridCol w="597450"/>
                <a:gridCol w="1149650"/>
              </a:tblGrid>
              <a:tr h="238350">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Incident Date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Vehicle Number</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Model</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Dealership/Workshop</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Customer Called In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Towing Assigned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Breakdown Area</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Outlet</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Total KM</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Late Reason</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Remarks</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VPP8636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Wheelcorp EV (Setia Alam - SVC)</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9:42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9:48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10:09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10:30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Water leaking </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QBJ1419</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Eco Tyre Shop (Car Service and Tyres centre)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5.45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6:00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6:10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6:30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19</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ST1111X</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DC Handal Charging Station</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9:43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9:55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11:25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3:35 am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Battery</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VQG564</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Petronas R&amp;R @ Bentong</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10:11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10:25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11:22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11:50 pm</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18</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Battery</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APG842</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Syarikat Kong Wah, Kuala Lumpur</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8:01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8:01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8:53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12:15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137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P503P</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Able Agility Sdn. Bhd. (Chan Sow Lin - SVC)</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7:43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7:58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8:45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9:23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Unable to Start</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UMT616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ChargeSINI Charging Station</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9:38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9:57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11:25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11:51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Battery</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QM2100U</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R&amp;R Paka West Bound</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5:22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6:22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7:00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7:45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Battery</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VRA7522</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Home: 22a, Jalan Ulek Mayang 1B/KU5, Klang</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5:27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5:28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6:01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8:22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33</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VQH2546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Y &amp; K Auto Service Centre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6:58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7:31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8:15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9:35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23</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VIPS9765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Regal Motors EV (Petaling Jaya - SVC)</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9:57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10:00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10:45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11:20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ANN7111</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FastFit (Cheras) - Tyres, Premium Rims &amp; Car Service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6:57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7:16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7:55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8:10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19" name="Google Shape;419;p65"/>
          <p:cNvSpPr txBox="1"/>
          <p:nvPr/>
        </p:nvSpPr>
        <p:spPr>
          <a:xfrm>
            <a:off x="133800" y="178050"/>
            <a:ext cx="5372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41414"/>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 RSA Case Analysis – June 2026</a:t>
            </a:r>
            <a:endParaRPr b="1" i="0" sz="1800" u="none" cap="none" strike="noStrike">
              <a:solidFill>
                <a:schemeClr val="dk1"/>
              </a:solidFill>
              <a:latin typeface="Helvetica Neue"/>
              <a:ea typeface="Helvetica Neue"/>
              <a:cs typeface="Helvetica Neue"/>
              <a:sym typeface="Helvetica Neue"/>
            </a:endParaRPr>
          </a:p>
        </p:txBody>
      </p:sp>
      <p:cxnSp>
        <p:nvCxnSpPr>
          <p:cNvPr id="420" name="Google Shape;420;p65"/>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graphicFrame>
        <p:nvGraphicFramePr>
          <p:cNvPr id="425" name="Google Shape;425;p66"/>
          <p:cNvGraphicFramePr/>
          <p:nvPr/>
        </p:nvGraphicFramePr>
        <p:xfrm>
          <a:off x="126142" y="714741"/>
          <a:ext cx="3000000" cy="3000000"/>
        </p:xfrm>
        <a:graphic>
          <a:graphicData uri="http://schemas.openxmlformats.org/drawingml/2006/table">
            <a:tbl>
              <a:tblPr>
                <a:noFill/>
                <a:tableStyleId>{FA528319-6F98-4B39-B0ED-26271DCD7A62}</a:tableStyleId>
              </a:tblPr>
              <a:tblGrid>
                <a:gridCol w="678400"/>
                <a:gridCol w="695325"/>
                <a:gridCol w="520375"/>
                <a:gridCol w="1889125"/>
                <a:gridCol w="635250"/>
                <a:gridCol w="742150"/>
                <a:gridCol w="741175"/>
                <a:gridCol w="654550"/>
                <a:gridCol w="630425"/>
                <a:gridCol w="924025"/>
                <a:gridCol w="833400"/>
              </a:tblGrid>
              <a:tr h="234250">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Incident Date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Vehicle Number</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Model</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Dealership/Workshop</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Customer Called In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Towing Assigned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Breakdown Area</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Outlet</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Total KM</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Late Reason</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Remarks</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r>
              <a:tr h="291700">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FC9278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Wheelcorp EV (Setia Alam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3:19 am</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3:33 am</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4:09 pm</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4:26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Brake issue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82300">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BSW2809</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Saujana Tyre &amp; Auto Service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11:01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11:43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12:29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11:06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31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TDE588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Able Agility Sdn. Bhd. (Chan Sow Lin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3:23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3:31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4:15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5:25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Unable to Start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0000">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VQE3105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Tyreplus - Nova Autocare (Damansara Perdana)</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11:03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11:13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11:34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11:55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30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SJR6199</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Ngu Motor (Sibu - B&amp;P)</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2:43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3:21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4:35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10:35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206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30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QLG3293</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Gamatech Auto Sdn Bhd, Kuala Lumpur</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2:49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3:50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4:12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2400">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CFG9396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MBf EV Auto (Subang jaya - B&amp;P)</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9:10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9:10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9:45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2:38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Police Report</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30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NDL90</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EON (Glenmarie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10:03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10:09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10:50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11:50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Unable to Start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31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P6771P</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Regal Motors EV (Petaling Jaya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7:36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8:50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54</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Unable to Start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31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JYU8990</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AG Autoworld (EV) (Plentong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11:59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2:18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Unable to Start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0000">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SJR8168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Wheelcorp EV (Setia Alam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2:38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2:51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3:36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Engine Problem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00000">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NAS911</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Continental CN Auto Tyre Group sek 28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5:15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5:19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5:45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6:05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30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VQQ1452</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LHM Evolve (Nilai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7:50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7:59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8:44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9:04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26" name="Google Shape;426;p66"/>
          <p:cNvSpPr txBox="1"/>
          <p:nvPr/>
        </p:nvSpPr>
        <p:spPr>
          <a:xfrm>
            <a:off x="133800" y="178050"/>
            <a:ext cx="5372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41414"/>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 RSA Case Analysis – June 2026</a:t>
            </a:r>
            <a:endParaRPr b="1" i="0" sz="1800" u="none" cap="none" strike="noStrike">
              <a:solidFill>
                <a:schemeClr val="dk1"/>
              </a:solidFill>
              <a:latin typeface="Helvetica Neue"/>
              <a:ea typeface="Helvetica Neue"/>
              <a:cs typeface="Helvetica Neue"/>
              <a:sym typeface="Helvetica Neue"/>
            </a:endParaRPr>
          </a:p>
        </p:txBody>
      </p:sp>
      <p:cxnSp>
        <p:nvCxnSpPr>
          <p:cNvPr id="427" name="Google Shape;427;p66"/>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graphicFrame>
        <p:nvGraphicFramePr>
          <p:cNvPr id="432" name="Google Shape;432;p67"/>
          <p:cNvGraphicFramePr/>
          <p:nvPr/>
        </p:nvGraphicFramePr>
        <p:xfrm>
          <a:off x="126142" y="714741"/>
          <a:ext cx="3000000" cy="3000000"/>
        </p:xfrm>
        <a:graphic>
          <a:graphicData uri="http://schemas.openxmlformats.org/drawingml/2006/table">
            <a:tbl>
              <a:tblPr>
                <a:noFill/>
                <a:tableStyleId>{FA528319-6F98-4B39-B0ED-26271DCD7A62}</a:tableStyleId>
              </a:tblPr>
              <a:tblGrid>
                <a:gridCol w="674425"/>
                <a:gridCol w="691250"/>
                <a:gridCol w="630675"/>
                <a:gridCol w="1671950"/>
                <a:gridCol w="614225"/>
                <a:gridCol w="784050"/>
                <a:gridCol w="806425"/>
                <a:gridCol w="644900"/>
                <a:gridCol w="626725"/>
                <a:gridCol w="597450"/>
                <a:gridCol w="1149650"/>
              </a:tblGrid>
              <a:tr h="238350">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Incident Date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Vehicle Number</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Model</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Dealership/Workshop</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Customer Called In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Towing Assigned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Breakdown Area</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Outlet</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Total KM</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Late Reason</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Remarks</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PRX9294</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SG Car (Shah Alam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1:28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1:35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2:55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3:39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UUU6328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chargEV Charging Station </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8:34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8:41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9:15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Battery</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PRX9294</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Kota Damansara Traffic Police Station</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12:22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12:31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1:54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22</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NEH6233</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Petronas Rasah, Mambau</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5:19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5:46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6:32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Battery</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BSH2155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Special Lee Tyre Workshop (TOYO AUTHORISED DEALER)</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11:10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11:50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20</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13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PRV3190</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NHL Auto Tech (Melaka - SVC)</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1:33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2:05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2:50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8:45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Police Report</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14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VQR5288</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Penang - Eleganz Lifestyle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3:09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3:59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4:30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12:46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118</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Police Report</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15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VPX5292</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Wheelcorp EV (Setia Alam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8:55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9:35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11:23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20</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Engine malfunction</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15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QDD2101</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Promas EV (Tampoi - B&amp;P)</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8:41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9:05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12:45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4:27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109</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Police Report</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15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CEV332</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Setia Alam - Wheelcorp EV</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10:34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11:05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12:08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12:26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15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VT9166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Continental Lian Heng Tyre &amp; Battery Company</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3:07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3:16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4:02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4:22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13</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15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JYY8313</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Promas EV (Tampoi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3:31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3:32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4:10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5:26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Unable to Start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33" name="Google Shape;433;p67"/>
          <p:cNvSpPr txBox="1"/>
          <p:nvPr/>
        </p:nvSpPr>
        <p:spPr>
          <a:xfrm>
            <a:off x="133800" y="178050"/>
            <a:ext cx="5372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41414"/>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 RSA Case Analysis – June 2026</a:t>
            </a:r>
            <a:endParaRPr b="1" i="0" sz="1800" u="none" cap="none" strike="noStrike">
              <a:solidFill>
                <a:schemeClr val="dk1"/>
              </a:solidFill>
              <a:latin typeface="Helvetica Neue"/>
              <a:ea typeface="Helvetica Neue"/>
              <a:cs typeface="Helvetica Neue"/>
              <a:sym typeface="Helvetica Neue"/>
            </a:endParaRPr>
          </a:p>
        </p:txBody>
      </p:sp>
      <p:cxnSp>
        <p:nvCxnSpPr>
          <p:cNvPr id="434" name="Google Shape;434;p67"/>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graphicFrame>
        <p:nvGraphicFramePr>
          <p:cNvPr id="439" name="Google Shape;439;p68"/>
          <p:cNvGraphicFramePr/>
          <p:nvPr/>
        </p:nvGraphicFramePr>
        <p:xfrm>
          <a:off x="126142" y="714741"/>
          <a:ext cx="3000000" cy="3000000"/>
        </p:xfrm>
        <a:graphic>
          <a:graphicData uri="http://schemas.openxmlformats.org/drawingml/2006/table">
            <a:tbl>
              <a:tblPr>
                <a:noFill/>
                <a:tableStyleId>{FA528319-6F98-4B39-B0ED-26271DCD7A62}</a:tableStyleId>
              </a:tblPr>
              <a:tblGrid>
                <a:gridCol w="674425"/>
                <a:gridCol w="691250"/>
                <a:gridCol w="691250"/>
                <a:gridCol w="1611375"/>
                <a:gridCol w="614225"/>
                <a:gridCol w="784050"/>
                <a:gridCol w="806425"/>
                <a:gridCol w="644900"/>
                <a:gridCol w="626725"/>
                <a:gridCol w="673150"/>
                <a:gridCol w="1073950"/>
              </a:tblGrid>
              <a:tr h="238350">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Incident Date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Vehicle Number</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Model</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Dealership/Workshop</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Customer Called In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Towing Assigned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Breakdown Area</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Outlet</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Total KM</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Late Reason</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Remarks</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16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DFK3752</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Kedai Ong Lah Tayar, Kelantan</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9:09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9:52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10:28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10:45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16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VQP9925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MBf EV Auto (Subang jaya - B&amp;P)</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5:02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5:03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5:49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7:59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41</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Police Report</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18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VQP9925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MBf Automobile 4S - Subang Jaya</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12:01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1:45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2:15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20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RBB5350</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DC Handal Charging Station, Pinang</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5:08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7:28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8:13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8:28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Battery issue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21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VPX4602</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EON (Glenmarie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11:11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11:24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12:09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12:42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Engine Problem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22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QCV6925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Ngu Motor (Sibu - B&amp;P)</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9:24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9:43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9:43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9:49 am (23/6)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414</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Long journey</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23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JYA9235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AG Autoworld (EV) (Plentong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2:42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3:15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3:59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6:27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Electrical Fault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23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JXG3606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Mayang Holdings (Muar - SVC)</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5:16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5:21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11:05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1:00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71</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Car issue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24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SU2499P</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KKT New Energy (Seremban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1:48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2:18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4:10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6:56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Unable to Start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24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SWQ9018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Family Tyre Sdn Bhd, Sabah</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8:42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9:01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9:01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9:34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25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VRC443</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Pusat servis tayar Ray motor sports center</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3:25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3:31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4:06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4:46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26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APF194</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Eleganz Lifestyle (Jelutong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8:29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9:32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10:45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129</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40" name="Google Shape;440;p68"/>
          <p:cNvSpPr txBox="1"/>
          <p:nvPr/>
        </p:nvSpPr>
        <p:spPr>
          <a:xfrm>
            <a:off x="133800" y="178050"/>
            <a:ext cx="5372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41414"/>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 RSA Case Analysis – June 2026</a:t>
            </a:r>
            <a:endParaRPr b="1" i="0" sz="1800" u="none" cap="none" strike="noStrike">
              <a:solidFill>
                <a:schemeClr val="dk1"/>
              </a:solidFill>
              <a:latin typeface="Helvetica Neue"/>
              <a:ea typeface="Helvetica Neue"/>
              <a:cs typeface="Helvetica Neue"/>
              <a:sym typeface="Helvetica Neue"/>
            </a:endParaRPr>
          </a:p>
        </p:txBody>
      </p:sp>
      <p:cxnSp>
        <p:nvCxnSpPr>
          <p:cNvPr id="441" name="Google Shape;441;p68"/>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graphicFrame>
        <p:nvGraphicFramePr>
          <p:cNvPr id="446" name="Google Shape;446;p69"/>
          <p:cNvGraphicFramePr/>
          <p:nvPr/>
        </p:nvGraphicFramePr>
        <p:xfrm>
          <a:off x="98754" y="901366"/>
          <a:ext cx="3000000" cy="3000000"/>
        </p:xfrm>
        <a:graphic>
          <a:graphicData uri="http://schemas.openxmlformats.org/drawingml/2006/table">
            <a:tbl>
              <a:tblPr>
                <a:noFill/>
                <a:tableStyleId>{FA528319-6F98-4B39-B0ED-26271DCD7A62}</a:tableStyleId>
              </a:tblPr>
              <a:tblGrid>
                <a:gridCol w="674425"/>
                <a:gridCol w="691250"/>
                <a:gridCol w="691250"/>
                <a:gridCol w="1611375"/>
                <a:gridCol w="614225"/>
                <a:gridCol w="784050"/>
                <a:gridCol w="806425"/>
                <a:gridCol w="644900"/>
                <a:gridCol w="626725"/>
                <a:gridCol w="698400"/>
                <a:gridCol w="1048700"/>
              </a:tblGrid>
              <a:tr h="238350">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Incident Date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Vehicle Number</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Model</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Dealership/Workshop</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Customer Called In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Towing Assigned Time</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Breakdown Area</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Time Arrived Outlet</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Total KM</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Late Reason</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Remarks</a:t>
                      </a:r>
                      <a:endParaRPr b="1" sz="600" u="none" cap="none" strike="noStrike">
                        <a:latin typeface="Helvetica Neue"/>
                        <a:ea typeface="Helvetica Neue"/>
                        <a:cs typeface="Helvetica Neue"/>
                        <a:sym typeface="Helvetica Neue"/>
                      </a:endParaRPr>
                    </a:p>
                  </a:txBody>
                  <a:tcPr marT="19050" marB="19050" marR="28575" marL="28575" anchor="ctr">
                    <a:lnL cap="flat" cmpd="sng" w="10575">
                      <a:solidFill>
                        <a:schemeClr val="dk1"/>
                      </a:solidFill>
                      <a:prstDash val="solid"/>
                      <a:round/>
                      <a:headEnd len="sm" w="sm" type="none"/>
                      <a:tailEnd len="sm" w="sm" type="none"/>
                    </a:lnL>
                    <a:lnR cap="flat" cmpd="sng" w="10575">
                      <a:solidFill>
                        <a:schemeClr val="dk1"/>
                      </a:solidFill>
                      <a:prstDash val="solid"/>
                      <a:round/>
                      <a:headEnd len="sm" w="sm" type="none"/>
                      <a:tailEnd len="sm" w="sm" type="none"/>
                    </a:lnR>
                    <a:lnT cap="flat" cmpd="sng" w="1057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CCCCC"/>
                    </a:solidFill>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26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SK3892H</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Kong Soon Tyre, Sarawak</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11:19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11:49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2:57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4:00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61</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26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BNV1001</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Jewel Sonic (Putrajaya - SVC)</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12:07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12:19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1:45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2:20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40</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Unable to Start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26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BSK2268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Tyreplus - Nova Autocare (Petaling Jaya)</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3:47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4122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26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KEX333</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Botanic Service Centre- IGreen Premium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3:45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3:51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4:19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5:05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29</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Car issue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26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VQS5996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Shah Alam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4:23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4:53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5:08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9:59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128</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Electrical Fault</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27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JYW4247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AG Autoworld (EV) (Skudai - B&amp;P)</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6:04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6:04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7:45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9:30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19</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solidFill>
                            <a:schemeClr val="dk1"/>
                          </a:solidFill>
                          <a:latin typeface="Helvetica Neue"/>
                          <a:ea typeface="Helvetica Neue"/>
                          <a:cs typeface="Helvetica Neue"/>
                          <a:sym typeface="Helvetica Neue"/>
                        </a:rPr>
                        <a:t>Police Report</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Accident</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 Jun 2026</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JXS5621</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Continental JY Top Auto Services Centre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11:49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11:49 am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1:31 pm</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TDG7115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7</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Sungai Besi - Able Agility Sdn Bhd</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12:09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12:23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1:08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1:27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NEK6652</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AG Autoworld (EV) (Plentong - SVC)</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3:59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3:59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4:28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4:59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Flat Tyre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67675">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30 Jun 2026</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VFY141</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e.MAS 5</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Proton e.MAS - MBf EV Auto (Jalan Tun Razak - SVC)</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9:47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11:05 pm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12:21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1:00 am</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sz="600" u="none" cap="none" strike="noStrike">
                        <a:solidFill>
                          <a:schemeClr val="dk1"/>
                        </a:solidFill>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Charging issue</a:t>
                      </a:r>
                      <a:endParaRPr sz="600" u="none" cap="none" strike="noStrike">
                        <a:latin typeface="Helvetica Neue"/>
                        <a:ea typeface="Helvetica Neue"/>
                        <a:cs typeface="Helvetica Neue"/>
                        <a:sym typeface="Helvetica Neue"/>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447" name="Google Shape;447;p69"/>
          <p:cNvSpPr txBox="1"/>
          <p:nvPr/>
        </p:nvSpPr>
        <p:spPr>
          <a:xfrm>
            <a:off x="133800" y="178050"/>
            <a:ext cx="5372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41414"/>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 RSA Case Analysis – June 2026</a:t>
            </a:r>
            <a:endParaRPr b="1" i="0" sz="1800" u="none" cap="none" strike="noStrike">
              <a:solidFill>
                <a:schemeClr val="dk1"/>
              </a:solidFill>
              <a:latin typeface="Helvetica Neue"/>
              <a:ea typeface="Helvetica Neue"/>
              <a:cs typeface="Helvetica Neue"/>
              <a:sym typeface="Helvetica Neue"/>
            </a:endParaRPr>
          </a:p>
        </p:txBody>
      </p:sp>
      <p:cxnSp>
        <p:nvCxnSpPr>
          <p:cNvPr id="448" name="Google Shape;448;p69"/>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0"/>
          <p:cNvSpPr txBox="1"/>
          <p:nvPr/>
        </p:nvSpPr>
        <p:spPr>
          <a:xfrm>
            <a:off x="95075" y="215550"/>
            <a:ext cx="7867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800" u="none" cap="none" strike="noStrike">
                <a:solidFill>
                  <a:schemeClr val="dk1"/>
                </a:solidFill>
                <a:latin typeface="Helvetica Neue"/>
                <a:ea typeface="Helvetica Neue"/>
                <a:cs typeface="Helvetica Neue"/>
                <a:sym typeface="Helvetica Neue"/>
              </a:rPr>
              <a:t>Table of Contents</a:t>
            </a:r>
            <a:endParaRPr b="1" i="0" sz="1800" u="none" cap="none" strike="noStrike">
              <a:solidFill>
                <a:srgbClr val="FF0000"/>
              </a:solidFill>
              <a:latin typeface="Helvetica Neue"/>
              <a:ea typeface="Helvetica Neue"/>
              <a:cs typeface="Helvetica Neue"/>
              <a:sym typeface="Helvetica Neue"/>
            </a:endParaRPr>
          </a:p>
        </p:txBody>
      </p:sp>
      <p:sp>
        <p:nvSpPr>
          <p:cNvPr id="454" name="Google Shape;454;p70"/>
          <p:cNvSpPr txBox="1"/>
          <p:nvPr/>
        </p:nvSpPr>
        <p:spPr>
          <a:xfrm>
            <a:off x="211225" y="721115"/>
            <a:ext cx="7086600" cy="4027800"/>
          </a:xfrm>
          <a:prstGeom prst="rect">
            <a:avLst/>
          </a:prstGeom>
          <a:noFill/>
          <a:ln>
            <a:noFill/>
          </a:ln>
        </p:spPr>
        <p:txBody>
          <a:bodyPr anchorCtr="0" anchor="ctr" bIns="50800" lIns="50800" spcFirstLastPara="1" rIns="50800" wrap="square" tIns="50800">
            <a:spAutoFit/>
          </a:bodyPr>
          <a:lstStyle/>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Cases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Channel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Incoming Channel Performance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Incoming Calls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Calls Average Handling Time </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Concern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Inquiry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Complaint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Feedback Analysis</a:t>
            </a:r>
            <a:endParaRPr b="1" i="0" sz="1500" u="none" cap="none" strike="noStrike">
              <a:solidFill>
                <a:schemeClr val="accent6"/>
              </a:solidFill>
              <a:latin typeface="Helvetica Neue"/>
              <a:ea typeface="Helvetica Neue"/>
              <a:cs typeface="Helvetica Neue"/>
              <a:sym typeface="Helvetica Neue"/>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PeC Dealer Analysis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Case Escalated To Dealers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Proton e.MAS Dealer Case Escalation Trends</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Dealer Turnaround Time</a:t>
            </a:r>
            <a:br>
              <a:rPr b="0" i="0" lang="en-GB" sz="1500" u="none" cap="none" strike="noStrike">
                <a:solidFill>
                  <a:schemeClr val="accent6"/>
                </a:solidFill>
                <a:latin typeface="Helvetica Neue Light"/>
                <a:ea typeface="Helvetica Neue Light"/>
                <a:cs typeface="Helvetica Neue Light"/>
                <a:sym typeface="Helvetica Neue Light"/>
              </a:rPr>
            </a:br>
            <a:r>
              <a:rPr b="0" i="0" lang="en-GB" sz="1500" u="none" cap="none" strike="noStrike">
                <a:solidFill>
                  <a:schemeClr val="accent6"/>
                </a:solidFill>
                <a:latin typeface="Helvetica Neue Light"/>
                <a:ea typeface="Helvetica Neue Light"/>
                <a:cs typeface="Helvetica Neue Light"/>
                <a:sym typeface="Helvetica Neue Light"/>
              </a:rPr>
              <a:t>- Work In Progress (WIP) Cases </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accent6"/>
              </a:buClr>
              <a:buSzPts val="1500"/>
              <a:buFont typeface="Helvetica Neue"/>
              <a:buAutoNum type="arabicPeriod"/>
            </a:pPr>
            <a:r>
              <a:rPr b="1" i="0" lang="en-GB" sz="1500" u="none" cap="none" strike="noStrike">
                <a:solidFill>
                  <a:schemeClr val="accent6"/>
                </a:solidFill>
                <a:latin typeface="Helvetica Neue"/>
                <a:ea typeface="Helvetica Neue"/>
                <a:cs typeface="Helvetica Neue"/>
                <a:sym typeface="Helvetica Neue"/>
              </a:rPr>
              <a:t>RSA Analysis</a:t>
            </a:r>
            <a:endParaRPr b="1" i="0" sz="1500" u="none" cap="none" strike="noStrike">
              <a:solidFill>
                <a:schemeClr val="accent6"/>
              </a:solidFill>
              <a:latin typeface="Helvetica Neue"/>
              <a:ea typeface="Helvetica Neue"/>
              <a:cs typeface="Helvetica Neue"/>
              <a:sym typeface="Helvetica Neue"/>
            </a:endParaRPr>
          </a:p>
          <a:p>
            <a:pPr indent="342900" lvl="0" marL="0" marR="0" rtl="0" algn="l">
              <a:lnSpc>
                <a:spcPct val="100000"/>
              </a:lnSpc>
              <a:spcBef>
                <a:spcPts val="0"/>
              </a:spcBef>
              <a:spcAft>
                <a:spcPts val="0"/>
              </a:spcAft>
              <a:buClr>
                <a:srgbClr val="000000"/>
              </a:buClr>
              <a:buSzPts val="1500"/>
              <a:buFont typeface="Arial"/>
              <a:buNone/>
            </a:pPr>
            <a:r>
              <a:rPr b="0" i="0" lang="en-GB" sz="1500" u="none" cap="none" strike="noStrike">
                <a:solidFill>
                  <a:schemeClr val="accent6"/>
                </a:solidFill>
                <a:latin typeface="Helvetica Neue Light"/>
                <a:ea typeface="Helvetica Neue Light"/>
                <a:cs typeface="Helvetica Neue Light"/>
                <a:sym typeface="Helvetica Neue Light"/>
              </a:rPr>
              <a:t>- RSA Call Analysis</a:t>
            </a:r>
            <a:endParaRPr b="0" i="0" sz="1500" u="none" cap="none" strike="noStrike">
              <a:solidFill>
                <a:schemeClr val="accent6"/>
              </a:solidFill>
              <a:latin typeface="Helvetica Neue Light"/>
              <a:ea typeface="Helvetica Neue Light"/>
              <a:cs typeface="Helvetica Neue Light"/>
              <a:sym typeface="Helvetica Neue Light"/>
            </a:endParaRPr>
          </a:p>
          <a:p>
            <a:pPr indent="-342900" lvl="0" marL="342900" marR="0" rtl="0" algn="l">
              <a:lnSpc>
                <a:spcPct val="100000"/>
              </a:lnSpc>
              <a:spcBef>
                <a:spcPts val="0"/>
              </a:spcBef>
              <a:spcAft>
                <a:spcPts val="0"/>
              </a:spcAft>
              <a:buClr>
                <a:schemeClr val="dk1"/>
              </a:buClr>
              <a:buSzPts val="1500"/>
              <a:buFont typeface="Helvetica Neue"/>
              <a:buAutoNum type="arabicPeriod"/>
            </a:pPr>
            <a:r>
              <a:rPr b="1" i="0" lang="en-GB" sz="1500" u="none" cap="none" strike="noStrike">
                <a:solidFill>
                  <a:schemeClr val="dk1"/>
                </a:solidFill>
                <a:latin typeface="Helvetica Neue"/>
                <a:ea typeface="Helvetica Neue"/>
                <a:cs typeface="Helvetica Neue"/>
                <a:sym typeface="Helvetica Neue"/>
              </a:rPr>
              <a:t>Summary </a:t>
            </a:r>
            <a:endParaRPr b="1" i="0" sz="1500" u="none" cap="none" strike="noStrike">
              <a:solidFill>
                <a:schemeClr val="dk1"/>
              </a:solidFill>
              <a:latin typeface="Helvetica Neue"/>
              <a:ea typeface="Helvetica Neue"/>
              <a:cs typeface="Helvetica Neue"/>
              <a:sym typeface="Helvetica Neue"/>
            </a:endParaRPr>
          </a:p>
        </p:txBody>
      </p:sp>
      <p:cxnSp>
        <p:nvCxnSpPr>
          <p:cNvPr id="455" name="Google Shape;455;p70"/>
          <p:cNvCxnSpPr/>
          <p:nvPr/>
        </p:nvCxnSpPr>
        <p:spPr>
          <a:xfrm>
            <a:off x="108575" y="677250"/>
            <a:ext cx="7208100" cy="0"/>
          </a:xfrm>
          <a:prstGeom prst="straightConnector1">
            <a:avLst/>
          </a:prstGeom>
          <a:noFill/>
          <a:ln cap="flat" cmpd="sng" w="28575">
            <a:solidFill>
              <a:schemeClr val="accent2"/>
            </a:solidFill>
            <a:prstDash val="solid"/>
            <a:round/>
            <a:headEnd len="sm" w="sm" type="none"/>
            <a:tailEnd len="med" w="med" type="oval"/>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71"/>
          <p:cNvSpPr txBox="1"/>
          <p:nvPr/>
        </p:nvSpPr>
        <p:spPr>
          <a:xfrm>
            <a:off x="95075" y="63150"/>
            <a:ext cx="28836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IBM Plex Sans KR"/>
              <a:buNone/>
            </a:pPr>
            <a:r>
              <a:rPr b="1" i="0" lang="en-GB" sz="1900" u="none" cap="none" strike="noStrike">
                <a:solidFill>
                  <a:schemeClr val="dk1"/>
                </a:solidFill>
                <a:latin typeface="IBM Plex Sans KR"/>
                <a:ea typeface="IBM Plex Sans KR"/>
                <a:cs typeface="IBM Plex Sans KR"/>
                <a:sym typeface="IBM Plex Sans KR"/>
              </a:rPr>
              <a:t>Summary</a:t>
            </a:r>
            <a:endParaRPr b="1" i="0" sz="1900" u="none" cap="none" strike="noStrike">
              <a:solidFill>
                <a:schemeClr val="dk1"/>
              </a:solidFill>
              <a:latin typeface="IBM Plex Sans KR"/>
              <a:ea typeface="IBM Plex Sans KR"/>
              <a:cs typeface="IBM Plex Sans KR"/>
              <a:sym typeface="IBM Plex Sans KR"/>
            </a:endParaRPr>
          </a:p>
        </p:txBody>
      </p:sp>
      <p:cxnSp>
        <p:nvCxnSpPr>
          <p:cNvPr id="461" name="Google Shape;461;p71"/>
          <p:cNvCxnSpPr/>
          <p:nvPr/>
        </p:nvCxnSpPr>
        <p:spPr>
          <a:xfrm>
            <a:off x="108575" y="505302"/>
            <a:ext cx="7208100" cy="0"/>
          </a:xfrm>
          <a:prstGeom prst="straightConnector1">
            <a:avLst/>
          </a:prstGeom>
          <a:noFill/>
          <a:ln cap="flat" cmpd="sng" w="28575">
            <a:solidFill>
              <a:schemeClr val="accent2"/>
            </a:solidFill>
            <a:prstDash val="solid"/>
            <a:round/>
            <a:headEnd len="sm" w="sm" type="none"/>
            <a:tailEnd len="med" w="med" type="oval"/>
          </a:ln>
        </p:spPr>
      </p:cxnSp>
      <p:graphicFrame>
        <p:nvGraphicFramePr>
          <p:cNvPr id="462" name="Google Shape;462;p71"/>
          <p:cNvGraphicFramePr/>
          <p:nvPr/>
        </p:nvGraphicFramePr>
        <p:xfrm>
          <a:off x="154063" y="570775"/>
          <a:ext cx="3000000" cy="3000000"/>
        </p:xfrm>
        <a:graphic>
          <a:graphicData uri="http://schemas.openxmlformats.org/drawingml/2006/table">
            <a:tbl>
              <a:tblPr>
                <a:noFill/>
                <a:tableStyleId>{FA528319-6F98-4B39-B0ED-26271DCD7A62}</a:tableStyleId>
              </a:tblPr>
              <a:tblGrid>
                <a:gridCol w="262600"/>
                <a:gridCol w="1713600"/>
                <a:gridCol w="840800"/>
                <a:gridCol w="935925"/>
                <a:gridCol w="592100"/>
                <a:gridCol w="1031175"/>
                <a:gridCol w="447325"/>
                <a:gridCol w="975250"/>
                <a:gridCol w="516000"/>
                <a:gridCol w="926950"/>
                <a:gridCol w="562275"/>
              </a:tblGrid>
              <a:tr h="238800">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No</a:t>
                      </a:r>
                      <a:endParaRPr b="1"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Control Item</a:t>
                      </a:r>
                      <a:endParaRPr b="1"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FE2F3"/>
                    </a:solidFill>
                  </a:tcPr>
                </a:tc>
                <a:tc>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Target</a:t>
                      </a:r>
                      <a:endParaRPr b="1"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FE2F3"/>
                    </a:solidFill>
                  </a:tcPr>
                </a:tc>
                <a:tc gridSpan="4">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Proton e.MAS's Actual</a:t>
                      </a:r>
                      <a:endParaRPr b="1" sz="600" u="none" cap="none" strike="noStrike">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(June'26)</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9EAD3"/>
                    </a:solidFill>
                  </a:tcPr>
                </a:tc>
                <a:tc hMerge="1"/>
                <a:tc hMerge="1"/>
                <a:tc hMerge="1"/>
                <a:tc gridSpan="4">
                  <a:txBody>
                    <a:bodyPr/>
                    <a:lstStyle/>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Proton e.MAS's Actual</a:t>
                      </a:r>
                      <a:endParaRPr b="1" sz="600" u="none" cap="none" strike="noStrike">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(Jan'26 - June'26)</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D9EAD3"/>
                    </a:solidFill>
                  </a:tcPr>
                </a:tc>
                <a:tc hMerge="1"/>
                <a:tc hMerge="1"/>
                <a:tc hMerge="1"/>
              </a:tr>
              <a:tr h="17727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incoming contact</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1811</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10374</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r h="541900">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incoming cases from each channel</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Call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WhatsApp</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Social Media</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Email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HQ</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3">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440</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1104</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44</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223</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0</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Call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WhatsApp</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Social Media</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Email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HQ</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3">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2138</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6987</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258</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990</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r>
              <a:tr h="15292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3</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QA performance (Calls)</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85%</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b="1" lang="en-GB" sz="600" u="none" cap="none" strike="noStrike">
                          <a:solidFill>
                            <a:srgbClr val="38761D"/>
                          </a:solidFill>
                          <a:latin typeface="Helvetica Neue"/>
                          <a:ea typeface="Helvetica Neue"/>
                          <a:cs typeface="Helvetica Neue"/>
                          <a:sym typeface="Helvetica Neue"/>
                        </a:rPr>
                        <a:t>95.00%</a:t>
                      </a:r>
                      <a:endParaRPr b="1" sz="600" u="none" cap="none" strike="noStrike">
                        <a:solidFill>
                          <a:srgbClr val="38761D"/>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b="1" lang="en-GB" sz="600" u="none" cap="none" strike="noStrike">
                          <a:solidFill>
                            <a:srgbClr val="38761D"/>
                          </a:solidFill>
                          <a:latin typeface="Helvetica Neue"/>
                          <a:ea typeface="Helvetica Neue"/>
                          <a:cs typeface="Helvetica Neue"/>
                          <a:sym typeface="Helvetica Neue"/>
                        </a:rPr>
                        <a:t>97.00%</a:t>
                      </a:r>
                      <a:endParaRPr b="1" sz="600" u="none" cap="none" strike="noStrike">
                        <a:solidFill>
                          <a:srgbClr val="38761D"/>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r h="169150">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Response time (call) - (Exclude misdial data)</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&lt;20 sec</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b="1" lang="en-GB" sz="600" u="none" cap="none" strike="noStrike">
                          <a:solidFill>
                            <a:srgbClr val="38761D"/>
                          </a:solidFill>
                          <a:latin typeface="Helvetica Neue"/>
                          <a:ea typeface="Helvetica Neue"/>
                          <a:cs typeface="Helvetica Neue"/>
                          <a:sym typeface="Helvetica Neue"/>
                        </a:rPr>
                        <a:t>11 secs</a:t>
                      </a:r>
                      <a:endParaRPr b="1" sz="600" u="none" cap="none" strike="noStrike">
                        <a:solidFill>
                          <a:srgbClr val="38761D"/>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b="1" lang="en-GB" sz="600" u="none" cap="none" strike="noStrike">
                          <a:solidFill>
                            <a:srgbClr val="38761D"/>
                          </a:solidFill>
                          <a:latin typeface="Helvetica Neue"/>
                          <a:ea typeface="Helvetica Neue"/>
                          <a:cs typeface="Helvetica Neue"/>
                          <a:sym typeface="Helvetica Neue"/>
                        </a:rPr>
                        <a:t>12.50 secs</a:t>
                      </a:r>
                      <a:endParaRPr b="1" sz="600" u="none" cap="none" strike="noStrike">
                        <a:solidFill>
                          <a:srgbClr val="38761D"/>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r h="201650">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5</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AHT call (Exclude misdial data)</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&lt;5 mins</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b="1" lang="en-GB" sz="600" u="none" cap="none" strike="noStrike">
                          <a:solidFill>
                            <a:srgbClr val="38761D"/>
                          </a:solidFill>
                          <a:latin typeface="Helvetica Neue"/>
                          <a:ea typeface="Helvetica Neue"/>
                          <a:cs typeface="Helvetica Neue"/>
                          <a:sym typeface="Helvetica Neue"/>
                        </a:rPr>
                        <a:t>4 mins 22 secs</a:t>
                      </a:r>
                      <a:endParaRPr b="1" sz="600" u="none" cap="none" strike="noStrike">
                        <a:solidFill>
                          <a:srgbClr val="38761D"/>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b="1" lang="en-GB" sz="600" u="none" cap="none" strike="noStrike">
                          <a:solidFill>
                            <a:srgbClr val="38761D"/>
                          </a:solidFill>
                          <a:latin typeface="Helvetica Neue"/>
                          <a:ea typeface="Helvetica Neue"/>
                          <a:cs typeface="Helvetica Neue"/>
                          <a:sym typeface="Helvetica Neue"/>
                        </a:rPr>
                        <a:t>4 mins 24 secs</a:t>
                      </a:r>
                      <a:endParaRPr b="1" sz="600" u="none" cap="none" strike="noStrike">
                        <a:solidFill>
                          <a:srgbClr val="38761D"/>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r h="17727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Response time (WhatsApp)</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&lt;4 mins</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b="1" lang="en-GB" sz="600" u="none" cap="none" strike="noStrike">
                          <a:solidFill>
                            <a:srgbClr val="38761D"/>
                          </a:solidFill>
                          <a:latin typeface="Helvetica Neue"/>
                          <a:ea typeface="Helvetica Neue"/>
                          <a:cs typeface="Helvetica Neue"/>
                          <a:sym typeface="Helvetica Neue"/>
                        </a:rPr>
                        <a:t>2 mins</a:t>
                      </a:r>
                      <a:endParaRPr b="1" sz="600" u="none" cap="none" strike="noStrike">
                        <a:solidFill>
                          <a:srgbClr val="38761D"/>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b="1" lang="en-GB" sz="600" u="none" cap="none" strike="noStrike">
                          <a:solidFill>
                            <a:srgbClr val="38761D"/>
                          </a:solidFill>
                          <a:latin typeface="Helvetica Neue"/>
                          <a:ea typeface="Helvetica Neue"/>
                          <a:cs typeface="Helvetica Neue"/>
                          <a:sym typeface="Helvetica Neue"/>
                        </a:rPr>
                        <a:t>2 mins</a:t>
                      </a:r>
                      <a:endParaRPr b="1" sz="600" u="none" cap="none" strike="noStrike">
                        <a:solidFill>
                          <a:srgbClr val="38761D"/>
                        </a:solidFill>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r h="44087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Complaint Resolution Time</a:t>
                      </a:r>
                      <a:endParaRPr sz="600" u="none" cap="none" strike="noStrike">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(No. of Cases)</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24wh</a:t>
                      </a:r>
                      <a:endParaRPr sz="600" u="none" cap="none" strike="noStrike">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48wh</a:t>
                      </a:r>
                      <a:endParaRPr sz="600" u="none" cap="none" strike="noStrike">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72wh</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&lt;24wh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24 - 48wh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48 - 72wh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&gt;72wh</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3">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378</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70</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32</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290</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&lt;24wh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24 - 48wh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48 - 72wh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&gt;72wh</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3">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1663</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567</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331</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707</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r>
              <a:tr h="96922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8</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Case Resolution</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Inquiry: &lt;8wh = 1wd</a:t>
                      </a:r>
                      <a:endParaRPr sz="600" u="none" cap="none" strike="noStrike">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Complaint: &lt;72wh</a:t>
                      </a:r>
                      <a:endParaRPr sz="600" u="none" cap="none" strike="noStrike">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Feedback: &lt;48 hrs</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b="1" lang="en-GB" sz="600" u="sng" cap="none" strike="noStrike">
                          <a:latin typeface="Helvetica Neue"/>
                          <a:ea typeface="Helvetica Neue"/>
                          <a:cs typeface="Helvetica Neue"/>
                          <a:sym typeface="Helvetica Neue"/>
                        </a:rPr>
                        <a:t>Inquiry</a:t>
                      </a:r>
                      <a:endParaRPr b="1" sz="600" u="sng"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Case</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Case resolve within 8wh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sng" cap="none" strike="noStrike">
                          <a:latin typeface="Helvetica Neue"/>
                          <a:ea typeface="Helvetica Neue"/>
                          <a:cs typeface="Helvetica Neue"/>
                          <a:sym typeface="Helvetica Neue"/>
                        </a:rPr>
                        <a:t>Complaint</a:t>
                      </a:r>
                      <a:endParaRPr b="1" sz="600" u="sng"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Case</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Case resolve within 72wh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txBody>
                  <a:tcPr marT="19050" marB="19050" marR="28575" marL="28575">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1024</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887</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87%</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770</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480</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62%</a:t>
                      </a:r>
                      <a:endParaRPr b="1" sz="600" u="none" cap="none" strike="noStrike">
                        <a:latin typeface="Helvetica Neue"/>
                        <a:ea typeface="Helvetica Neue"/>
                        <a:cs typeface="Helvetica Neue"/>
                        <a:sym typeface="Helvetica Neue"/>
                      </a:endParaRPr>
                    </a:p>
                  </a:txBody>
                  <a:tcPr marT="19050" marB="19050" marR="28575" marL="28575">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b="1" lang="en-GB" sz="600" u="sng" cap="none" strike="noStrike">
                          <a:latin typeface="Helvetica Neue"/>
                          <a:ea typeface="Helvetica Neue"/>
                          <a:cs typeface="Helvetica Neue"/>
                          <a:sym typeface="Helvetica Neue"/>
                        </a:rPr>
                        <a:t>Compliment / Feedback</a:t>
                      </a:r>
                      <a:endParaRPr b="1" sz="600" u="sng"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Case</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Case resolve within 16wh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txBody>
                  <a:tcPr marT="19050" marB="19050" marR="28575" marL="28575">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17</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17</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100%</a:t>
                      </a:r>
                      <a:endParaRPr b="1" sz="600" u="none" cap="none" strike="noStrike">
                        <a:latin typeface="Helvetica Neue"/>
                        <a:ea typeface="Helvetica Neue"/>
                        <a:cs typeface="Helvetica Neue"/>
                        <a:sym typeface="Helvetica Neue"/>
                      </a:endParaRPr>
                    </a:p>
                  </a:txBody>
                  <a:tcPr marT="19050" marB="19050" marR="28575" marL="28575">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600"/>
                        <a:buFont typeface="Arial"/>
                        <a:buNone/>
                      </a:pPr>
                      <a:r>
                        <a:rPr b="1" lang="en-GB" sz="600" u="sng" cap="none" strike="noStrike">
                          <a:latin typeface="Helvetica Neue"/>
                          <a:ea typeface="Helvetica Neue"/>
                          <a:cs typeface="Helvetica Neue"/>
                          <a:sym typeface="Helvetica Neue"/>
                        </a:rPr>
                        <a:t>Inquiry</a:t>
                      </a:r>
                      <a:endParaRPr b="1" sz="600" u="sng"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Case</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Case resolve within 8wh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sng" cap="none" strike="noStrike">
                          <a:latin typeface="Helvetica Neue"/>
                          <a:ea typeface="Helvetica Neue"/>
                          <a:cs typeface="Helvetica Neue"/>
                          <a:sym typeface="Helvetica Neue"/>
                        </a:rPr>
                        <a:t>Complaint</a:t>
                      </a:r>
                      <a:endParaRPr b="1" sz="600" u="sng"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Case</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Case resolve within 72wh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5251</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4573</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87.1%</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3268</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2561</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78.4%</a:t>
                      </a:r>
                      <a:endParaRPr b="1" sz="600" u="none" cap="none" strike="noStrike">
                        <a:latin typeface="Helvetica Neue"/>
                        <a:ea typeface="Helvetica Neue"/>
                        <a:cs typeface="Helvetica Neue"/>
                        <a:sym typeface="Helvetica Neue"/>
                      </a:endParaRPr>
                    </a:p>
                  </a:txBody>
                  <a:tcPr marT="19050" marB="19050" marR="28575" marL="28575">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b="1" lang="en-GB" sz="600" u="sng" cap="none" strike="noStrike">
                          <a:latin typeface="Helvetica Neue"/>
                          <a:ea typeface="Helvetica Neue"/>
                          <a:cs typeface="Helvetica Neue"/>
                          <a:sym typeface="Helvetica Neue"/>
                        </a:rPr>
                        <a:t>Compliment / Feedback</a:t>
                      </a:r>
                      <a:endParaRPr b="1" sz="600" u="sng"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Case</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Case resolve within 16wh</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txBody>
                  <a:tcPr marT="19050" marB="19050" marR="28575" marL="28575">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62</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62</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100%</a:t>
                      </a:r>
                      <a:endParaRPr b="1" sz="600" u="none" cap="none" strike="noStrike">
                        <a:latin typeface="Helvetica Neue"/>
                        <a:ea typeface="Helvetica Neue"/>
                        <a:cs typeface="Helvetica Neue"/>
                        <a:sym typeface="Helvetica Neue"/>
                      </a:endParaRPr>
                    </a:p>
                  </a:txBody>
                  <a:tcPr marT="19050" marB="19050" marR="28575" marL="28575">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r>
              <a:tr h="21382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Number of WIP cases (Cut off date: June 2026)</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16</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r h="339850">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10</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Abandon call during working hour</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&lt; 5%</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Call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Abandon Call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3">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480</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0</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0%</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Call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Abandon Call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3">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3484</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0</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0%</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r>
              <a:tr h="16607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11</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RSA arrival time &lt;60 min</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95%</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60 mins</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60 mins</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r h="339850">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12</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RSA AHT call &lt;10mins</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95%</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RSA Call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RSA AHT Call &lt;10 mins</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3">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124</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124</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100%</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Total RSA Call</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RSA AHT Call &lt;10 mins</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b="1" lang="en-GB" sz="600" u="none" cap="none" strike="noStrike">
                          <a:latin typeface="Helvetica Neue"/>
                          <a:ea typeface="Helvetica Neue"/>
                          <a:cs typeface="Helvetica Neue"/>
                          <a:sym typeface="Helvetica Neue"/>
                        </a:rPr>
                        <a:t>Percentage</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FFFFFF"/>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3">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859</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663</a:t>
                      </a:r>
                      <a:endParaRPr sz="600" u="none" cap="none" strike="noStrike">
                        <a:latin typeface="Helvetica Neue"/>
                        <a:ea typeface="Helvetica Neue"/>
                        <a:cs typeface="Helvetica Neue"/>
                        <a:sym typeface="Helvetica Neue"/>
                      </a:endParaRPr>
                    </a:p>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 77.2%</a:t>
                      </a:r>
                      <a:endParaRPr b="1" sz="600" u="none" cap="none" strike="noStrike">
                        <a:latin typeface="Helvetica Neue"/>
                        <a:ea typeface="Helvetica Neue"/>
                        <a:cs typeface="Helvetica Neue"/>
                        <a:sym typeface="Helvetica Neue"/>
                      </a:endParaRPr>
                    </a:p>
                  </a:txBody>
                  <a:tcPr marT="19050" marB="19050" marR="28575" marL="28575" anchor="b">
                    <a:lnL cap="flat" cmpd="sng" w="11900">
                      <a:solidFill>
                        <a:srgbClr val="FFFFFF"/>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r>
              <a:tr h="13777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13</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Social Media response time &lt;2WH</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98%</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hour</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hour</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r h="137775">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14</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Email response time &lt;2WD</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98%</a:t>
                      </a:r>
                      <a:endParaRPr sz="600" u="none" cap="none" strike="noStrike">
                        <a:latin typeface="Helvetica Neue"/>
                        <a:ea typeface="Helvetica Neue"/>
                        <a:cs typeface="Helvetica Neue"/>
                        <a:sym typeface="Helvetica Neue"/>
                      </a:endParaRPr>
                    </a:p>
                  </a:txBody>
                  <a:tcPr marT="19050" marB="19050" marR="28575" marL="28575" anchor="ctr">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day</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c gridSpan="4">
                  <a:txBody>
                    <a:bodyPr/>
                    <a:lstStyle/>
                    <a:p>
                      <a:pPr indent="0" lvl="0" marL="0" marR="0" rtl="0" algn="l">
                        <a:lnSpc>
                          <a:spcPct val="115000"/>
                        </a:lnSpc>
                        <a:spcBef>
                          <a:spcPts val="0"/>
                        </a:spcBef>
                        <a:spcAft>
                          <a:spcPts val="0"/>
                        </a:spcAft>
                        <a:buClr>
                          <a:srgbClr val="000000"/>
                        </a:buClr>
                        <a:buSzPts val="600"/>
                        <a:buFont typeface="Arial"/>
                        <a:buNone/>
                      </a:pPr>
                      <a:r>
                        <a:rPr lang="en-GB" sz="600" u="none" cap="none" strike="noStrike">
                          <a:latin typeface="Helvetica Neue"/>
                          <a:ea typeface="Helvetica Neue"/>
                          <a:cs typeface="Helvetica Neue"/>
                          <a:sym typeface="Helvetica Neue"/>
                        </a:rPr>
                        <a:t>1 day</a:t>
                      </a:r>
                      <a:endParaRPr sz="600" u="none" cap="none" strike="noStrike">
                        <a:latin typeface="Helvetica Neue"/>
                        <a:ea typeface="Helvetica Neue"/>
                        <a:cs typeface="Helvetica Neue"/>
                        <a:sym typeface="Helvetica Neue"/>
                      </a:endParaRPr>
                    </a:p>
                  </a:txBody>
                  <a:tcPr marT="19050" marB="19050" marR="28575" marL="28575" anchor="b">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tcPr>
                </a:tc>
                <a:tc hMerge="1"/>
                <a:tc hMerge="1"/>
                <a:tc hMerge="1"/>
              </a:tr>
            </a:tbl>
          </a:graphicData>
        </a:graphic>
      </p:graphicFrame>
      <p:sp>
        <p:nvSpPr>
          <p:cNvPr id="463" name="Google Shape;463;p71"/>
          <p:cNvSpPr txBox="1"/>
          <p:nvPr/>
        </p:nvSpPr>
        <p:spPr>
          <a:xfrm>
            <a:off x="304800" y="30480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id="468" name="Google Shape;468;p72"/>
          <p:cNvPicPr preferRelativeResize="0"/>
          <p:nvPr/>
        </p:nvPicPr>
        <p:blipFill rotWithShape="1">
          <a:blip r:embed="rId3">
            <a:alphaModFix/>
          </a:blip>
          <a:srcRect b="0" l="0" r="0" t="0"/>
          <a:stretch/>
        </p:blipFill>
        <p:spPr>
          <a:xfrm>
            <a:off x="110800" y="135901"/>
            <a:ext cx="9143999" cy="591298"/>
          </a:xfrm>
          <a:prstGeom prst="rect">
            <a:avLst/>
          </a:prstGeom>
          <a:noFill/>
          <a:ln>
            <a:noFill/>
          </a:ln>
        </p:spPr>
      </p:pic>
      <p:pic>
        <p:nvPicPr>
          <p:cNvPr id="469" name="Google Shape;469;p72"/>
          <p:cNvPicPr preferRelativeResize="0"/>
          <p:nvPr/>
        </p:nvPicPr>
        <p:blipFill rotWithShape="1">
          <a:blip r:embed="rId4">
            <a:alphaModFix/>
          </a:blip>
          <a:srcRect b="0" l="0" r="0" t="0"/>
          <a:stretch/>
        </p:blipFill>
        <p:spPr>
          <a:xfrm>
            <a:off x="990613" y="856274"/>
            <a:ext cx="7108019" cy="411150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pic>
        <p:nvPicPr>
          <p:cNvPr id="474" name="Google Shape;474;p73"/>
          <p:cNvPicPr preferRelativeResize="0"/>
          <p:nvPr/>
        </p:nvPicPr>
        <p:blipFill rotWithShape="1">
          <a:blip r:embed="rId3">
            <a:alphaModFix/>
          </a:blip>
          <a:srcRect b="0" l="0" r="0" t="0"/>
          <a:stretch/>
        </p:blipFill>
        <p:spPr>
          <a:xfrm>
            <a:off x="186600" y="124226"/>
            <a:ext cx="9143999" cy="591298"/>
          </a:xfrm>
          <a:prstGeom prst="rect">
            <a:avLst/>
          </a:prstGeom>
          <a:noFill/>
          <a:ln>
            <a:noFill/>
          </a:ln>
        </p:spPr>
      </p:pic>
      <p:pic>
        <p:nvPicPr>
          <p:cNvPr id="475" name="Google Shape;475;p73"/>
          <p:cNvPicPr preferRelativeResize="0"/>
          <p:nvPr/>
        </p:nvPicPr>
        <p:blipFill rotWithShape="1">
          <a:blip r:embed="rId4">
            <a:alphaModFix/>
          </a:blip>
          <a:srcRect b="0" l="0" r="0" t="0"/>
          <a:stretch/>
        </p:blipFill>
        <p:spPr>
          <a:xfrm>
            <a:off x="858025" y="862074"/>
            <a:ext cx="7128203" cy="4123177"/>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4"/>
          <p:cNvSpPr txBox="1"/>
          <p:nvPr>
            <p:ph idx="1" type="body"/>
          </p:nvPr>
        </p:nvSpPr>
        <p:spPr>
          <a:xfrm>
            <a:off x="311700" y="965100"/>
            <a:ext cx="8520600" cy="34164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chemeClr val="dk1"/>
              </a:buClr>
              <a:buSzPts val="1300"/>
              <a:buFont typeface="Helvetica Neue"/>
              <a:buAutoNum type="arabicPeriod"/>
            </a:pPr>
            <a:r>
              <a:rPr b="1" lang="en-GB" sz="1300">
                <a:solidFill>
                  <a:schemeClr val="dk1"/>
                </a:solidFill>
                <a:latin typeface="Helvetica Neue"/>
                <a:ea typeface="Helvetica Neue"/>
                <a:cs typeface="Helvetica Neue"/>
                <a:sym typeface="Helvetica Neue"/>
              </a:rPr>
              <a:t>Vehicle Delivery, No Allocation / No ETD / Overpromised ETD</a:t>
            </a:r>
            <a:endParaRPr b="1"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SzPts val="1300"/>
              <a:buChar char="●"/>
            </a:pPr>
            <a:r>
              <a:rPr lang="en-GB" sz="1300">
                <a:solidFill>
                  <a:schemeClr val="dk1"/>
                </a:solidFill>
                <a:latin typeface="Helvetica Neue"/>
                <a:ea typeface="Helvetica Neue"/>
                <a:cs typeface="Helvetica Neue"/>
                <a:sym typeface="Helvetica Neue"/>
              </a:rPr>
              <a:t>Back &amp; forth exchanges of communication without clear closure</a:t>
            </a:r>
            <a:r>
              <a:rPr lang="en-GB" sz="1300">
                <a:solidFill>
                  <a:srgbClr val="E9E9E9"/>
                </a:solidFill>
                <a:latin typeface="Helvetica Neue"/>
                <a:ea typeface="Helvetica Neue"/>
                <a:cs typeface="Helvetica Neue"/>
                <a:sym typeface="Helvetica Neue"/>
              </a:rPr>
              <a:t>.</a:t>
            </a:r>
            <a:endParaRPr sz="1300">
              <a:solidFill>
                <a:srgbClr val="E9E9E9"/>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SzPts val="1300"/>
              <a:buChar char="●"/>
            </a:pPr>
            <a:r>
              <a:rPr lang="en-GB" sz="1300">
                <a:solidFill>
                  <a:schemeClr val="dk1"/>
                </a:solidFill>
                <a:latin typeface="Helvetica Neue"/>
                <a:ea typeface="Helvetica Neue"/>
                <a:cs typeface="Helvetica Neue"/>
                <a:sym typeface="Helvetica Neue"/>
              </a:rPr>
              <a:t>Dealer always inform customer to check with Pronet HQ via PeC on delivery status</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Constant follow up on same case</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Customer does not get clear answer on ETD</a:t>
            </a:r>
            <a:endParaRPr sz="1300">
              <a:solidFill>
                <a:schemeClr val="dk1"/>
              </a:solidFill>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rPr b="1" lang="en-GB" sz="1300">
                <a:solidFill>
                  <a:schemeClr val="dk1"/>
                </a:solidFill>
                <a:latin typeface="Helvetica Neue"/>
                <a:ea typeface="Helvetica Neue"/>
                <a:cs typeface="Helvetica Neue"/>
                <a:sym typeface="Helvetica Neue"/>
              </a:rPr>
              <a:t>Suggestion :</a:t>
            </a:r>
            <a:endParaRPr b="1"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AutoNum type="arabicPeriod"/>
            </a:pPr>
            <a:r>
              <a:rPr lang="en-GB" sz="1300">
                <a:solidFill>
                  <a:schemeClr val="dk1"/>
                </a:solidFill>
                <a:latin typeface="Helvetica Neue"/>
                <a:ea typeface="Helvetica Neue"/>
                <a:cs typeface="Helvetica Neue"/>
                <a:sym typeface="Helvetica Neue"/>
              </a:rPr>
              <a:t>1. To inform customer we are unable to handle Vehicle Delivery related issue and suggest them to follow up directly with dealer.</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AutoNum type="arabicPeriod"/>
            </a:pPr>
            <a:r>
              <a:rPr lang="en-GB" sz="1300">
                <a:solidFill>
                  <a:schemeClr val="dk1"/>
                </a:solidFill>
                <a:latin typeface="Helvetica Neue"/>
                <a:ea typeface="Helvetica Neue"/>
                <a:cs typeface="Helvetica Neue"/>
                <a:sym typeface="Helvetica Neue"/>
              </a:rPr>
              <a:t>2. We will still follow current flow by escalating to dealer and proceed close case.</a:t>
            </a:r>
            <a:endParaRPr sz="13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800"/>
              <a:buNone/>
            </a:pPr>
            <a:r>
              <a:t/>
            </a:r>
            <a:endParaRPr sz="1300">
              <a:latin typeface="Helvetica Neue"/>
              <a:ea typeface="Helvetica Neue"/>
              <a:cs typeface="Helvetica Neue"/>
              <a:sym typeface="Helvetica Neue"/>
            </a:endParaRPr>
          </a:p>
        </p:txBody>
      </p:sp>
      <p:pic>
        <p:nvPicPr>
          <p:cNvPr id="481" name="Google Shape;481;p74"/>
          <p:cNvPicPr preferRelativeResize="0"/>
          <p:nvPr/>
        </p:nvPicPr>
        <p:blipFill rotWithShape="1">
          <a:blip r:embed="rId3">
            <a:alphaModFix/>
          </a:blip>
          <a:srcRect b="0" l="0" r="0" t="0"/>
          <a:stretch/>
        </p:blipFill>
        <p:spPr>
          <a:xfrm>
            <a:off x="116625" y="121726"/>
            <a:ext cx="9144001" cy="59634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7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sz="1300">
                <a:solidFill>
                  <a:schemeClr val="dk1"/>
                </a:solidFill>
                <a:latin typeface="Helvetica Neue"/>
                <a:ea typeface="Helvetica Neue"/>
                <a:cs typeface="Helvetica Neue"/>
                <a:sym typeface="Helvetica Neue"/>
              </a:rPr>
              <a:t>2.  </a:t>
            </a:r>
            <a:r>
              <a:rPr b="1" lang="en-GB" sz="1300">
                <a:solidFill>
                  <a:schemeClr val="dk1"/>
                </a:solidFill>
                <a:latin typeface="Helvetica Neue"/>
                <a:ea typeface="Helvetica Neue"/>
                <a:cs typeface="Helvetica Neue"/>
                <a:sym typeface="Helvetica Neue"/>
              </a:rPr>
              <a:t>Refund</a:t>
            </a:r>
            <a:endParaRPr b="1"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Back &amp; forth exchanges of communication without clear closure</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Dealer may or may not reply instantly</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Customer does not get clear answer on refund status</a:t>
            </a:r>
            <a:endParaRPr sz="1300">
              <a:solidFill>
                <a:schemeClr val="dk1"/>
              </a:solidFill>
              <a:latin typeface="Helvetica Neue"/>
              <a:ea typeface="Helvetica Neue"/>
              <a:cs typeface="Helvetica Neue"/>
              <a:sym typeface="Helvetica Neue"/>
            </a:endParaRPr>
          </a:p>
          <a:p>
            <a:pPr indent="0" lvl="0" marL="457200" rtl="0" algn="l">
              <a:lnSpc>
                <a:spcPct val="115000"/>
              </a:lnSpc>
              <a:spcBef>
                <a:spcPts val="0"/>
              </a:spcBef>
              <a:spcAft>
                <a:spcPts val="0"/>
              </a:spcAft>
              <a:buSzPts val="1800"/>
              <a:buNone/>
            </a:pPr>
            <a:r>
              <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rPr b="1" lang="en-GB" sz="1300">
                <a:solidFill>
                  <a:schemeClr val="dk1"/>
                </a:solidFill>
                <a:latin typeface="Helvetica Neue"/>
                <a:ea typeface="Helvetica Neue"/>
                <a:cs typeface="Helvetica Neue"/>
                <a:sym typeface="Helvetica Neue"/>
              </a:rPr>
              <a:t>Suggestion :</a:t>
            </a:r>
            <a:endParaRPr b="1"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AutoNum type="arabicPeriod"/>
            </a:pPr>
            <a:r>
              <a:rPr lang="en-GB" sz="1300">
                <a:solidFill>
                  <a:schemeClr val="dk1"/>
                </a:solidFill>
                <a:latin typeface="Helvetica Neue"/>
                <a:ea typeface="Helvetica Neue"/>
                <a:cs typeface="Helvetica Neue"/>
                <a:sym typeface="Helvetica Neue"/>
              </a:rPr>
              <a:t>To inform customer we are unable to handle deposit refund related issue and suggest them to follow up directly with dealer.</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AutoNum type="arabicPeriod"/>
            </a:pPr>
            <a:r>
              <a:rPr lang="en-GB" sz="1300">
                <a:solidFill>
                  <a:schemeClr val="dk1"/>
                </a:solidFill>
                <a:latin typeface="Helvetica Neue"/>
                <a:ea typeface="Helvetica Neue"/>
                <a:cs typeface="Helvetica Neue"/>
                <a:sym typeface="Helvetica Neue"/>
              </a:rPr>
              <a:t>We will still follow current flow by escalating to dealer and proceed close case.</a:t>
            </a:r>
            <a:endParaRPr sz="13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800"/>
              <a:buNone/>
            </a:pPr>
            <a:r>
              <a:t/>
            </a:r>
            <a:endParaRPr sz="1300">
              <a:latin typeface="Helvetica Neue"/>
              <a:ea typeface="Helvetica Neue"/>
              <a:cs typeface="Helvetica Neue"/>
              <a:sym typeface="Helvetica Neue"/>
            </a:endParaRPr>
          </a:p>
        </p:txBody>
      </p:sp>
      <p:pic>
        <p:nvPicPr>
          <p:cNvPr id="487" name="Google Shape;487;p75"/>
          <p:cNvPicPr preferRelativeResize="0"/>
          <p:nvPr/>
        </p:nvPicPr>
        <p:blipFill rotWithShape="1">
          <a:blip r:embed="rId3">
            <a:alphaModFix/>
          </a:blip>
          <a:srcRect b="0" l="0" r="0" t="0"/>
          <a:stretch/>
        </p:blipFill>
        <p:spPr>
          <a:xfrm>
            <a:off x="145800" y="191676"/>
            <a:ext cx="9144001" cy="59634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sz="1300">
                <a:solidFill>
                  <a:schemeClr val="dk1"/>
                </a:solidFill>
                <a:latin typeface="Helvetica Neue"/>
                <a:ea typeface="Helvetica Neue"/>
                <a:cs typeface="Helvetica Neue"/>
                <a:sym typeface="Helvetica Neue"/>
              </a:rPr>
              <a:t>3.  </a:t>
            </a:r>
            <a:r>
              <a:rPr b="1" lang="en-GB" sz="1300">
                <a:solidFill>
                  <a:schemeClr val="dk1"/>
                </a:solidFill>
                <a:latin typeface="Helvetica Neue"/>
                <a:ea typeface="Helvetica Neue"/>
                <a:cs typeface="Helvetica Neue"/>
                <a:sym typeface="Helvetica Neue"/>
              </a:rPr>
              <a:t>No QR Scanner</a:t>
            </a:r>
            <a:endParaRPr b="1"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Dealer did not complete the outbound process in DMS</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Dealer may or may not reply instantly</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Some cases dealer did not respond with status</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rPr lang="en-GB" sz="1300">
                <a:solidFill>
                  <a:schemeClr val="dk1"/>
                </a:solidFill>
                <a:latin typeface="Helvetica Neue"/>
                <a:ea typeface="Helvetica Neue"/>
                <a:cs typeface="Helvetica Neue"/>
                <a:sym typeface="Helvetica Neue"/>
              </a:rPr>
              <a:t>4.  </a:t>
            </a:r>
            <a:r>
              <a:rPr b="1" lang="en-GB" sz="1300">
                <a:solidFill>
                  <a:schemeClr val="dk1"/>
                </a:solidFill>
                <a:latin typeface="Helvetica Neue"/>
                <a:ea typeface="Helvetica Neue"/>
                <a:cs typeface="Helvetica Neue"/>
                <a:sym typeface="Helvetica Neue"/>
              </a:rPr>
              <a:t>Change of Phone number / Unable to book assessment</a:t>
            </a:r>
            <a:endParaRPr b="1"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We will escalate to Sales</a:t>
            </a:r>
            <a:endParaRPr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latin typeface="Helvetica Neue"/>
                <a:ea typeface="Helvetica Neue"/>
                <a:cs typeface="Helvetica Neue"/>
                <a:sym typeface="Helvetica Neue"/>
              </a:rPr>
              <a:t>If there is a need for booking of home assessment, PeC needs to escalate to charging team.</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t/>
            </a:r>
            <a:endParaRPr sz="1300">
              <a:solidFill>
                <a:schemeClr val="dk1"/>
              </a:solidFill>
              <a:latin typeface="Helvetica Neue"/>
              <a:ea typeface="Helvetica Neue"/>
              <a:cs typeface="Helvetica Neue"/>
              <a:sym typeface="Helvetica Neue"/>
            </a:endParaRPr>
          </a:p>
          <a:p>
            <a:pPr indent="0" lvl="0" marL="0" rtl="0" algn="l">
              <a:lnSpc>
                <a:spcPct val="115000"/>
              </a:lnSpc>
              <a:spcBef>
                <a:spcPts val="0"/>
              </a:spcBef>
              <a:spcAft>
                <a:spcPts val="0"/>
              </a:spcAft>
              <a:buSzPts val="1800"/>
              <a:buNone/>
            </a:pPr>
            <a:r>
              <a:rPr b="1" lang="en-GB" sz="1300">
                <a:solidFill>
                  <a:schemeClr val="dk1"/>
                </a:solidFill>
                <a:latin typeface="Helvetica Neue"/>
                <a:ea typeface="Helvetica Neue"/>
                <a:cs typeface="Helvetica Neue"/>
                <a:sym typeface="Helvetica Neue"/>
              </a:rPr>
              <a:t>Suggestion :</a:t>
            </a:r>
            <a:endParaRPr b="1" sz="1300">
              <a:solidFill>
                <a:schemeClr val="dk1"/>
              </a:solidFill>
              <a:latin typeface="Helvetica Neue"/>
              <a:ea typeface="Helvetica Neue"/>
              <a:cs typeface="Helvetica Neue"/>
              <a:sym typeface="Helvetica Neue"/>
            </a:endParaRPr>
          </a:p>
          <a:p>
            <a:pPr indent="-311150" lvl="0" marL="457200" rtl="0" algn="l">
              <a:lnSpc>
                <a:spcPct val="115000"/>
              </a:lnSpc>
              <a:spcBef>
                <a:spcPts val="0"/>
              </a:spcBef>
              <a:spcAft>
                <a:spcPts val="0"/>
              </a:spcAft>
              <a:buClr>
                <a:schemeClr val="dk1"/>
              </a:buClr>
              <a:buSzPts val="1300"/>
              <a:buAutoNum type="arabicPeriod"/>
            </a:pPr>
            <a:r>
              <a:rPr lang="en-GB" sz="1300">
                <a:solidFill>
                  <a:schemeClr val="dk1"/>
                </a:solidFill>
                <a:latin typeface="Helvetica Neue"/>
                <a:ea typeface="Helvetica Neue"/>
                <a:cs typeface="Helvetica Neue"/>
                <a:sym typeface="Helvetica Neue"/>
              </a:rPr>
              <a:t>PeC to escalate to both Sales &amp; Charging Team</a:t>
            </a:r>
            <a:endParaRPr sz="1300">
              <a:solidFill>
                <a:schemeClr val="dk1"/>
              </a:solidFill>
              <a:latin typeface="Helvetica Neue"/>
              <a:ea typeface="Helvetica Neue"/>
              <a:cs typeface="Helvetica Neue"/>
              <a:sym typeface="Helvetica Neue"/>
            </a:endParaRPr>
          </a:p>
          <a:p>
            <a:pPr indent="0" lvl="0" marL="0" rtl="0" algn="l">
              <a:lnSpc>
                <a:spcPct val="100000"/>
              </a:lnSpc>
              <a:spcBef>
                <a:spcPts val="0"/>
              </a:spcBef>
              <a:spcAft>
                <a:spcPts val="0"/>
              </a:spcAft>
              <a:buSzPts val="1800"/>
              <a:buNone/>
            </a:pPr>
            <a:r>
              <a:t/>
            </a:r>
            <a:endParaRPr sz="1300">
              <a:latin typeface="Helvetica Neue"/>
              <a:ea typeface="Helvetica Neue"/>
              <a:cs typeface="Helvetica Neue"/>
              <a:sym typeface="Helvetica Neue"/>
            </a:endParaRPr>
          </a:p>
        </p:txBody>
      </p:sp>
      <p:pic>
        <p:nvPicPr>
          <p:cNvPr id="493" name="Google Shape;493;p76"/>
          <p:cNvPicPr preferRelativeResize="0"/>
          <p:nvPr/>
        </p:nvPicPr>
        <p:blipFill rotWithShape="1">
          <a:blip r:embed="rId3">
            <a:alphaModFix/>
          </a:blip>
          <a:srcRect b="0" l="0" r="0" t="0"/>
          <a:stretch/>
        </p:blipFill>
        <p:spPr>
          <a:xfrm>
            <a:off x="163300" y="197526"/>
            <a:ext cx="9144001" cy="59634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p77"/>
          <p:cNvPicPr preferRelativeResize="0"/>
          <p:nvPr>
            <p:ph idx="2" type="pic"/>
          </p:nvPr>
        </p:nvPicPr>
        <p:blipFill rotWithShape="1">
          <a:blip r:embed="rId3">
            <a:alphaModFix/>
          </a:blip>
          <a:srcRect b="14018" l="0" r="0" t="14018"/>
          <a:stretch/>
        </p:blipFill>
        <p:spPr>
          <a:xfrm>
            <a:off x="0" y="0"/>
            <a:ext cx="9144000" cy="3214688"/>
          </a:xfrm>
          <a:prstGeom prst="rect">
            <a:avLst/>
          </a:prstGeom>
          <a:solidFill>
            <a:schemeClr val="dk2"/>
          </a:solidFill>
          <a:ln>
            <a:noFill/>
          </a:ln>
        </p:spPr>
      </p:pic>
      <p:sp>
        <p:nvSpPr>
          <p:cNvPr id="499" name="Google Shape;499;p77"/>
          <p:cNvSpPr txBox="1"/>
          <p:nvPr/>
        </p:nvSpPr>
        <p:spPr>
          <a:xfrm>
            <a:off x="2984780" y="1409484"/>
            <a:ext cx="2500650" cy="10638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lt1"/>
              </a:buClr>
              <a:buSzPts val="3800"/>
              <a:buFont typeface="Roboto"/>
              <a:buNone/>
            </a:pPr>
            <a:r>
              <a:rPr b="1" i="0" lang="en-GB" sz="3800" u="none" cap="none" strike="noStrike">
                <a:solidFill>
                  <a:schemeClr val="lt1"/>
                </a:solidFill>
                <a:latin typeface="Roboto"/>
                <a:ea typeface="Roboto"/>
                <a:cs typeface="Roboto"/>
                <a:sym typeface="Roboto"/>
              </a:rPr>
              <a:t>Thank you</a:t>
            </a:r>
            <a:endParaRPr b="0" i="0" sz="1100" u="none" cap="none" strike="noStrike">
              <a:solidFill>
                <a:srgbClr val="000000"/>
              </a:solidFill>
              <a:latin typeface="Arial"/>
              <a:ea typeface="Arial"/>
              <a:cs typeface="Arial"/>
              <a:sym typeface="Arial"/>
            </a:endParaRPr>
          </a:p>
        </p:txBody>
      </p:sp>
      <p:sp>
        <p:nvSpPr>
          <p:cNvPr id="500" name="Google Shape;500;p77"/>
          <p:cNvSpPr txBox="1"/>
          <p:nvPr/>
        </p:nvSpPr>
        <p:spPr>
          <a:xfrm>
            <a:off x="306725" y="3498375"/>
            <a:ext cx="3000000" cy="1185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rgbClr val="000000"/>
                </a:solidFill>
                <a:latin typeface="Helvetica Neue Light"/>
                <a:ea typeface="Helvetica Neue Light"/>
                <a:cs typeface="Helvetica Neue Light"/>
                <a:sym typeface="Helvetica Neue Light"/>
              </a:rPr>
              <a:t>(Office and Operation Center)</a:t>
            </a:r>
            <a:endParaRPr b="0" i="0" sz="22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rgbClr val="000000"/>
                </a:solidFill>
                <a:latin typeface="Helvetica Neue Light"/>
                <a:ea typeface="Helvetica Neue Light"/>
                <a:cs typeface="Helvetica Neue Light"/>
                <a:sym typeface="Helvetica Neue Light"/>
              </a:rPr>
              <a:t>19, Jalan Kuchai Maju,</a:t>
            </a:r>
            <a:endParaRPr b="0" i="0" sz="22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rgbClr val="000000"/>
                </a:solidFill>
                <a:latin typeface="Helvetica Neue Light"/>
                <a:ea typeface="Helvetica Neue Light"/>
                <a:cs typeface="Helvetica Neue Light"/>
                <a:sym typeface="Helvetica Neue Light"/>
              </a:rPr>
              <a:t>Kuchai Entrepreneurs Park, 58200, Kuala Lumpur</a:t>
            </a:r>
            <a:endParaRPr b="0" i="0" sz="1300" u="none" cap="none" strike="noStrike">
              <a:solidFill>
                <a:srgbClr val="000000"/>
              </a:solidFill>
              <a:latin typeface="Arial"/>
              <a:ea typeface="Arial"/>
              <a:cs typeface="Arial"/>
              <a:sym typeface="Arial"/>
            </a:endParaRPr>
          </a:p>
        </p:txBody>
      </p:sp>
      <p:sp>
        <p:nvSpPr>
          <p:cNvPr id="501" name="Google Shape;501;p77"/>
          <p:cNvSpPr txBox="1"/>
          <p:nvPr/>
        </p:nvSpPr>
        <p:spPr>
          <a:xfrm>
            <a:off x="3369050" y="3624200"/>
            <a:ext cx="3000000" cy="1185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rgbClr val="000000"/>
                </a:solidFill>
                <a:latin typeface="Helvetica Neue Light"/>
                <a:ea typeface="Helvetica Neue Light"/>
                <a:cs typeface="Helvetica Neue Light"/>
                <a:sym typeface="Helvetica Neue Light"/>
              </a:rPr>
              <a:t>Tel: 03-7989 0200 </a:t>
            </a:r>
            <a:endParaRPr b="0" i="0" sz="13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rgbClr val="000000"/>
                </a:solidFill>
                <a:latin typeface="Helvetica Neue Light"/>
                <a:ea typeface="Helvetica Neue Light"/>
                <a:cs typeface="Helvetica Neue Light"/>
                <a:sym typeface="Helvetica Neue Light"/>
              </a:rPr>
              <a:t>Fax 03-7989 0202</a:t>
            </a:r>
            <a:endParaRPr b="0" i="0" sz="22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300"/>
              <a:buFont typeface="Arial"/>
              <a:buNone/>
            </a:pPr>
            <a:r>
              <a:rPr b="0" i="0" lang="en-GB" sz="1300" u="sng" cap="none" strike="noStrike">
                <a:solidFill>
                  <a:schemeClr val="hlink"/>
                </a:solidFill>
                <a:latin typeface="Helvetica Neue Light"/>
                <a:ea typeface="Helvetica Neue Light"/>
                <a:cs typeface="Helvetica Neue Light"/>
                <a:sym typeface="Helvetica Neue Light"/>
                <a:hlinkClick r:id="rId4"/>
              </a:rPr>
              <a:t>www.oneworks.com.my</a:t>
            </a:r>
            <a:endParaRPr b="0" i="0" sz="13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300"/>
              <a:buFont typeface="Arial"/>
              <a:buNone/>
            </a:pPr>
            <a:r>
              <a:rPr b="0" i="0" lang="en-GB" sz="1300" u="sng" cap="none" strike="noStrike">
                <a:solidFill>
                  <a:schemeClr val="hlink"/>
                </a:solidFill>
                <a:latin typeface="Helvetica Neue Light"/>
                <a:ea typeface="Helvetica Neue Light"/>
                <a:cs typeface="Helvetica Neue Light"/>
                <a:sym typeface="Helvetica Neue Light"/>
                <a:hlinkClick r:id="rId5"/>
              </a:rPr>
              <a:t>www.carfix.my</a:t>
            </a:r>
            <a:endParaRPr b="0" i="0" sz="13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rgbClr val="000000"/>
                </a:solidFill>
                <a:latin typeface="Helvetica Neue Light"/>
                <a:ea typeface="Helvetica Neue Light"/>
                <a:cs typeface="Helvetica Neue Light"/>
                <a:sym typeface="Helvetica Neue Light"/>
              </a:rPr>
              <a:t>Email: yphen@oneworks.com.my</a:t>
            </a:r>
            <a:endParaRPr b="0" i="0" sz="13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mart master template">
  <a:themeElements>
    <a:clrScheme name="smart color theme">
      <a:dk1>
        <a:srgbClr val="141414"/>
      </a:dk1>
      <a:lt1>
        <a:srgbClr val="FFFFFF"/>
      </a:lt1>
      <a:dk2>
        <a:srgbClr val="969DA3"/>
      </a:dk2>
      <a:lt2>
        <a:srgbClr val="595959"/>
      </a:lt2>
      <a:accent1>
        <a:srgbClr val="D7E600"/>
      </a:accent1>
      <a:accent2>
        <a:srgbClr val="ACE6B7"/>
      </a:accent2>
      <a:accent3>
        <a:srgbClr val="7DCFE3"/>
      </a:accent3>
      <a:accent4>
        <a:srgbClr val="EA9C98"/>
      </a:accent4>
      <a:accent5>
        <a:srgbClr val="F7BF31"/>
      </a:accent5>
      <a:accent6>
        <a:srgbClr val="E9E9E9"/>
      </a:accent6>
      <a:hlink>
        <a:srgbClr val="141414"/>
      </a:hlink>
      <a:folHlink>
        <a:srgbClr val="1414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