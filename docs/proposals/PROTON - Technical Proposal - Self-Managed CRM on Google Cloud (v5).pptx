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0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C3C3A">
                  <a:alpha val="92000"/>
                </a:srgbClr>
              </a:gs>
              <a:gs pos="100000">
                <a:srgbClr val="3C3C3A">
                  <a:alpha val="8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C354"/>
                </a:solidFill>
                <a:latin typeface="Montserrat"/>
              </a:rPr>
              <a:t>TECHNICAL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PROTON 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8485E"/>
                </a:solidFill>
                <a:latin typeface="Montserrat"/>
              </a:rPr>
              <a:t>Self-managed, AI-native CRM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CA2AE"/>
                </a:solidFill>
                <a:latin typeface="Montserrat"/>
              </a:rPr>
              <a:t>Prepared for  </a:t>
            </a:r>
            <a:r>
              <a:rPr sz="1500" b="1" i="0">
                <a:solidFill>
                  <a:srgbClr val="FFFFFF"/>
                </a:solidFill>
                <a:latin typeface="Montserrat"/>
              </a:rPr>
              <a:t>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Prepared by Devoteam  ·  built to your 5-channel complaint SOP  ·  accelerated 2-month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FEEEE"/>
                </a:solidFill>
                <a:latin typeface="Montserrat"/>
              </a:rPr>
              <a:t>August 2026   ·   Version 5.0   ·   Demonstrated live 28 July 2026   ·   Confidential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02252"/>
            <a:ext cx="1463040" cy="432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26464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situation.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PROTON's complaint operation runs today on Zendesk — a per-seat SaaS CRM. Cost scales with every agent and premium feature, and the data and AI behaviour live inside a vendor you don't control.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proposal.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Replace Zendesk with a self-managed CRM — Chatwoot Community plus a Google Gemini / Vertex AI layer on Google Cloud — built directly to your 5-channel complaint SOP. The platform was demonstrated live to your team on 28 July 2026: this is a migration and hardening engagement, not a greenfield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26464"/>
            <a:ext cx="2971800" cy="329184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426464"/>
            <a:ext cx="2971800" cy="4572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996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WHY NOW / 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48256"/>
            <a:ext cx="26517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Cost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 per-agent SaaS licensing; pay for infrastructure, not seats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Ownership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conversations, KB, AI prompts &amp; data inside PROTON's GCP tenancy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Proven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demonstrated live against your SOP on 28 Jul 2026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AI-native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Gemini answers in the customer's language, grounded on your FAQ/KB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You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Your six goals for the Customer Complaint Management System — taken directly from your Business Requirement.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837944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Unified Omni-Channel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Call, Email, WhatsApp &amp; Social in one agent view, single customer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664208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1837944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Smart Task Assignment &amp;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Status-aware auto-assign by channel priority; sound / desktop / in-app reminders &amp; timeouts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79192"/>
            <a:ext cx="82296" cy="914400"/>
          </a:xfrm>
          <a:prstGeom prst="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2852928"/>
            <a:ext cx="402336" cy="402336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Built-in Intelligent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Real-time editable KB; keyword-matched suggested replies; one-click reference &amp; quality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679192"/>
            <a:ext cx="82296" cy="9144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64608" y="2852928"/>
            <a:ext cx="402336" cy="402336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C3C3A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Automated Workflow &amp;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Rule-engine → PIC by category + SOP; email CC + WA alert; 8h auto-escalate / 48h alarm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94176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8" y="3867912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Real-Time Data &amp;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Dashboards for complaint trends, team performance, SLA &amp; CSAT; anomaly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694176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4608" y="3867912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Flexible &amp; Scalable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Grows to new channels, locations &amp; business units; multi-tenant by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Requirements →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Every requirement cluster from your BRD and Process-Flow workbook maps to a built capability.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192024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view, single record, new-message alerts, call voice-to-text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check, per-agent channel priorities, status-aware polling assignment, reminders &amp; timeouts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Live-editable KB, keyword-matched suggested replies, one-click reference, FAQ quality scoring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Rule-engine → PIC by category/SOP, email CC + WA alert, WIP/Resolved, 8h/48h auto-escalation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DMS + TSP two-way, auto-identify by number, 4-section 360 card, sync &lt; 3 seconds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Channel &amp; division analytics, dept/PIC &amp; Call-Centre KPIs, NPS, CRR, anomaly alerts, Power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Cross-cutting: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reduce SaaS cost · own the data &amp; AI · honour the 5-channel SOP timers &amp; surveys exactly ·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Your 5-Channel SOP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Business hours: Mon–Fri 08:30–17:30 · Sat/Sun &amp; PH 09:00–17:00. Timers below are taken verbatim from your Process-Flow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37360"/>
                <a:gridCol w="288036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Entry / trigger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SLA &amp; timers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Resolution &amp; routing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AI disclaimer;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same-language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Idle 10 min → warn; auto-close 10 / 15 min; agent ack ≤ 2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YES/NO + AI rating; unresolved → agent next business hour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(FB/IG)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Post → log ticket ID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Ack ≤ 2 working hours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= 1st priority when opted; next business hour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e.mascentre@pronet.my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new thread; status ≤ 4 working hours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 business-day response; Escalation Policy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IVR Call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1300-888-877;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female AI voice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Office-hour check; agent ≤ 20 sec; queue-busy prompt (EN + BM)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RSA 24h vs office-hours; escalate to team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SSI Survey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 app (day 11,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expires day 14)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Target &gt; 90%; response rate &gt; 45%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Ingest &amp; report only — lives in the e.MAS 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answers instantly, in their 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Process flow as code: disclaimers, idle-close, YES/NO resolution, rating surveys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→ PIC routing, SLA timers (2-min WA ack … 48h alarm)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 / Power BI, scheduled PDF/Excel, anomaly alerts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compute/storage consumed, scale per tenant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Low delivery risk &amp; continuity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live; phased cutover, parallel-run first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EFEADC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Our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The platform  →  core capabilities  →  built with you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8A88"/>
                </a:solidFill>
                <a:latin typeface="Montserrat"/>
              </a:rPr>
              <a:t>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63040"/>
            <a:ext cx="1508760" cy="457200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1517904"/>
            <a:ext cx="13990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Cloud LB + Caddy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TLS · routing · per-tenant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1678940"/>
            <a:ext cx="9144" cy="2540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1307592" y="1636776"/>
            <a:ext cx="109728" cy="109728"/>
          </a:xfrm>
          <a:prstGeom prst="triangle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8138160" cy="859536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5AB891"/>
                </a:solidFill>
                <a:latin typeface="Montserrat"/>
              </a:rPr>
              <a:t>APPLICATION — GKE Standard  (containerized · node-pool control · multi-tenant)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Chatwoot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Rails + Sidekiq · CRM / live-chat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230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Webhook sync · AI orchestration ·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34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9788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backend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Gemini agent · KB · routing ·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38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63824"/>
            <a:ext cx="8138160" cy="89611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8211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4A8CCA"/>
                </a:solidFill>
                <a:latin typeface="Montserrat"/>
              </a:rPr>
              <a:t>AI · DATA · STATE  (managed GCP services)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AI — Gemini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drafts · classify · same-language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Search + pgvector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KB grounding — no black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Cloud SQL (Postgres)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Chatwoot DB + per-tenant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Memorystore · 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Redis queues · attachments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C3C3A"/>
                </a:solidFill>
                <a:latin typeface="Montserrat"/>
              </a:rPr>
              <a:t>Secret Manager  ·  BigQuery → Looker Studio / Power BI  ·  Cloud Monitoring &amp; Logging  ·  Automated backups  ·  Multi-tenant isolation (per-tenant namespaces + node pools · isolated DBs)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737360" cy="384048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6537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1865376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Licensing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865376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68296" y="2029968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82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Per-agent subscription — pay per seat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65376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68696" y="2029968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No seat fees — pay for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3230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432304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Data &amp;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432304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68296" y="2596896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82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Hosted by the vendor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2432304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68696" y="2596896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Inside PROTON's own GCP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9923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999232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Knowledge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999232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68296" y="3163824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82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40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Limited control over AI grounding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2999232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68696" y="3163824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686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Owned &amp; edited by PROTON, no-code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56616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3566160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Integrations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3566160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68296" y="3730752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82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Bolted onto a closed platform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3566160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68696" y="3730752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4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Native DMS/TSP, telephony &amp; BI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26110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Same capabilities — moved onto foundations PROTON owns and controls, at infrastructure cost.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Demonstrated Live — Working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AGENT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Unified inbox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one agent view across channels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AI suggest-reply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drafted from your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conversation → private note for the agent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internal / customer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keyword-matched replies,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RECORDS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Contact panel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info, history, edit &amp; merge contacts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Conversation history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prior chats per customer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overview, open conversations, agent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SLA metrics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avg resolution ~6m30s, per-channel volume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Auto-labels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AI classifies inquiry / complaint /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All shown live on your PROTON tenant — across WhatsApp, Website, API and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Omnichannel — Live Channel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65176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Integration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Status (as demonstrated 28 Jul)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Website widget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API (backend-to-backend)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PROTON API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Voice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 conversational AI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real call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IMAP / 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PROTON domain + credentials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Social (FB / IG)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Meta Business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Meta business verification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Telegram / Line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 connectors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○ Available on request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0857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Multimodal on WhatsApp (voice note / image / video) unlocks once Meta business verification is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Conversational Voice AI (Twilio)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27632"/>
            <a:ext cx="1828800" cy="74980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Call 1300-888-877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female AI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41448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176" y="1627632"/>
            <a:ext cx="1828800" cy="749808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LLM understands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no press-1 / press-2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89704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2" y="1627632"/>
            <a:ext cx="1828800" cy="74980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KB-grounded 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X70 specs · AEB/FCW/ACC/LKA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232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537960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1627632"/>
            <a:ext cx="1828800" cy="74980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CSAT rating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rate 1–5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2743200" cy="640080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889504"/>
            <a:ext cx="26334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Escalate to human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orchestrator — agent-B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141980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85032" y="30998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8620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698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RSA — 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6732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How it works.  </a:t>
            </a:r>
            <a:r>
              <a:rPr sz="1100" b="0" i="0">
                <a:solidFill>
                  <a:srgbClr val="3C3C3A"/>
                </a:solidFill>
                <a:latin typeface="Montserrat"/>
              </a:rPr>
              <a:t>The LLM understands intent directly, so callers skip the IVR menu. AI answers vehicle questions 24/7; live-agent handoff routes by context to Sales, Repair or 24h Roadside Assistance, with business-hour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Decision to confirm: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conversational LLM-native voice vs. Twilio IVR (press-1 / press-2) for production.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AI &amp; Knowledge — Under Your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AI IN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Suggest reply &amp; 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KB-grounded, same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long threads into an agent private note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your internal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Auto-classify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inquiry / complaint / feedback labels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Same-language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answers in the customer's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KNOWLEDGE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Knowledge base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manual FAQ + website ingest → Vertex AI Search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Playground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test answers before they go live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Custom tools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call your DMS / internal APIs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Persona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per-assistant instruction, temperature, guardrails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Model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Gemini 2.5 Flash, configurable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Operators own the FAQ, the AI prompts and the guardrails — no black box, no vendor lock-in.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Lifecycle &amp; SLA — Built to Your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1. Disclaimer &amp; same-language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greets, answers in the customer's language, grounded on your FAQ.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2. Idle handling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10-min inactivity warning ("chat closes in 5 min"); auto-close after 10 / 15 min.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774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3. Resolution gate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"Is your case resolved? YES / NO" + AI-performance rating survey.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346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4. Escalate to agent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Unresolved → active agent by priority (WA → Call → Email → Social); ack ≤ 2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918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5. Categorize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assigns case category / division from your predefined list on close.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6. PIC escalation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Rule-engine → PIC by category + SOP; CC email (+ optional WhatsApp alert).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4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7. Time-based alarms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8h auto-escalate to higher level; 48h unresolved alarm; WIP/Resolved recorded (agent · time · remarks).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Customer 360 &amp; Case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320040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CUSTOMER 360 VIEW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Auto-pop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on call / WA by caller or WA number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Personal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name, gender, contact, address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Vehicle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VRN, VIN, model, dealer, purchase 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Service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recent service, dealer, open RO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 / RSA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DMS + TSP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two-way · sync &lt; 3s, async loading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320040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Single customer ID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(CIF-style) groups all conversations by name / vehicle / phone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Hierarchical categories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main + dependent subcategory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Priority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 / medium / low, assign agent or team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Per-ticket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caller, number, status at a glance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My cases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agent follow-up view of open tickets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States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WIP / Resolved / Temporary-Closed /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Email Escalation — Your Priority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03120" cy="65836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Customer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to e.mascentre@pronet.my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70964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86207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2103120" cy="65836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CRM inbox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IMAP / SMTP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870964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551383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481328"/>
            <a:ext cx="3017520" cy="82296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536192"/>
            <a:ext cx="29077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Auto-ack to customer — ONCE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new thread only · not on replies / agent sends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0660" y="2212848"/>
            <a:ext cx="25400" cy="237744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68780" y="2437892"/>
            <a:ext cx="23545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56080" y="2450592"/>
            <a:ext cx="25400" cy="13716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613916" y="26426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97480"/>
            <a:ext cx="2331720" cy="713232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creates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classify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9067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697480"/>
            <a:ext cx="2331720" cy="713232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PIC by category + SOP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Escalation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78815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2697480"/>
            <a:ext cx="2743200" cy="713232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2744" y="2752344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Forward internal / dealer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SEPARATE conversation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8138160" cy="932688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785615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BUILT TO YOUR SOP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7822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Two separate emails — </a:t>
            </a:r>
            <a:r>
              <a:rPr sz="950" b="0">
                <a:solidFill>
                  <a:srgbClr val="3C3C3A"/>
                </a:solidFill>
                <a:latin typeface="Montserrat"/>
              </a:rPr>
              <a:t>customer acknowledgement and internal case; no CC / BCC / thread trailing.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Status ≤ 4 working hours </a:t>
            </a:r>
            <a:r>
              <a:rPr sz="950" b="0">
                <a:solidFill>
                  <a:srgbClr val="3C3C3A"/>
                </a:solidFill>
                <a:latin typeface="Montserrat"/>
              </a:rPr>
              <a:t>· WIP/Resolved · 8h auto-escalate / 48h alarm · PROTON supplies email service + subdomain + credentials.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Reporting &amp;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REPORTS YOU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Channel source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division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Apps / Sales / Aftersales / Charging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Dept &amp; PIC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first-response, resolution, CRR ranking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KPI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SLA achievement, tasks/agent, closure time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NPS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customer rates agent on Call &amp; WA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lifecycle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Higher-escalation / WIP / Temp-Closed / Closed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Trends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daily / weekly / monthly, peak-hour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78892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B891"/>
                </a:solidFill>
                <a:latin typeface="Montserrat"/>
              </a:rPr>
              <a:t>HOW WE DELIVER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in the CRM today (overview, agent status, SLA)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BigQuery warehouse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Power BI / Looker (connect or embed)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Scheduled exports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PDF / Excel auto-sent to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Anomaly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real-time channel-spike alerts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Role-based views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admin / leader vs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Next: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PROTON to share report / visualization examples so we can tailor the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Gap-Closure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59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600200"/>
                <a:gridCol w="4160520"/>
                <a:gridCol w="187451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Pri.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What you asked for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Dependency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thread + forward internal case as a separate conversation (no CC/BCC), SOP-driven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email domain + IMAP/SMTP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Single customer ID (name / vehicle / phone); group all conversations; 4-section card &lt; 3s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DMS + TSP API access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Per-ticket support dashboard + agent "my cases" view; hierarchical categories (main + sub)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Customization + Power BI (BigQuery embed); role-based visibility (admin/leader vs agent)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report examples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Agent status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Auto-busy on call; round-robin skips busy; configurable concurrent-ticket limits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Telephony events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Multimodal + language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WhatsApp voice-note / image / video; always answer in customer's language; bulk FAQ/PDF upload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Meta verification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Data Migration — Zendesk →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A8A88"/>
                </a:solidFill>
                <a:latin typeface="Montserrat"/>
              </a:rPr>
              <a:t>Think of it like moving offices — pack up, label everything, move in, then unpack and get to work. Nothing gets left behind.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737360" cy="731520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Pack everything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export every ticket, contact &amp; FAQ from Zendesk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423160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32888" y="1691640"/>
            <a:ext cx="1737360" cy="731520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Label it clearly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3C3A"/>
                </a:solidFill>
                <a:latin typeface="Montserrat"/>
              </a:rPr>
              <a:t>match it to where it belongs in the new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453128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1691640"/>
            <a:ext cx="1737360" cy="73152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Move it all 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import into the new CRM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6483096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2824" y="1691640"/>
            <a:ext cx="1737360" cy="73152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Unpack &amp; set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ready to search, powered by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WHAT MOVES ACROSS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ticket &amp; conversation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with its status and labels kept intact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customer record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phone, email and details, exactly as they are today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Your FAQ &amp; knowledge base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rebuilt as a smarter, searchable version PROTON owns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Files &amp; report history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attachments and past reports come across too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NOTHING GETS LOST IN THE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5468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We pack copies first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nothing is deleted from Zendesk during this step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Old and new run side by side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like living in both places until everything checks out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Then we make it official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once the data checks out, channels switch to the new system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Zendesk switches off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only after PROTON signs off that it's all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AE8F4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C3C3A"/>
                </a:solidFill>
                <a:latin typeface="Montserrat"/>
              </a:rPr>
              <a:t>Scope of Work &amp; Gap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The Business Requirement, clause by clause — and exactly where we stand against it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Business Requirement — Objective &amp;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298448"/>
            <a:ext cx="8138160" cy="126187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A8CCA"/>
                </a:solidFill>
                <a:latin typeface="Montserrat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C3C3A"/>
                </a:solidFill>
                <a:latin typeface="Montserrat"/>
              </a:rPr>
              <a:t>Build a smart, centralized complaint management system that combines all customer channels into one easy-to-manage platform, automatically assigns complaints to the right person, provides quick access to helpful information for faster responses, and tracks and monitors the complaint process in real time — improving customer satisfaction and enhancing the brand's service image.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Stated problem: the current system has limitations in integration, dashboards and lacks major functions.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706624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1  Unified Omni-Channel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017520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All customer messages — phone, email, chat or social media — brought together in one place for easier, more consistent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651760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706624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2  Smart Task Assignment &amp; Reminders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3017520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Complaints automatically assigned to the right staff based on urgency and type, with reminders so nothing is missed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651760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2706624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3  Built-in Intelligent FAQ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017520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Staff can access an intelligent FAQ and help system to give quicker, more accurate answers to customers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30752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3785616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4  Automated Workflow &amp;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096512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The complaint process runs automatically start to finish, with rules to escalate issues if there are delays or no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730752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3785616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5  Real-Time Data &amp; Performance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4096512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Dashboards and reports show complaint trends, team performance and customer satisfaction to support better decisions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730752"/>
            <a:ext cx="2651760" cy="100584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3785616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B891"/>
                </a:solidFill>
                <a:latin typeface="Montserrat"/>
              </a:rPr>
              <a:t>6  Flexible and Scalable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7336" y="4096512"/>
            <a:ext cx="239572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3C3C3A"/>
                </a:solidFill>
                <a:latin typeface="Montserrat"/>
              </a:rPr>
              <a:t>The system can grow and adapt to new business needs, more locations, or new customer channels in the 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C3C3A"/>
                </a:solidFill>
                <a:latin typeface="Montserrat"/>
              </a:rPr>
              <a:t>A. Integration of Inbound   ·   B. Agent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A · INTEGRATION OF INBOUND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17904"/>
          <a:ext cx="8138160" cy="1060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76352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All channels via Call, Email, WA or Social Media must be automatically integrated on the same agent interface &amp; displayed in a single CRM view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All new inbound will have a pop up notification (system alert)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When received Call, system will have a voice recognition &amp; change to text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724912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B · AGENT MANAGEMENT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62656"/>
          <a:ext cx="8138160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76352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CRM system able to check who is on duty before escalating to an agent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B2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system must support setting channel priorities for each agent (for example, WhatsApp priority, Email priority, Call priority etc.)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Automatic polling task assignment can be performed based on the current agent status (idle, busy, offline)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B4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If all agents in the priority channel are busy, the system can intelligently switch and assign tasks to the agents in the idle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All tasks need to have "Reminder" and "Timeout Warning" functions, and support sound reminders, desktop reminders, and in-system notifications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C. FAQ with AI Support   ·   D.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8138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C · FAQ TEMPLATE WITH AI SUPPORT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99616"/>
          <a:ext cx="8138160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763524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system needs to integrate the FAQ knowledge base module to support the CRM team to update the FAQ content in real time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During the conversation between agent and customer, the system can automatically match relevant FAQ entries based on chat keywords, and prompt real-time pop-up prompts to suggest related potential replies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agent can refer to the FAQ content with one click and can also provide feedback and score the FAQ quality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578608"/>
            <a:ext cx="8138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D · ESCALATION PROCESS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798064"/>
          <a:ext cx="81381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7635240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Rule engine, according to the classification / categorization of customer problems (department / business area) combined with SOP, to automatically identify the Person In Charge (PIC)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D2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Automatically notify and CC the relevant personnel by email (can support attachments if needed — photos, videos, web link etc.)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Trigger a WhatsApp message to alert the PIC (optional)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D4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Escalate triggers an automatic reminder of the higher-level responsible person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Records of WIP and Resolved operations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D6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All status changes need to record information such as Agent name, time, and remarks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Automatic escalation mechanisms can be configured, such as 8-hours automatic send to higher level if there is no response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D8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48-hours unresolved alarms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E. Customer Profile — Customer 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61872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E · CUSTOMER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813816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75895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system needs to realize two-way data connection with the DMS system (Dealer Management System) and the TSP platform (Telematics Service Provider)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When the customer contacts the call center through the hotline or WhatsApp, the system should automatically identify the customer and display their key information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Trigger condition — customer contacts system by phone or WhatsApp (based on caller number or WA number)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E4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system calls the DMS and TSP systems through API interfaces to automatically match and pull relevant information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Information — name, gender, contact detail, address etc.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E6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Vehicle Information — VRN, VIN, Model, Dealer Purchased, Purchased date etc.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Service History — Recent Service Date, Service Dealer, Summary of Repair Record, Status of Open RO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Center History — all call history, WA communication history, emails &amp; any social media reply or Road Side Assistance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After a customer calls, the Agent page automatically pops up the Customer 360 View Card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E10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content of the card is divided into personal information, vehicle information, service information, and Call Center history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E11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All data synchronization should take no more than 3 seconds and support asynchronous loading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F. Reporting &amp;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F · REPORTING  —  integrate Power BI (or equivalent BI tools) to implement the following data visualization reports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3977640" cy="3264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52044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Power BI or equivalent BI tool for data visualization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Channel source analysis by case (Call / WA / Email / Social Media)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By case division (Apps, Sales, Aftersales, Charging)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F4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Daily / weekly / monthly trend chart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Case distribution and resolution statistics by dealer / department / PIC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F6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Ranking of first response rate, resolution rate and resolution time of each department / dealer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Analysis of the Complaint Reopen Rate, CRR by dealers / department / PIC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SLA response achievement rate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Number of tasks processed by each agent and the average response time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1481328"/>
          <a:ext cx="39776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34747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Average response duration (first response time) and average case closure time, based on channel response time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F11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Ranking of popular complaint types and statistics during peak complaint hours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NPS — customer able to rate the agent performance from Call &amp; WA channel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F13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Case life cycle — a map of the time distribution from creation to closing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Trend analysis of special states such as Higher escalation / WIP / Temporary Closed / Closed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Reports exported to PDF, Excel, and automatically sent to management on a regular basis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Configurable "Anomaly Warning Dashboard" for real-time anomaly prompts (such as the explosion of a channel)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F17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System should be able to run report based on request tag key work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C3C3A"/>
                </a:solidFill>
                <a:latin typeface="Montserrat"/>
              </a:rPr>
              <a:t>Where the Platform Stands — 47 Requirements Scored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Every clause of the BRD, assessed against what exists in the platform today — not against what is planned.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457200"/>
                <a:gridCol w="777240"/>
                <a:gridCol w="548640"/>
                <a:gridCol w="411480"/>
                <a:gridCol w="38862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area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Delivered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Partial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Gap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Headline position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 · Integration of Inbound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Call, Email, WA, Web &amp; API live in one view; Facebook/Instagram not yet connected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B · Agent Management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check, channel priorities, status-based assignment &amp; idle overflow all shipped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 · FAQ Template with AI Support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Knowledge module live with real-time editing and AI-suggested replies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 · Escalation Process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PIC rule engine, email + CC, WA alert, WIP/Resolved states, 8h/48h timers all shipped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 · Customer Profile (Customer 360)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The one material gap — DMS and TSP integration does not exist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 · Reporting &amp; BI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Complete: BigQuery warehouse, all listed views, exports, scheduling and anomaly alerting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Total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47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C3C3A"/>
                          </a:solidFill>
                          <a:latin typeface="Montserrat"/>
                        </a:rPr>
                        <a:t>72% delivered · 15% partial · 13% gap — and every gap sits in one area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C3C3A"/>
                </a:solidFill>
                <a:latin typeface="Montserrat"/>
              </a:rPr>
              <a:t>Partially Met — What Is Missing, and What Closes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Seven clauses where the capability is shipped but a bounded piece remains. None is a redesign.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2514600"/>
                <a:gridCol w="2514600"/>
                <a:gridCol w="269748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What is already working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What is still missing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How it closes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A1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WhatsApp, Email, Web, API and Voice all land in one Chatwoot agent view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Facebook / Instagram inboxes not connected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HTTPS on the tenant host + Meta Business verification — configuration, not build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B5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Reminder, timeout warning, live countdown and WhatsApp nudge near breach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Sound and desktop cues rely on Chatwoot-native notifications; custom agent status labels not built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Native notifications configured at handover; status labels are a small build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C3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FAQ feedback and 👍/👎 quality scoring shipped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"One click" insert is copy-to-clipboard, not direct insertion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Chatwoot iframe sandbox limitation — needs a fork change to the composer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D2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Escalation email to the PIC with per-department CC shipped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Attachments (photos, videos, links) not carried on the escalation email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Wire conversation attachments into the notifier — small, needs a source decision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E2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Contact identified by caller / WA number via Chatwoot contact matching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No enrichment from an external system of record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Follows E1 — DMS/TSP API access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E5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Name and contact details held on the Chatwoot contact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Gender, address and the authoritative customer record live in the DMS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Follows E1 — DMS/TSP API access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E10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360 card exists with personal-information and call-centre-history sections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Vehicle and service sections have no data to render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C3C3A"/>
                          </a:solidFill>
                          <a:latin typeface="Montserrat"/>
                        </a:rPr>
                        <a:t>Follows E1 — DMS/TSP API access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 ·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The One Real Gap — Customer 360 / DMS &amp; TSP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All six unmet clauses sit in section E, and all six have the same root cause: there is no DMS or TSP integration, because we do not yet have API access or a data contract.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91056"/>
          <a:ext cx="8138160" cy="2450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468880"/>
                <a:gridCol w="2834640"/>
                <a:gridCol w="237744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Requirement not met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Status today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Dependency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Two-way data connection with DMS and TSP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No DMS/TSP client exists in the platform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API specification + credentials from PROTON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E4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Call DMS and TSP through API to match and pull information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No integration layer built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API specification + credentials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Vehicle Information — VRN, VIN, Model, Dealer, Purchase date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Vehicle number captured for reporting; no vehicle master data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DMS vehicle master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E7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Service History — service date, dealer, repair record, open RO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Not available anywhere in the platform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DMS service/RO records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Agent page automatically pops up the 360 card on an inbound call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Lookup exists as a manual search by phone or vehicle number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Follows E1; then a screen-pop trigger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E11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Data synchronization within 3 seconds, asynchronous loading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Cannot be designed or measured until the integration exists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Follows E1 — then a performance target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224528"/>
            <a:ext cx="8138160" cy="54864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24528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What we are building regardless —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the integration surface: a configurable DMS/TSP connection in Settings, a defined client interface, and the 360 card already consuming it. When PROTON supplies the API specification, the adapter plugs in behind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DEFE7"/>
                </a:solidFill>
                <a:latin typeface="Montserra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Delivery &amp; Commercials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Timeline · Scope · Deliverables · Engagement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C3C3A"/>
                </a:solidFill>
                <a:latin typeface="Montserrat"/>
              </a:rPr>
              <a:t>Project Timeline — 8 Weeks (2 Months), Accelerated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81381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457200"/>
                <a:gridCol w="60807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Wk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tasks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P1 — Assessment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planning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Kick-off &amp; scope confirmation vs BRD  ·  validate the 5-channel SOP and escalation matrix  ·  solution architecture, landing-zone design &amp; migration plan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P2 — GCP foundation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provisioning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GCP project, VPC, IAM &amp; landing zone from accelerator IaC  ·  GKE Standard + node pools, Cloud SQL (HA), Memorystore, BigQuery  ·  CI/CD, Secret Manager, monitoring baseline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P3 — Core platform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cutover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2–4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Deploy Chatwoot + agent + backend via Helm charts  ·  migrate Zendesk tickets, contacts, history &amp; attachments  ·  migrate KB  ·  wire WhatsApp / Web / API / Email  ·  AI + SOP lifecycle flows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P4 — Gap closure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4–5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 (auto-ack + internal case)  ·  Customer 360 + DMS/TSP surface  ·  hierarchical categories, per-case dashboard, RBAC  ·  reporting &amp; BI  ·  agent management  ·  bulk FAQ upload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P5 — Hardening,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HA &amp; UAT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5–7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HA / autoscaling &amp; tuning  ·  monitoring, alerting &amp; logging  ·  backup/DR with restore test  ·  security &amp; RBAC review  ·  live channel verification  ·  UAT, reconciliation &amp; sign-off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P6 — Cutover, handover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training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7–8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Cutover, go-live &amp; hypercare  ·  Zendesk decommission  ·  ops runbook  ·  admin &amp; agent training  ·  knowledge transfer &amp; closure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36 working days of duration across 8 calendar weeks — phases overlap, with gap closure starting while the platform cutover settles. Assumes PROTON supplies the Zendesk export, DMS/TSP API access and UAT participants on schedule.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How We Get to 8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1673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Against a 16-week standard build of the same scope: 252 → 120 mandays. The compression is the accelerator, not a thinner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265176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B891"/>
                </a:solidFill>
                <a:latin typeface="Montserrat"/>
              </a:rPr>
              <a:t>WHAT THE ACCELERATOR SUPPLIES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Landing zone as IaC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GCP project, VPC/IAM, GKE, Cloud SQL parameterised, not authored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Helm deployment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Chatwoot, agent and backend ship as charts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Migration tooling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Zendesk extract, mapping and bulk import already built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HA / observability / DR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applied as baselines rather than designed per project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Scripted release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image rebuild, per-tenant flags and BigQuery views run as pipeline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64208"/>
            <a:ext cx="3977639" cy="265176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739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WHAT IT DOES NOT COMPRESS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9696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Zendesk data fidelity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your data shape is client-specific; mapping and reconciliation stay full-effort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DMS / TSP integration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depends on API access and data contracts we don't hold yet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UAT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bounded by your team's availability, not by our tooling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Cutover &amp; training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hypercare and knowledge transfer are calendar time, not build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2"/>
            <a:ext cx="7772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The trade-off — </a:t>
            </a:r>
            <a:r>
              <a:rPr sz="1000" b="0" i="0">
                <a:solidFill>
                  <a:srgbClr val="3C3C3A"/>
                </a:solidFill>
                <a:latin typeface="Montserrat"/>
              </a:rPr>
              <a:t>with no contingency in the estimate, slippage on your inputs moves the go-live date rather than being absorbed.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Delivery Scope — What We Build &amp;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Deploy production Chatwoot + agent + backend on GKE Standard + Cloud SQL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Omnichannel: WhatsApp, Email, Social (FB/IG), Web, Voice (conversational)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AI layer: Gemini reply drafting, same-language, KB grounding, auto-classification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Knowledge base: migration + no-code authoring; bulk FAQ / PDF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Agent management: presence, channel-priority routing, auto-busy, My-Tasks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37160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Escalation &amp; SLA: category→PIC, email CC + WA alert, 8h/48h, WIP/Resolved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Email escalation: auto-ack + separate internal case per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Lifecycle/SOP: disclaimers, idle-close, YES/NO gate, rating surveys, auto-ack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Customer 360: DMS + TSP two-way + 4-section 360 card (subject to API access)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Case mgmt: hierarchical categories, per-ticket dashboard, RBAC roles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Reporting/BI: BigQuery + Power BI, scheduled exports, anomaly alerts, NPS/CRR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950" b="0">
                <a:solidFill>
                  <a:srgbClr val="3C3C3A"/>
                </a:solidFill>
                <a:latin typeface="Montserrat"/>
              </a:rPr>
              <a:t>Data migration from Zendesk + Ops: monitoring, backups, multi-tenant,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24528"/>
            <a:ext cx="81381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Assumptions: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PROTON provides GCP billing/org access, DMS/TSP API + data contracts, email domain, Zendesk export, UAT participants and a telephony/CTI decision.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Delivery model: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accelerator-led — 120 mandays over 36 working days, inside a 2-month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55448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Telephony/PSTN carrier procurement — we integrate the CTI/provider; the phone-line contract &amp; number provisioning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 owners' responsibility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SSI dealer-satisfaction survey workflow — lives in the e.MAS app; the platform ingests &amp; reports SSI, but does not host that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Meta business verification — required to unlock Social &amp; WhatsApp multimodal;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Non-CRM business applications, custom hardware, and third-party SaaS beyond the GCP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355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Fully provisioned, IaC-described GCP project running the platform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reply, classification, KB-grounded answers, SOP flows —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SOP-driven auto-ack + separate internal case forwarding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+ 4-section 360 card (pending API access)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 &amp; RBAC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Hierarchical categories, per-ticket dashboard, roles &amp; permissions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+ Power BI dashboards, scheduled exports, anomaly alerts, NPS/CRR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Deploy, backup/restore, monitoring, tenant provisioning; admin &amp; agent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Effort Estimate — Mandays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Accelerated 2-month engagement — 120 mandays across 36 working days of duration. Mandays per role and phase; day-rates in the commercial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91056"/>
          <a:ext cx="81381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594360"/>
                <a:gridCol w="640080"/>
                <a:gridCol w="640080"/>
                <a:gridCol w="731520"/>
                <a:gridCol w="594360"/>
                <a:gridCol w="594360"/>
                <a:gridCol w="59436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Days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SA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BE/AI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FE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BI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QA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MD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P1 — Assessment &amp; planning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P2 — GCP foundation &amp; provisioning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P3 — Core platform cutover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P4 — Gap closure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P5 — Hardening, HA &amp; UAT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P6 — Cutover, handover &amp; training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accelerated delivery effort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23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120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22191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Against the standard build: 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252 mandays over 16 weeks → 120 over 8 weeks. Same scope, accelerator-led delivery.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Commercials: 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Rp 548,450,000 in mandays → Rp 630,717,500 including margin.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No contingency is carried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— the plan depends on PROTON supplying the Zendesk export, DMS/TSP API access and UAT participants on schedule.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537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Team: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PM · Solution Architect / Tech Lead · Backend/AI · Frontend · Data/BI · QA — Solution Architect at the Lead Consultant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Pricing &amp;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One production tenant · region asia-southeast1 (Singapore) — nearest full-service region; the Malaysia (KL) region is not yet 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Service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Specification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USD / mo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cluster fee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Regional cluster ($0.10/hr)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nodes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 × e2-standard-4 (4 vCPU / 16 GB)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SQL — PostgreSQL (HA)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 vCPU / 8 GB · 100 GB SSD · regional HA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Memorystore — Redis (HA)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Standard tier · 4 GB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181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Vertex AI (Gemini 2.5 Flash + Search)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usage · ~5k conversations / queries mo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Storage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100 GB standard + egress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Networking (Load Balancer + egress)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 forwarding rule + ~100 GB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Logging + Monitoring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~100 GB ingest / mo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Secret Mgr · Artifact Reg · Build · BigQuery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combined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indicative, on-demand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one production tenant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1,049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1-year committed-use discount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lowers compute to ~$233/mo → total ≈ $920/mo · multi-tenant scales node-pool + Cloud SQL per tenant.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A8A88"/>
                </a:solidFill>
                <a:latin typeface="Montserrat"/>
              </a:rPr>
              <a:t>Indicative GCP list price (Jul 2026); excludes negotiated discounts, taxes &amp; Google program funding · AI lines usage-based.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Google Program Funding — Exploratory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246888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Partner-backed programs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Google runs funding &amp; credit programs for customers modernizing on Google Cloud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Could offset cost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development and/or cloud infrastructure spend for this engagement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Google's call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availability and amount depend on Google's own review, not Devoteam's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246888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B891"/>
                </a:solidFill>
                <a:latin typeface="Montserrat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Caroline opens the door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starts the conversation with Google, in parallel with this proposal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We support if asked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Devoteam provides technical scoping / use-case details on request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Your role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confirm interest and share any account details Google's team 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8485E"/>
                </a:solidFill>
                <a:latin typeface="Montserrat"/>
              </a:rPr>
              <a:t>Exploratory only — </a:t>
            </a:r>
            <a:r>
              <a:rPr sz="1050" b="0" i="0">
                <a:solidFill>
                  <a:srgbClr val="3C3C3A"/>
                </a:solidFill>
                <a:latin typeface="Montserrat"/>
              </a:rPr>
              <a:t>not guaranteed, and this proposal's scope, timeline and pricing do not depend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Engagement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One tailored proposal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Devoteam compiles &amp; tailors all your requirements (target: next week)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Parallel Google track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Caroline opens the solution discussion with Google (funding + delivery — see previous page)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share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report / visualization examples + the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confirm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proposal meets expectations, then we schedule kick-off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432304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KNOWN DELTAS BEING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Email · Voice-note · Image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the three items still to complete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Everything else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aligns to your expectations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9144000" cy="9144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Why This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Proven live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demonstrated against your SOP on 28 Jul 2026: migration + hardening, not invention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Open + owned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no per-seat lock-in; PROTON controls the data, the AI, and the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AI-native on Google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Gemini + Vertex AI, grounded on your knowledge; measurable deflection &amp; faster resolution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Cost-down, capability-up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managed infrastructure you scale on your terms, with Google funding being explored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A2AE"/>
                </a:solidFill>
                <a:latin typeface="Montserrat"/>
              </a:rPr>
              <a:t>Cost  ·  Ownership  ·  Speed  ·  Proven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20540"/>
            <a:ext cx="1371600" cy="405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