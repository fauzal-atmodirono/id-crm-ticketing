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C3C3A">
                  <a:alpha val="92000"/>
                </a:srgbClr>
              </a:gs>
              <a:gs pos="100000">
                <a:srgbClr val="3C3C3A">
                  <a:alpha val="8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C354"/>
                </a:solidFill>
                <a:latin typeface="Montserrat"/>
              </a:rPr>
              <a:t>TECHNICAL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PROTON 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8485E"/>
                </a:solidFill>
                <a:latin typeface="Montserrat"/>
              </a:rPr>
              <a:t>Self-managed, AI-native CRM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CA2AE"/>
                </a:solidFill>
                <a:latin typeface="Montserrat"/>
              </a:rPr>
              <a:t>Prepared for  </a:t>
            </a:r>
            <a:r>
              <a:rPr sz="1500" b="1" i="0">
                <a:solidFill>
                  <a:srgbClr val="FFFFFF"/>
                </a:solidFill>
                <a:latin typeface="Montserrat"/>
              </a:rPr>
              <a:t>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Prepared by Devoteam  ·  built to your 5-channel complaint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FEEEE"/>
                </a:solidFill>
                <a:latin typeface="Montserrat"/>
              </a:rPr>
              <a:t>July 2026   ·   Version 1.0   ·   Confidential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02252"/>
            <a:ext cx="1463040" cy="432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44752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situation.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PROTON's complaint operation runs today on Zendesk — a per-seat SaaS CRM. Cost scales with every agent and premium feature, and the data and AI behaviour live inside a vendor you don't control.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proposal.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Replace Zendesk with a self-managed CRM — Chatwoot Community (open-source, no per-seat licence) plus a Google Gemini / Vertex AI automation layer — deployed on Google Cloud and built directly to PROTON's own 5-channel process-flow SOP.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44752"/>
            <a:ext cx="2971800" cy="324612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444752"/>
            <a:ext cx="2971800" cy="4572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179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WHY NOW / 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84831"/>
            <a:ext cx="26517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Cost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eliminate per-agent SaaS licensing; pay for infrastructure, not seats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Ownership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your conversations, KB, AI prompts &amp; data, inside PROTON's GCP tenancy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Speed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majority already built &amp; demoed live against your SOP — migration, not greenfield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AI-native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Gemini answers in the customer's language, grounded on your FAQ/KB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Our Understanding of Your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Mapped end-to-end from your Customer Complaint Management System requirement and the CRM Process Flow workbook (WhatsApp / Social / Email / IVR / SSI).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45920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192024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agent view, single customer record, new-message alerts, voice-to-text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 before escalation, per-agent channel priorities, status-aware auto-assign, reminders &amp; timeouts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Live-editable knowledge base, AI auto-suggested replies from FAQ, one-click reference, FAQ quality scoring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Rules → PIC by category/SOP, email + WhatsApp alerts, case states (WIP/Resolved/Temp-Closed), 8h/48h auto-escalation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Two-way DMS + TSP integration, auto-identify by number, 360 view card (personal / vehicle / service / call history)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Channel &amp; division analytics, dept/PIC &amp; Call-Centre KPIs, NPS, lifecycle, scheduled exports, anomaly alerts, Power BI</a:t>
                      </a:r>
                    </a:p>
                  </a:txBody>
                  <a:tcPr anchor="ctr" marL="82296" marR="82296" marT="27432" marB="27432">
                    <a:solidFill>
                      <a:srgbClr val="D7EB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Cross-cutting: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reduce SaaS cost · own the data &amp; AI · honour the 5-channel SOP timers and surveys exactly ·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answers customers instantly, in their language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Process flow as code: disclaimers, idle-close, YES/NO resolution, rating surveys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→ PIC routing, SLA timers (2-min WA ack … 48h alarm)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 / Power BI, scheduled PDF/Excel, anomaly alerts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compute/storage consumed, scale per tenant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Low delivery risk &amp; continuity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live; phased cutover, parallel-run first</a:t>
                      </a:r>
                    </a:p>
                  </a:txBody>
                  <a:tcPr anchor="ctr" marL="82296" marR="82296" marT="27432" marB="27432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EFEADC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C3C3A"/>
                </a:solidFill>
                <a:latin typeface="Montserrat"/>
              </a:rPr>
              <a:t>Target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Zendesk (SaaS)  →  self-managed on Google Cloud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572768"/>
            <a:ext cx="3246120" cy="278892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3246120" cy="402336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21408"/>
            <a:ext cx="284378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Per-agent subscription; SLA / roles / AI behind paid tiers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Data &amp; AI behaviour hosted by the vendor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FAQ / Guide inside Zendesk — limited AI-grounding control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DMS/TSP &amp; telephony bolted onto a closed platform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15184"/>
            <a:ext cx="640080" cy="713232"/>
          </a:xfrm>
          <a:prstGeom prst="rightArrow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MIGRATE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572768"/>
            <a:ext cx="3749039" cy="278892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572768"/>
            <a:ext cx="3749039" cy="402336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27632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121408"/>
            <a:ext cx="334670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Open-source Chatwoot core — no seat licences; SLA / roles / AI built, not rented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Runs inside PROTON's GCP project — full data residency &amp; control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KB + AI prompts owned and edited by PROTON operators (no-code)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Native first-party integration surfaces for DMS/TSP, telephony &amp;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Same capabilities — moved onto foundations PROTON owns and controls, at infrastructure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8A88"/>
                </a:solidFill>
                <a:latin typeface="Montserrat"/>
              </a:rPr>
              <a:t>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63040"/>
            <a:ext cx="1508760" cy="457200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1527048"/>
            <a:ext cx="13624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Cloud LB + Caddy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TLS · routing · per-tenant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1678940"/>
            <a:ext cx="9144" cy="2540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1307592" y="1636776"/>
            <a:ext cx="109728" cy="109728"/>
          </a:xfrm>
          <a:prstGeom prst="triangle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8138160" cy="859536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5AB891"/>
                </a:solidFill>
                <a:latin typeface="Montserrat"/>
              </a:rPr>
              <a:t>APPLICATION  (containerized, autoscaling)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304288"/>
            <a:ext cx="23225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Chatwoot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Rails + Sidekiq · CRM / live-chat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230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304288"/>
            <a:ext cx="23225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 (Cloud Run)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Webhook sync · AI orchestration ·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34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9788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304288"/>
            <a:ext cx="232257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backend  (Cloud Run)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Gemini agent · KB · routing ·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38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63824"/>
            <a:ext cx="8138160" cy="89611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8211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4A8CCA"/>
                </a:solidFill>
                <a:latin typeface="Montserrat"/>
              </a:rPr>
              <a:t>AI · DATA · STATE  (managed GCP services)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5584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AI — Gemini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drafts · classify · same-language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35584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Search + pgvector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KB grounding — no black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35584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Cloud SQL (Postgres)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Chatwoot DB + per-tenant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3355848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Memorystore · 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Redis queues · attachments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C3C3A"/>
                </a:solidFill>
                <a:latin typeface="Montserrat"/>
              </a:rPr>
              <a:t>Secret Manager  ·  BigQuery → Looker Studio / Power BI  ·  Cloud Monitoring &amp; Logging  ·  Automated backups  ·  Multi-tenant isolation (one app stack + isolated DBs per business unit)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Data Migration — Zendesk →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91640"/>
            <a:ext cx="1737360" cy="731520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55648"/>
            <a:ext cx="15910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Zendesk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23160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691640"/>
            <a:ext cx="1737360" cy="731520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755648"/>
            <a:ext cx="15910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C3C3A"/>
                </a:solidFill>
                <a:latin typeface="Montserrat"/>
              </a:rPr>
              <a:t>Transform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3C3C3A"/>
                </a:solidFill>
                <a:latin typeface="Montserrat"/>
              </a:rPr>
              <a:t>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53128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6" y="1691640"/>
            <a:ext cx="1737360" cy="73152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1755648"/>
            <a:ext cx="15910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Bulk import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Chatwoot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483096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92824" y="1691640"/>
            <a:ext cx="1737360" cy="73152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6" y="1755648"/>
            <a:ext cx="15910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KB ingest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Vertex + pgvector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WHAT WE 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54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Tickets / conversations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Chatwoot conversations (status &amp; labels)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Contacts / customers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Chatwoot contacts (phone/email, custom fields)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Knowledge / Guide (FAQ)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PROTON-owned KB (Vertex Search + pgvector)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Attachments → Storage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· reporting history → BigQuery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HOW — DE-RISKED, NO BIG-BANG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5468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Export → transform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bulk import via Chatwoot API + KB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Parallel run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platform live alongside Zendesk during validation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Cutover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switch channel endpoints once data fidelity validated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Decommission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Zendesk after sign-off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DDADE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C3C3A"/>
                </a:solidFill>
                <a:latin typeface="Montserrat"/>
              </a:rPr>
              <a:t>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Timeline · Scope · Deliverables · Why this works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Project Timeline — ~12–16 Weeks, Phased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640080"/>
                <a:gridCol w="2606040"/>
                <a:gridCol w="3291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Weeks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Focus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Key outcomes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P0 — Discovery &amp;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foundation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Access, data contracts, GCP project / landing zone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org/project, network, Secret Manager, CI; Zendesk export sample validated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P1 — Core platform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cutover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3–7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 up production stack; migrate data; wire channels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Chatwoot + agent + backend live on GKE/Cloud Run + Cloud SQL; WA/Email/Social connected; KB migrated; AI + SOP flows live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P2 — Gap closure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6–12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The genuine net-new work (parallel with P1 tail)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+ DMS/TSP; RBAC roles/permissions; telephony/IVR hookup; Reports Tier-2 tabs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P3 — Hardening,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parallel-run &amp; handover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12–16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HA, monitoring, UAT, cutover, decommission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Autoscaling/HA, backups, dashboards; UAT sign-off; Zendesk decommissioned; ops runbook + training</a:t>
                      </a:r>
                    </a:p>
                  </a:txBody>
                  <a:tcPr anchor="ctr" marL="82296" marR="82296" marT="27432" marB="27432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P0/P1 largely assemble already-built components; real engineering concentrates in P2 (DMS/TSP, telephony — needs PROTON access).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Scope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069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Deploy production Chatwoot + agent + backend on GKE / Cloud Run + Cloud SQL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Omnichannel: WhatsApp, Email, Social (FB/IG), Web widget, Voice-to-text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AI layer: Gemini/Vertex reply drafting, same-language answers, KB grounding, auto-classification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Knowledge base: migration + operator no-code authoring (FAQ + pgvector)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Agent management: presence, channel-priority routing, status-aware assignment, My-Tasks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Escalation &amp; SLA: category→PIC routing, email + WhatsApp alerts, case states, 8h/48h auto-escalation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Lifecycle/SOP: disclaimers, idle-close, YES/NO gate, rating surveys, auto-categorization, email auto-ack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Customer 360: DMS + TSP two-way integration + 360 view card (subject to API access)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RBAC: per-tenant roles &amp; permissions model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Reporting/BI: BigQuery warehouse + views, Looker/Power BI, scheduled exports, anomaly alerts, NPS/CSAT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Data migration from Zendesk + Ops: monitoring, backups, multi-tenant isolation, runbook +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Assumptions: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PROTON provides GCP billing/org access, DMS/TSP API access, Zendesk export, and a telephony/CTI provider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55448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Telephony/PSTN carrier procurement — we integrate the CTI/provider; the phone-line contract &amp; number provisioning is PROTON's (voice-to-text engine itself is built)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 owners' responsibility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SSI dealer-satisfaction survey workflow — lives in the e.MAS app; the platform ingests &amp; reports SSI, but does not host that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Non-CRM business applications, custom hardware, and end-user device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 operators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Third-party SaaS subscriptions beyond the GCP + open-source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355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 marL="82296" marR="82296" marT="27432" marB="27432">
                    <a:solidFill>
                      <a:srgbClr val="3C3C3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Fully provisioned, IaC-described GCP project running the platform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Gemini/Vertex reply, classification, KB-grounded answers, SOP flows — live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+ 360 view card (pending PROTON API access)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RBAC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Roles &amp; permissions model with admin UI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+ Looker/Power BI dashboards, scheduled exports, anomaly alerts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Deploy, backup/restore, monitoring, tenant provisioning, incident response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Admin &amp; agent training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Sessions + materials for operators and administrators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anchor="ctr" marL="82296" marR="82296" marT="27432" marB="27432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9144000" cy="9144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Why This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Proven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the platform already runs live against PROTON's SOP: migration + hardening, not invention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Open + owned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no per-seat lock-in; PROTON controls the data, the AI, and the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AI-native on Google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Gemini + Vertex AI, grounded on PROTON's own knowledge; measurable deflection &amp; faster resolution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Cost-down, capability-up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replace recurring SaaS licensing with managed infrastructure you scale on your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A2AE"/>
                </a:solidFill>
                <a:latin typeface="Montserrat"/>
              </a:rPr>
              <a:t>Cost  ·  Ownership  ·  Speed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20540"/>
            <a:ext cx="1371600" cy="405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