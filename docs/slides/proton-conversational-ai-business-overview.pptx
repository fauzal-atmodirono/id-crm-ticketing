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F2328"/>
                </a:solidFill>
                <a:latin typeface="Helvetica Neue"/>
              </a:rPr>
              <a:t>AI customer service,</a:t>
            </a:r>
          </a:p>
          <a:p>
            <a:r>
              <a:rPr sz="4200" b="1" i="0">
                <a:solidFill>
                  <a:srgbClr val="0B57D0"/>
                </a:solidFill>
                <a:latin typeface="Helvetica Neue"/>
              </a:rPr>
              <a:t>everywhere your customers are.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77639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5F6368"/>
                </a:solidFill>
                <a:latin typeface="Helvetica Neue"/>
              </a:rPr>
              <a:t>One AI agent that answers on web chat, voice, WhatsApp, phone calls and email — connected to your knowledge base and your Zendesk.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F6368"/>
                </a:solidFill>
                <a:latin typeface="Helvetica Neue"/>
              </a:rPr>
              <a:t>Business overview ·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B57D0"/>
                </a:solidFill>
                <a:latin typeface="Helvetica Neue"/>
              </a:rPr>
              <a:t>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2328"/>
                </a:solidFill>
                <a:latin typeface="Helvetica Neue"/>
              </a:rPr>
              <a:t>Customers moved. Support tooling didn't.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502920" cy="38100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600" b="1" i="0">
                <a:solidFill>
                  <a:srgbClr val="1F2328"/>
                </a:solidFill>
                <a:latin typeface="Helvetica Neue"/>
              </a:rPr>
              <a:t>24/7 expectations — </a:t>
            </a:r>
            <a:r>
              <a:rPr sz="1600" b="0" i="0">
                <a:solidFill>
                  <a:srgbClr val="1F2328"/>
                </a:solidFill>
                <a:latin typeface="Helvetica Neue"/>
              </a:rPr>
              <a:t>Customers expect an instant answer at 11 pm on WhatsApp — not a callback window.</a:t>
            </a:r>
          </a:p>
          <a:p>
            <a:pPr>
              <a:spcAft>
                <a:spcPts val="1400"/>
              </a:spcAft>
            </a:pPr>
            <a:r>
              <a:rPr sz="160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600" b="1" i="0">
                <a:solidFill>
                  <a:srgbClr val="1F2328"/>
                </a:solidFill>
                <a:latin typeface="Helvetica Neue"/>
              </a:rPr>
              <a:t>Repetitive load — </a:t>
            </a:r>
            <a:r>
              <a:rPr sz="1600" b="0" i="0">
                <a:solidFill>
                  <a:srgbClr val="1F2328"/>
                </a:solidFill>
                <a:latin typeface="Helvetica Neue"/>
              </a:rPr>
              <a:t>Most support volume is the same product questions, answered one at a time by people.</a:t>
            </a:r>
          </a:p>
          <a:p>
            <a:pPr>
              <a:spcAft>
                <a:spcPts val="1400"/>
              </a:spcAft>
            </a:pPr>
            <a:r>
              <a:rPr sz="160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600" b="1" i="0">
                <a:solidFill>
                  <a:srgbClr val="1F2328"/>
                </a:solidFill>
                <a:latin typeface="Helvetica Neue"/>
              </a:rPr>
              <a:t>Fragmented channels — </a:t>
            </a:r>
            <a:r>
              <a:rPr sz="1600" b="0" i="0">
                <a:solidFill>
                  <a:srgbClr val="1F2328"/>
                </a:solidFill>
                <a:latin typeface="Helvetica Neue"/>
              </a:rPr>
              <a:t>Chat, phone, email and WhatsApp usually mean separate tools, separate queues, separate histories.</a:t>
            </a:r>
          </a:p>
          <a:p>
            <a:pPr>
              <a:spcAft>
                <a:spcPts val="1400"/>
              </a:spcAft>
            </a:pPr>
            <a:r>
              <a:rPr sz="160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600" b="1" i="0">
                <a:solidFill>
                  <a:srgbClr val="1F2328"/>
                </a:solidFill>
                <a:latin typeface="Helvetica Neue"/>
              </a:rPr>
              <a:t>Lost revenue — </a:t>
            </a:r>
            <a:r>
              <a:rPr sz="1600" b="0" i="0">
                <a:solidFill>
                  <a:srgbClr val="1F2328"/>
                </a:solidFill>
                <a:latin typeface="Helvetica Neue"/>
              </a:rPr>
              <a:t>An unanswered message is not just a support miss — pre-sales questions are where deals quietly die.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669280"/>
            <a:ext cx="11064240" cy="685800"/>
          </a:xfrm>
          <a:prstGeom prst="roundRect">
            <a:avLst>
              <a:gd name="adj" fmla="val 12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/>
            <a:r>
              <a:rPr sz="1250" b="1" i="0">
                <a:solidFill>
                  <a:srgbClr val="0B57D0"/>
                </a:solidFill>
                <a:latin typeface="Helvetica Neue"/>
              </a:rPr>
              <a:t>Note: </a:t>
            </a:r>
            <a:r>
              <a:rPr sz="1250" b="0" i="0">
                <a:solidFill>
                  <a:srgbClr val="1F2328"/>
                </a:solidFill>
                <a:latin typeface="Helvetica Neue"/>
              </a:rPr>
              <a:t>The goal is not replacing your team — it is letting AI absorb the repetitive 80% so your people handle the conversations that actually need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F6368"/>
                </a:solidFill>
                <a:latin typeface="Helvetica Neue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B57D0"/>
                </a:solidFill>
                <a:latin typeface="Helvetica Neue"/>
              </a:rPr>
              <a:t>WHAT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2328"/>
                </a:solidFill>
                <a:latin typeface="Helvetica Neue"/>
              </a:rPr>
              <a:t>One AI agent, five doors 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502920" cy="38100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2084831" cy="105156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solidFill>
              <a:srgbClr val="0B5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 i="0">
                <a:solidFill>
                  <a:srgbClr val="1F2328"/>
                </a:solidFill>
                <a:latin typeface="Helvetica Neue"/>
              </a:rPr>
              <a:t>Web chat</a:t>
            </a:r>
          </a:p>
          <a:p>
            <a:pPr algn="ctr"/>
            <a:r>
              <a:rPr sz="1150" b="0" i="0">
                <a:solidFill>
                  <a:srgbClr val="5F6368"/>
                </a:solidFill>
                <a:latin typeface="Helvetica Neue"/>
              </a:rPr>
              <a:t>on your website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591055" y="2743200"/>
            <a:ext cx="4507993" cy="640080"/>
          </a:xfrm>
          <a:prstGeom prst="line">
            <a:avLst/>
          </a:prstGeom>
          <a:ln w="1778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816352" y="1691640"/>
            <a:ext cx="2084831" cy="105156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solidFill>
              <a:srgbClr val="0B5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 i="0">
                <a:solidFill>
                  <a:srgbClr val="1F2328"/>
                </a:solidFill>
                <a:latin typeface="Helvetica Neue"/>
              </a:rPr>
              <a:t>Web voice</a:t>
            </a:r>
          </a:p>
          <a:p>
            <a:pPr algn="ctr"/>
            <a:r>
              <a:rPr sz="1150" b="0" i="0">
                <a:solidFill>
                  <a:srgbClr val="5F6368"/>
                </a:solidFill>
                <a:latin typeface="Helvetica Neue"/>
              </a:rPr>
              <a:t>tap to talk, spoken replies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858768" y="2743200"/>
            <a:ext cx="2240280" cy="640080"/>
          </a:xfrm>
          <a:prstGeom prst="line">
            <a:avLst/>
          </a:prstGeom>
          <a:ln w="1778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84064" y="1691640"/>
            <a:ext cx="2084831" cy="105156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solidFill>
              <a:srgbClr val="0B5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 i="0">
                <a:solidFill>
                  <a:srgbClr val="1F2328"/>
                </a:solidFill>
                <a:latin typeface="Helvetica Neue"/>
              </a:rPr>
              <a:t>WhatsApp</a:t>
            </a:r>
          </a:p>
          <a:p>
            <a:pPr algn="ctr"/>
            <a:r>
              <a:rPr sz="1150" b="0" i="0">
                <a:solidFill>
                  <a:srgbClr val="5F6368"/>
                </a:solidFill>
                <a:latin typeface="Helvetica Neue"/>
              </a:rPr>
              <a:t>the channel customers prefer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6099048" y="2743200"/>
            <a:ext cx="27431" cy="640080"/>
          </a:xfrm>
          <a:prstGeom prst="line">
            <a:avLst/>
          </a:prstGeom>
          <a:ln w="1778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351775" y="1691640"/>
            <a:ext cx="2084831" cy="105156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solidFill>
              <a:srgbClr val="0B5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 i="0">
                <a:solidFill>
                  <a:srgbClr val="1F2328"/>
                </a:solidFill>
                <a:latin typeface="Helvetica Neue"/>
              </a:rPr>
              <a:t>Phone</a:t>
            </a:r>
          </a:p>
          <a:p>
            <a:pPr algn="ctr"/>
            <a:r>
              <a:rPr sz="1150" b="0" i="0">
                <a:solidFill>
                  <a:srgbClr val="5F6368"/>
                </a:solidFill>
                <a:latin typeface="Helvetica Neue"/>
              </a:rPr>
              <a:t>a real call, answered by AI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6099048" y="2743200"/>
            <a:ext cx="2295144" cy="640080"/>
          </a:xfrm>
          <a:prstGeom prst="line">
            <a:avLst/>
          </a:prstGeom>
          <a:ln w="1778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619488" y="1691640"/>
            <a:ext cx="2084831" cy="105156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solidFill>
              <a:srgbClr val="0B5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 i="0">
                <a:solidFill>
                  <a:srgbClr val="1F2328"/>
                </a:solidFill>
                <a:latin typeface="Helvetica Neue"/>
              </a:rPr>
              <a:t>Email</a:t>
            </a:r>
          </a:p>
          <a:p>
            <a:pPr algn="ctr"/>
            <a:r>
              <a:rPr sz="1150" b="0" i="0">
                <a:solidFill>
                  <a:srgbClr val="5F6368"/>
                </a:solidFill>
                <a:latin typeface="Helvetica Neue"/>
              </a:rPr>
              <a:t>replies to your support inbox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6099048" y="2743200"/>
            <a:ext cx="4562856" cy="640080"/>
          </a:xfrm>
          <a:prstGeom prst="line">
            <a:avLst/>
          </a:prstGeom>
          <a:ln w="1778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98648" y="3383280"/>
            <a:ext cx="6400800" cy="1234440"/>
          </a:xfrm>
          <a:prstGeom prst="roundRect">
            <a:avLst>
              <a:gd name="adj" fmla="val 8000"/>
            </a:avLst>
          </a:prstGeom>
          <a:solidFill>
            <a:srgbClr val="0B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700" b="1" i="0">
                <a:solidFill>
                  <a:srgbClr val="FFFFFF"/>
                </a:solidFill>
                <a:latin typeface="Helvetica Neue"/>
              </a:rPr>
              <a:t>One AI agent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Helvetica Neue"/>
              </a:rPr>
              <a:t>your product knowledge base · your brand voice · your Zendesk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983480"/>
            <a:ext cx="110642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500" b="0" i="0">
                <a:solidFill>
                  <a:srgbClr val="1F2328"/>
                </a:solidFill>
                <a:latin typeface="Helvetica Neue"/>
              </a:rPr>
              <a:t>Same brain everywhere: an answer improved once is improved on every channel.</a:t>
            </a:r>
          </a:p>
          <a:p>
            <a:pPr>
              <a:spcAft>
                <a:spcPts val="900"/>
              </a:spcAft>
            </a:pPr>
            <a:r>
              <a:rPr sz="150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500" b="0" i="0">
                <a:solidFill>
                  <a:srgbClr val="1F2328"/>
                </a:solidFill>
                <a:latin typeface="Helvetica Neue"/>
              </a:rPr>
              <a:t>No new tools for your team — everything lands in Zendesk, where they already work.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F6368"/>
                </a:solidFill>
                <a:latin typeface="Helvetica Neue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B57D0"/>
                </a:solidFill>
                <a:latin typeface="Helvetica Neue"/>
              </a:rPr>
              <a:t>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2328"/>
                </a:solidFill>
                <a:latin typeface="Helvetica Neue"/>
              </a:rPr>
              <a:t>A customer's journey (WhatsApp example)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502920" cy="38100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2176272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5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 i="0">
                <a:solidFill>
                  <a:srgbClr val="0B57D0"/>
                </a:solidFill>
                <a:latin typeface="Helvetica Neue"/>
              </a:rPr>
              <a:t>1 · Asks</a:t>
            </a:r>
          </a:p>
          <a:p>
            <a:pPr algn="ctr"/>
            <a:r>
              <a:rPr sz="1100" b="0" i="0">
                <a:solidFill>
                  <a:srgbClr val="5F6368"/>
                </a:solidFill>
                <a:latin typeface="Helvetica Neue"/>
              </a:rPr>
              <a:t>“Does the S70 have adaptive cruise?” — sent at 10:40 pm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633472" y="3154680"/>
            <a:ext cx="182880" cy="0"/>
          </a:xfrm>
          <a:prstGeom prst="line">
            <a:avLst/>
          </a:prstGeom>
          <a:ln w="2032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816352" y="2011680"/>
            <a:ext cx="2176272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5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 i="0">
                <a:solidFill>
                  <a:srgbClr val="0B57D0"/>
                </a:solidFill>
                <a:latin typeface="Helvetica Neue"/>
              </a:rPr>
              <a:t>2 · Answered</a:t>
            </a:r>
          </a:p>
          <a:p>
            <a:pPr algn="ctr"/>
            <a:r>
              <a:rPr sz="1100" b="0" i="0">
                <a:solidFill>
                  <a:srgbClr val="5F6368"/>
                </a:solidFill>
                <a:latin typeface="Helvetica Neue"/>
              </a:rPr>
              <a:t>AI replies in seconds with the real spec, from your knowledge base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92624" y="3154680"/>
            <a:ext cx="182880" cy="0"/>
          </a:xfrm>
          <a:prstGeom prst="line">
            <a:avLst/>
          </a:prstGeom>
          <a:ln w="2032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175504" y="2011680"/>
            <a:ext cx="2176272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B06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 i="0">
                <a:solidFill>
                  <a:srgbClr val="B06000"/>
                </a:solidFill>
                <a:latin typeface="Helvetica Neue"/>
              </a:rPr>
              <a:t>3 · Escalates</a:t>
            </a:r>
          </a:p>
          <a:p>
            <a:pPr algn="ctr"/>
            <a:r>
              <a:rPr sz="1100" b="0" i="0">
                <a:solidFill>
                  <a:srgbClr val="5F6368"/>
                </a:solidFill>
                <a:latin typeface="Helvetica Neue"/>
              </a:rPr>
              <a:t>“I want to change my booking” — AI recognises this needs a person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51775" y="3154680"/>
            <a:ext cx="182881" cy="0"/>
          </a:xfrm>
          <a:prstGeom prst="line">
            <a:avLst/>
          </a:prstGeom>
          <a:ln w="2032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534656" y="2011680"/>
            <a:ext cx="2176272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B06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 i="0">
                <a:solidFill>
                  <a:srgbClr val="B06000"/>
                </a:solidFill>
                <a:latin typeface="Helvetica Neue"/>
              </a:rPr>
              <a:t>4 · Human takes over</a:t>
            </a:r>
          </a:p>
          <a:p>
            <a:pPr algn="ctr"/>
            <a:r>
              <a:rPr sz="1100" b="0" i="0">
                <a:solidFill>
                  <a:srgbClr val="5F6368"/>
                </a:solidFill>
                <a:latin typeface="Helvetica Neue"/>
              </a:rPr>
              <a:t>Ticket appears in Zendesk; the agent replies from there — the customer never leaves WhatsApp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710928" y="3154680"/>
            <a:ext cx="182880" cy="0"/>
          </a:xfrm>
          <a:prstGeom prst="line">
            <a:avLst/>
          </a:prstGeom>
          <a:ln w="2032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893808" y="2011680"/>
            <a:ext cx="2176272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5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 i="0">
                <a:solidFill>
                  <a:srgbClr val="0B57D0"/>
                </a:solidFill>
                <a:latin typeface="Helvetica Neue"/>
              </a:rPr>
              <a:t>5 · Handback + CSAT</a:t>
            </a:r>
          </a:p>
          <a:p>
            <a:pPr algn="ctr"/>
            <a:r>
              <a:rPr sz="1100" b="0" i="0">
                <a:solidFill>
                  <a:srgbClr val="5F6368"/>
                </a:solidFill>
                <a:latin typeface="Helvetica Neue"/>
              </a:rPr>
              <a:t>Ticket solved → AI resumes and asks for a satisfaction rating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46320"/>
            <a:ext cx="11064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500" b="0" i="0">
                <a:solidFill>
                  <a:srgbClr val="1F2328"/>
                </a:solidFill>
                <a:latin typeface="Helvetica Neue"/>
              </a:rPr>
              <a:t>The AI handles steps 1–2 alone, around the clock. Your team only appears at step 4 — and the whole exchange is one continuous conversation for the customer.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F6368"/>
                </a:solidFill>
                <a:latin typeface="Helvetica Neue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B57D0"/>
                </a:solidFill>
                <a:latin typeface="Helvetica Neue"/>
              </a:rPr>
              <a:t>CHANNEL TOUR · 1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2328"/>
                </a:solidFill>
                <a:latin typeface="Helvetica Neue"/>
              </a:rPr>
              <a:t>Web chat &amp; voice — your website answers back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502920" cy="38100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550" b="1" i="0">
                <a:solidFill>
                  <a:srgbClr val="1F2328"/>
                </a:solidFill>
                <a:latin typeface="Helvetica Neue"/>
              </a:rPr>
              <a:t>Rich answers — </a:t>
            </a:r>
            <a:r>
              <a:rPr sz="1550" b="0" i="0">
                <a:solidFill>
                  <a:srgbClr val="1F2328"/>
                </a:solidFill>
                <a:latin typeface="Helvetica Neue"/>
              </a:rPr>
              <a:t>Product questions answered instantly, with detailed specs and a visual product carousel.</a:t>
            </a:r>
          </a:p>
          <a:p>
            <a:pPr>
              <a:spcAft>
                <a:spcPts val="1200"/>
              </a:spcAft>
            </a:pPr>
            <a:r>
              <a:rPr sz="15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550" b="1" i="0">
                <a:solidFill>
                  <a:srgbClr val="1F2328"/>
                </a:solidFill>
                <a:latin typeface="Helvetica Neue"/>
              </a:rPr>
              <a:t>Voice built in — </a:t>
            </a:r>
            <a:r>
              <a:rPr sz="1550" b="0" i="0">
                <a:solidFill>
                  <a:srgbClr val="1F2328"/>
                </a:solidFill>
                <a:latin typeface="Helvetica Neue"/>
              </a:rPr>
              <a:t>Customers can tap to talk and hear a natural spoken reply — no typing on mobile.</a:t>
            </a:r>
          </a:p>
          <a:p>
            <a:pPr>
              <a:spcAft>
                <a:spcPts val="1200"/>
              </a:spcAft>
            </a:pPr>
            <a:r>
              <a:rPr sz="15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550" b="1" i="0">
                <a:solidFill>
                  <a:srgbClr val="1F2328"/>
                </a:solidFill>
                <a:latin typeface="Helvetica Neue"/>
              </a:rPr>
              <a:t>Pre-sales impact — </a:t>
            </a:r>
            <a:r>
              <a:rPr sz="1550" b="0" i="0">
                <a:solidFill>
                  <a:srgbClr val="1F2328"/>
                </a:solidFill>
                <a:latin typeface="Helvetica Neue"/>
              </a:rPr>
              <a:t>Every visitor gets a knowledgeable “salesperson”, not a search box.</a:t>
            </a:r>
          </a:p>
          <a:p>
            <a:pPr>
              <a:spcAft>
                <a:spcPts val="1200"/>
              </a:spcAft>
            </a:pPr>
            <a:r>
              <a:rPr sz="15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550" b="1" i="0">
                <a:solidFill>
                  <a:srgbClr val="1F2328"/>
                </a:solidFill>
                <a:latin typeface="Helvetica Neue"/>
              </a:rPr>
              <a:t>Your brand — </a:t>
            </a:r>
            <a:r>
              <a:rPr sz="1550" b="0" i="0">
                <a:solidFill>
                  <a:srgbClr val="1F2328"/>
                </a:solidFill>
                <a:latin typeface="Helvetica Neue"/>
              </a:rPr>
              <a:t>Fits your site as a standard web component; branding and tone are configurable.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F6368"/>
                </a:solidFill>
                <a:latin typeface="Helvetica Neue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B57D0"/>
                </a:solidFill>
                <a:latin typeface="Helvetica Neue"/>
              </a:rPr>
              <a:t>CHANNEL TOUR · 2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2328"/>
                </a:solidFill>
                <a:latin typeface="Helvetica Neue"/>
              </a:rPr>
              <a:t>WhatsApp — meet customers in their favourite app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502920" cy="38100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550" b="1" i="0">
                <a:solidFill>
                  <a:srgbClr val="1F2328"/>
                </a:solidFill>
                <a:latin typeface="Helvetica Neue"/>
              </a:rPr>
              <a:t>Always on — </a:t>
            </a:r>
            <a:r>
              <a:rPr sz="1550" b="0" i="0">
                <a:solidFill>
                  <a:srgbClr val="1F2328"/>
                </a:solidFill>
                <a:latin typeface="Helvetica Neue"/>
              </a:rPr>
              <a:t>Customers message your business number and get a real answer in seconds — day or night.</a:t>
            </a:r>
          </a:p>
          <a:p>
            <a:pPr>
              <a:spcAft>
                <a:spcPts val="1200"/>
              </a:spcAft>
            </a:pPr>
            <a:r>
              <a:rPr sz="15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550" b="1" i="0">
                <a:solidFill>
                  <a:srgbClr val="1F2328"/>
                </a:solidFill>
                <a:latin typeface="Helvetica Neue"/>
              </a:rPr>
              <a:t>Not a menu bot — </a:t>
            </a:r>
            <a:r>
              <a:rPr sz="1550" b="0" i="0">
                <a:solidFill>
                  <a:srgbClr val="1F2328"/>
                </a:solidFill>
                <a:latin typeface="Helvetica Neue"/>
              </a:rPr>
              <a:t>Long answers, spec sheets, follow-up questions — a genuine conversation, not canned menus.</a:t>
            </a:r>
          </a:p>
          <a:p>
            <a:pPr>
              <a:spcAft>
                <a:spcPts val="1200"/>
              </a:spcAft>
            </a:pPr>
            <a:r>
              <a:rPr sz="15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550" b="1" i="0">
                <a:solidFill>
                  <a:srgbClr val="1F2328"/>
                </a:solidFill>
                <a:latin typeface="Helvetica Neue"/>
              </a:rPr>
              <a:t>Cheap to run — </a:t>
            </a:r>
            <a:r>
              <a:rPr sz="1550" b="0" i="0">
                <a:solidFill>
                  <a:srgbClr val="1F2328"/>
                </a:solidFill>
                <a:latin typeface="Helvetica Neue"/>
              </a:rPr>
              <a:t>Because the AI only replies to inbound messages, Meta's fee for these conversations is zero — you pay fractions of a cent per message.</a:t>
            </a:r>
          </a:p>
          <a:p>
            <a:pPr>
              <a:spcAft>
                <a:spcPts val="1200"/>
              </a:spcAft>
            </a:pPr>
            <a:r>
              <a:rPr sz="15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550" b="1" i="0">
                <a:solidFill>
                  <a:srgbClr val="1F2328"/>
                </a:solidFill>
                <a:latin typeface="Helvetica Neue"/>
              </a:rPr>
              <a:t>Human backup — </a:t>
            </a:r>
            <a:r>
              <a:rPr sz="1550" b="0" i="0">
                <a:solidFill>
                  <a:srgbClr val="1F2328"/>
                </a:solidFill>
                <a:latin typeface="Helvetica Neue"/>
              </a:rPr>
              <a:t>Handoff works here too: an agent can take over from Zendesk mid-chat, invisibly to the customer.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F6368"/>
                </a:solidFill>
                <a:latin typeface="Helvetica Neue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B57D0"/>
                </a:solidFill>
                <a:latin typeface="Helvetica Neue"/>
              </a:rPr>
              <a:t>CHANNEL TOUR · 3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2328"/>
                </a:solidFill>
                <a:latin typeface="Helvetica Neue"/>
              </a:rPr>
              <a:t>Phone — a real call, answered by AI in real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502920" cy="38100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550" b="1" i="0">
                <a:solidFill>
                  <a:srgbClr val="1F2328"/>
                </a:solidFill>
                <a:latin typeface="Helvetica Neue"/>
              </a:rPr>
              <a:t>No IVR maze — </a:t>
            </a:r>
            <a:r>
              <a:rPr sz="1550" b="0" i="0">
                <a:solidFill>
                  <a:srgbClr val="1F2328"/>
                </a:solidFill>
                <a:latin typeface="Helvetica Neue"/>
              </a:rPr>
              <a:t>Customers dial a normal phone number and talk naturally — the AI listens and answers with a human-like voice, live.</a:t>
            </a:r>
          </a:p>
          <a:p>
            <a:pPr>
              <a:spcAft>
                <a:spcPts val="1200"/>
              </a:spcAft>
            </a:pPr>
            <a:r>
              <a:rPr sz="15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550" b="1" i="0">
                <a:solidFill>
                  <a:srgbClr val="1F2328"/>
                </a:solidFill>
                <a:latin typeface="Helvetica Neue"/>
              </a:rPr>
              <a:t>Zero menus — </a:t>
            </a:r>
            <a:r>
              <a:rPr sz="1550" b="0" i="0">
                <a:solidFill>
                  <a:srgbClr val="1F2328"/>
                </a:solidFill>
                <a:latin typeface="Helvetica Neue"/>
              </a:rPr>
              <a:t>No “press 1 for sales” — callers just say what they need.</a:t>
            </a:r>
          </a:p>
          <a:p>
            <a:pPr>
              <a:spcAft>
                <a:spcPts val="1200"/>
              </a:spcAft>
            </a:pPr>
            <a:r>
              <a:rPr sz="15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550" b="1" i="0">
                <a:solidFill>
                  <a:srgbClr val="1F2328"/>
                </a:solidFill>
                <a:latin typeface="Helvetica Neue"/>
              </a:rPr>
              <a:t>Consistent — </a:t>
            </a:r>
            <a:r>
              <a:rPr sz="1550" b="0" i="0">
                <a:solidFill>
                  <a:srgbClr val="1F2328"/>
                </a:solidFill>
                <a:latin typeface="Helvetica Neue"/>
              </a:rPr>
              <a:t>Answers come from the same knowledge base as every other channel, so phone answers match what your website says.</a:t>
            </a:r>
          </a:p>
          <a:p>
            <a:pPr>
              <a:spcAft>
                <a:spcPts val="1200"/>
              </a:spcAft>
            </a:pPr>
            <a:r>
              <a:rPr sz="15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550" b="1" i="0">
                <a:solidFill>
                  <a:srgbClr val="1F2328"/>
                </a:solidFill>
                <a:latin typeface="Helvetica Neue"/>
              </a:rPr>
              <a:t>Speaks their language — </a:t>
            </a:r>
            <a:r>
              <a:rPr sz="1550" b="0" i="0">
                <a:solidFill>
                  <a:srgbClr val="1F2328"/>
                </a:solidFill>
                <a:latin typeface="Helvetica Neue"/>
              </a:rPr>
              <a:t>Multi-language: the AI detects the caller's language automatically (e.g. Malay or English).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F6368"/>
                </a:solidFill>
                <a:latin typeface="Helvetica Neue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B57D0"/>
                </a:solidFill>
                <a:latin typeface="Helvetica Neue"/>
              </a:rPr>
              <a:t>CHANNEL TOUR · 4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2328"/>
                </a:solidFill>
                <a:latin typeface="Helvetica Neue"/>
              </a:rPr>
              <a:t>Email — your support inbox, answered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502920" cy="38100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550" b="1" i="0">
                <a:solidFill>
                  <a:srgbClr val="1F2328"/>
                </a:solidFill>
                <a:latin typeface="Helvetica Neue"/>
              </a:rPr>
              <a:t>Nothing changes for customers — </a:t>
            </a:r>
            <a:r>
              <a:rPr sz="1550" b="0" i="0">
                <a:solidFill>
                  <a:srgbClr val="1F2328"/>
                </a:solidFill>
                <a:latin typeface="Helvetica Neue"/>
              </a:rPr>
              <a:t>Customers email your support address as usual; the AI drafts and sends the reply through Zendesk.</a:t>
            </a:r>
          </a:p>
          <a:p>
            <a:pPr>
              <a:spcAft>
                <a:spcPts val="1200"/>
              </a:spcAft>
            </a:pPr>
            <a:r>
              <a:rPr sz="15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550" b="1" i="0">
                <a:solidFill>
                  <a:srgbClr val="1F2328"/>
                </a:solidFill>
                <a:latin typeface="Helvetica Neue"/>
              </a:rPr>
              <a:t>Speed — </a:t>
            </a:r>
            <a:r>
              <a:rPr sz="1550" b="0" i="0">
                <a:solidFill>
                  <a:srgbClr val="1F2328"/>
                </a:solidFill>
                <a:latin typeface="Helvetica Neue"/>
              </a:rPr>
              <a:t>Replies arrive in minutes instead of the next business day.</a:t>
            </a:r>
          </a:p>
          <a:p>
            <a:pPr>
              <a:spcAft>
                <a:spcPts val="1200"/>
              </a:spcAft>
            </a:pPr>
            <a:r>
              <a:rPr sz="15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550" b="1" i="0">
                <a:solidFill>
                  <a:srgbClr val="1F2328"/>
                </a:solidFill>
                <a:latin typeface="Helvetica Neue"/>
              </a:rPr>
              <a:t>Control dial — </a:t>
            </a:r>
            <a:r>
              <a:rPr sz="1550" b="0" i="0">
                <a:solidFill>
                  <a:srgbClr val="1F2328"/>
                </a:solidFill>
                <a:latin typeface="Helvetica Neue"/>
              </a:rPr>
              <a:t>Optional draft-assist mode: the AI prepares the answer as a private note and an agent approves before it is sent — ideal while building trust.</a:t>
            </a:r>
          </a:p>
          <a:p>
            <a:pPr>
              <a:spcAft>
                <a:spcPts val="1200"/>
              </a:spcAft>
            </a:pPr>
            <a:r>
              <a:rPr sz="15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550" b="1" i="0">
                <a:solidFill>
                  <a:srgbClr val="1F2328"/>
                </a:solidFill>
                <a:latin typeface="Helvetica Neue"/>
              </a:rPr>
              <a:t>Zero new infra — </a:t>
            </a:r>
            <a:r>
              <a:rPr sz="1550" b="0" i="0">
                <a:solidFill>
                  <a:srgbClr val="1F2328"/>
                </a:solidFill>
                <a:latin typeface="Helvetica Neue"/>
              </a:rPr>
              <a:t>Runs entirely on your existing Zendesk email — no new mail infrastructure.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F6368"/>
                </a:solidFill>
                <a:latin typeface="Helvetica Neue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B57D0"/>
                </a:solidFill>
                <a:latin typeface="Helvetica Neue"/>
              </a:rPr>
              <a:t>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2328"/>
                </a:solidFill>
                <a:latin typeface="Helvetica Neue"/>
              </a:rPr>
              <a:t>Your team stays in control — inside Zendesk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502920" cy="38100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550" b="1" i="0">
                <a:solidFill>
                  <a:srgbClr val="1F2328"/>
                </a:solidFill>
                <a:latin typeface="Helvetica Neue"/>
              </a:rPr>
              <a:t>Full visibility — </a:t>
            </a:r>
            <a:r>
              <a:rPr sz="1550" b="0" i="0">
                <a:solidFill>
                  <a:srgbClr val="1F2328"/>
                </a:solidFill>
                <a:latin typeface="Helvetica Neue"/>
              </a:rPr>
              <a:t>Every AI conversation, on every channel, is logged as a Zendesk ticket your team can read at any time. Nothing is a black box.</a:t>
            </a:r>
          </a:p>
          <a:p>
            <a:pPr>
              <a:spcAft>
                <a:spcPts val="1200"/>
              </a:spcAft>
            </a:pPr>
            <a:r>
              <a:rPr sz="15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550" b="1" i="0">
                <a:solidFill>
                  <a:srgbClr val="1F2328"/>
                </a:solidFill>
                <a:latin typeface="Helvetica Neue"/>
              </a:rPr>
              <a:t>Smart escalation — </a:t>
            </a:r>
            <a:r>
              <a:rPr sz="1550" b="0" i="0">
                <a:solidFill>
                  <a:srgbClr val="1F2328"/>
                </a:solidFill>
                <a:latin typeface="Helvetica Neue"/>
              </a:rPr>
              <a:t>The AI recognises frustration, complaints and requests it shouldn't handle — and creates a handoff ticket only then, so agents see real work, not noise.</a:t>
            </a:r>
          </a:p>
          <a:p>
            <a:pPr>
              <a:spcAft>
                <a:spcPts val="1200"/>
              </a:spcAft>
            </a:pPr>
            <a:r>
              <a:rPr sz="15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550" b="1" i="0">
                <a:solidFill>
                  <a:srgbClr val="1F2328"/>
                </a:solidFill>
                <a:latin typeface="Helvetica Neue"/>
              </a:rPr>
              <a:t>No new tools — </a:t>
            </a:r>
            <a:r>
              <a:rPr sz="1550" b="0" i="0">
                <a:solidFill>
                  <a:srgbClr val="1F2328"/>
                </a:solidFill>
                <a:latin typeface="Helvetica Neue"/>
              </a:rPr>
              <a:t>Agents reply from Zendesk exactly as they do today; the reply reaches the customer on whichever channel they used.</a:t>
            </a:r>
          </a:p>
          <a:p>
            <a:pPr>
              <a:spcAft>
                <a:spcPts val="1200"/>
              </a:spcAft>
            </a:pPr>
            <a:r>
              <a:rPr sz="15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550" b="1" i="0">
                <a:solidFill>
                  <a:srgbClr val="1F2328"/>
                </a:solidFill>
                <a:latin typeface="Helvetica Neue"/>
              </a:rPr>
              <a:t>Clean handback — </a:t>
            </a:r>
            <a:r>
              <a:rPr sz="1550" b="0" i="0">
                <a:solidFill>
                  <a:srgbClr val="1F2328"/>
                </a:solidFill>
                <a:latin typeface="Helvetica Neue"/>
              </a:rPr>
              <a:t>When the agent solves the ticket, the AI takes back over and collects a satisfaction rating.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F6368"/>
                </a:solidFill>
                <a:latin typeface="Helvetica Neue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B57D0"/>
                </a:solidFill>
                <a:latin typeface="Helvetica Neue"/>
              </a:rPr>
              <a:t>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2328"/>
                </a:solidFill>
                <a:latin typeface="Helvetica Neue"/>
              </a:rPr>
              <a:t>If it matters, it's measured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502920" cy="38100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2670048" cy="128016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 i="0">
                <a:solidFill>
                  <a:srgbClr val="0B57D0"/>
                </a:solidFill>
                <a:latin typeface="Helvetica Neue"/>
              </a:rPr>
              <a:t>Volume</a:t>
            </a:r>
          </a:p>
          <a:p>
            <a:pPr algn="ctr"/>
            <a:r>
              <a:rPr sz="1150" b="0" i="0">
                <a:solidFill>
                  <a:srgbClr val="5F6368"/>
                </a:solidFill>
                <a:latin typeface="Helvetica Neue"/>
              </a:rPr>
              <a:t>conversations per channel, per 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01568" y="1691640"/>
            <a:ext cx="2670048" cy="128016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 i="0">
                <a:solidFill>
                  <a:srgbClr val="0B57D0"/>
                </a:solidFill>
                <a:latin typeface="Helvetica Neue"/>
              </a:rPr>
              <a:t>Containment</a:t>
            </a:r>
          </a:p>
          <a:p>
            <a:pPr algn="ctr"/>
            <a:r>
              <a:rPr sz="1150" b="0" i="0">
                <a:solidFill>
                  <a:srgbClr val="5F6368"/>
                </a:solidFill>
                <a:latin typeface="Helvetica Neue"/>
              </a:rPr>
              <a:t>how much the AI resolves alone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54496" y="1691640"/>
            <a:ext cx="2670048" cy="128016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 i="0">
                <a:solidFill>
                  <a:srgbClr val="0B57D0"/>
                </a:solidFill>
                <a:latin typeface="Helvetica Neue"/>
              </a:rPr>
              <a:t>Speed</a:t>
            </a:r>
          </a:p>
          <a:p>
            <a:pPr algn="ctr"/>
            <a:r>
              <a:rPr sz="1150" b="0" i="0">
                <a:solidFill>
                  <a:srgbClr val="5F6368"/>
                </a:solidFill>
                <a:latin typeface="Helvetica Neue"/>
              </a:rPr>
              <a:t>response time per turn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07424" y="1691640"/>
            <a:ext cx="2670048" cy="128016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 i="0">
                <a:solidFill>
                  <a:srgbClr val="0B57D0"/>
                </a:solidFill>
                <a:latin typeface="Helvetica Neue"/>
              </a:rPr>
              <a:t>Fallback rate</a:t>
            </a:r>
          </a:p>
          <a:p>
            <a:pPr algn="ctr"/>
            <a:r>
              <a:rPr sz="1150" b="0" i="0">
                <a:solidFill>
                  <a:srgbClr val="5F6368"/>
                </a:solidFill>
                <a:latin typeface="Helvetica Neue"/>
              </a:rPr>
              <a:t>how often the AI couldn't answer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54680"/>
            <a:ext cx="2670048" cy="128016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 i="0">
                <a:solidFill>
                  <a:srgbClr val="0B57D0"/>
                </a:solidFill>
                <a:latin typeface="Helvetica Neue"/>
              </a:rPr>
              <a:t>Bounce</a:t>
            </a:r>
          </a:p>
          <a:p>
            <a:pPr algn="ctr"/>
            <a:r>
              <a:rPr sz="1150" b="0" i="0">
                <a:solidFill>
                  <a:srgbClr val="5F6368"/>
                </a:solidFill>
                <a:latin typeface="Helvetica Neue"/>
              </a:rPr>
              <a:t>customers who leave after one turn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3154680"/>
            <a:ext cx="2670048" cy="128016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 i="0">
                <a:solidFill>
                  <a:srgbClr val="0B57D0"/>
                </a:solidFill>
                <a:latin typeface="Helvetica Neue"/>
              </a:rPr>
              <a:t>CSAT</a:t>
            </a:r>
          </a:p>
          <a:p>
            <a:pPr algn="ctr"/>
            <a:r>
              <a:rPr sz="1150" b="0" i="0">
                <a:solidFill>
                  <a:srgbClr val="5F6368"/>
                </a:solidFill>
                <a:latin typeface="Helvetica Neue"/>
              </a:rPr>
              <a:t>satisfaction after human handoffs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3154680"/>
            <a:ext cx="2670048" cy="128016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 i="0">
                <a:solidFill>
                  <a:srgbClr val="0B57D0"/>
                </a:solidFill>
                <a:latin typeface="Helvetica Neue"/>
              </a:rPr>
              <a:t>NPS</a:t>
            </a:r>
          </a:p>
          <a:p>
            <a:pPr algn="ctr"/>
            <a:r>
              <a:rPr sz="1150" b="0" i="0">
                <a:solidFill>
                  <a:srgbClr val="5F6368"/>
                </a:solidFill>
                <a:latin typeface="Helvetica Neue"/>
              </a:rPr>
              <a:t>loyalty score collected in-chat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07424" y="3154680"/>
            <a:ext cx="2670048" cy="128016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 i="0">
                <a:solidFill>
                  <a:srgbClr val="0B57D0"/>
                </a:solidFill>
                <a:latin typeface="Helvetica Neue"/>
              </a:rPr>
              <a:t>Quality</a:t>
            </a:r>
          </a:p>
          <a:p>
            <a:pPr algn="ctr"/>
            <a:r>
              <a:rPr sz="1150" b="0" i="0">
                <a:solidFill>
                  <a:srgbClr val="5F6368"/>
                </a:solidFill>
                <a:latin typeface="Helvetica Neue"/>
              </a:rPr>
              <a:t>human-reviewed answer 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892040"/>
            <a:ext cx="110642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500" b="0" i="0">
                <a:solidFill>
                  <a:srgbClr val="1F2328"/>
                </a:solidFill>
                <a:latin typeface="Helvetica Neue"/>
              </a:rPr>
              <a:t>All of it lives in a management dashboard (with the raw data in your warehouse for BI tools) — so the AI's business case is visible week by week, not anecdotal.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F6368"/>
                </a:solidFill>
                <a:latin typeface="Helvetica Neue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B57D0"/>
                </a:solidFill>
                <a:latin typeface="Helvetica Neue"/>
              </a:rPr>
              <a:t>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2328"/>
                </a:solidFill>
                <a:latin typeface="Helvetica Neue"/>
              </a:rPr>
              <a:t>What it costs to run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502920" cy="38100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00200"/>
          <a:ext cx="1106424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6035040"/>
              </a:tblGrid>
              <a:tr h="512064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FFFFFF"/>
                          </a:solidFill>
                          <a:latin typeface="Helvetica Neue"/>
                        </a:rPr>
                        <a:t>Channel</a:t>
                      </a:r>
                    </a:p>
                  </a:txBody>
                  <a:tcPr>
                    <a:solidFill>
                      <a:srgbClr val="0B5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FFFFFF"/>
                          </a:solidFill>
                          <a:latin typeface="Helvetica Neue"/>
                        </a:rPr>
                        <a:t>Running cost</a:t>
                      </a:r>
                    </a:p>
                  </a:txBody>
                  <a:tcPr>
                    <a:solidFill>
                      <a:srgbClr val="0B5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FFFFFF"/>
                          </a:solidFill>
                          <a:latin typeface="Helvetica Neue"/>
                        </a:rPr>
                        <a:t>Why</a:t>
                      </a:r>
                    </a:p>
                  </a:txBody>
                  <a:tcPr>
                    <a:solidFill>
                      <a:srgbClr val="0B57D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F2328"/>
                          </a:solidFill>
                          <a:latin typeface="Helvetica Neue"/>
                        </a:rPr>
                        <a:t>WhatsApp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F2328"/>
                          </a:solidFill>
                          <a:latin typeface="Helvetica Neue"/>
                        </a:rPr>
                        <a:t>≈ $0.005 per message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F2328"/>
                          </a:solidFill>
                          <a:latin typeface="Helvetica Neue"/>
                        </a:rPr>
                        <a:t>Only Twilio's fee — Meta's fee is $0 for replies within the service window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F2328"/>
                          </a:solidFill>
                          <a:latin typeface="Helvetica Neue"/>
                        </a:rPr>
                        <a:t>Email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F2328"/>
                          </a:solidFill>
                          <a:latin typeface="Helvetica Neue"/>
                        </a:rPr>
                        <a:t>≈ $0 per email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F2328"/>
                          </a:solidFill>
                          <a:latin typeface="Helvetica Neue"/>
                        </a:rPr>
                        <a:t>Rides on your existing Zendesk email; only AI inference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F2328"/>
                          </a:solidFill>
                          <a:latin typeface="Helvetica Neue"/>
                        </a:rPr>
                        <a:t>Web chat &amp; voice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F2328"/>
                          </a:solidFill>
                          <a:latin typeface="Helvetica Neue"/>
                        </a:rPr>
                        <a:t>≈ $0 per conversation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F2328"/>
                          </a:solidFill>
                          <a:latin typeface="Helvetica Neue"/>
                        </a:rPr>
                        <a:t>AI inference only — fractions of a cent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F2328"/>
                          </a:solidFill>
                          <a:latin typeface="Helvetica Neue"/>
                        </a:rPr>
                        <a:t>Phone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F2328"/>
                          </a:solidFill>
                          <a:latin typeface="Helvetica Neue"/>
                        </a:rPr>
                        <a:t>≈ $0.03–0.08 per minute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F2328"/>
                          </a:solidFill>
                          <a:latin typeface="Helvetica Neue"/>
                        </a:rPr>
                        <a:t>Call minutes + real-time speech processing (option-dependent)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F2328"/>
                          </a:solidFill>
                          <a:latin typeface="Helvetica Neue"/>
                        </a:rPr>
                        <a:t>Fixed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F2328"/>
                          </a:solidFill>
                          <a:latin typeface="Helvetica Neue"/>
                        </a:rPr>
                        <a:t>≈ $4 per month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F2328"/>
                          </a:solidFill>
                          <a:latin typeface="Helvetica Neue"/>
                        </a:rPr>
                        <a:t>One local phone number rental (Malaysia)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526280"/>
            <a:ext cx="110642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450" b="0" i="0">
                <a:solidFill>
                  <a:srgbClr val="1F2328"/>
                </a:solidFill>
                <a:latin typeface="Helvetica Neue"/>
              </a:rPr>
              <a:t>A thousand WhatsApp support conversations cost dollars, not headcount. The dominant platform costs are the usual Google Cloud and Zendesk subscriptions you'd run anyway.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623560"/>
            <a:ext cx="11064240" cy="685800"/>
          </a:xfrm>
          <a:prstGeom prst="roundRect">
            <a:avLst>
              <a:gd name="adj" fmla="val 12000"/>
            </a:avLst>
          </a:prstGeom>
          <a:solidFill>
            <a:srgbClr val="FE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/>
            <a:r>
              <a:rPr sz="1250" b="1" i="0">
                <a:solidFill>
                  <a:srgbClr val="B06000"/>
                </a:solidFill>
                <a:latin typeface="Helvetica Neue"/>
              </a:rPr>
              <a:t>Disclaimer: </a:t>
            </a:r>
            <a:r>
              <a:rPr sz="1250" b="0" i="0">
                <a:solidFill>
                  <a:srgbClr val="1F2328"/>
                </a:solidFill>
                <a:latin typeface="Helvetica Neue"/>
              </a:rPr>
              <a:t>Figures from public Twilio/Meta/Google rate cards as of 25 Jun 2026 (see the cost breakdown document). Confirm current rates before contractual quoting.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F6368"/>
                </a:solidFill>
                <a:latin typeface="Helvetica Neue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B57D0"/>
                </a:solidFill>
                <a:latin typeface="Helvetica Neue"/>
              </a:rPr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2328"/>
                </a:solidFill>
                <a:latin typeface="Helvetica Neue"/>
              </a:rPr>
              <a:t>This is not a concept — it's running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502920" cy="38100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0020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686800"/>
              </a:tblGrid>
              <a:tr h="457200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FFFFFF"/>
                          </a:solidFill>
                          <a:latin typeface="Helvetica Neue"/>
                        </a:rPr>
                        <a:t>Channel</a:t>
                      </a:r>
                    </a:p>
                  </a:txBody>
                  <a:tcPr>
                    <a:solidFill>
                      <a:srgbClr val="0B5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FFFFFF"/>
                          </a:solidFill>
                          <a:latin typeface="Helvetica Neue"/>
                        </a:rPr>
                        <a:t>Status in the demo environment</a:t>
                      </a:r>
                    </a:p>
                  </a:txBody>
                  <a:tcPr>
                    <a:solidFill>
                      <a:srgbClr val="0B57D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F2328"/>
                          </a:solidFill>
                          <a:latin typeface="Helvetica Neue"/>
                        </a:rPr>
                        <a:t>Web chat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F2328"/>
                          </a:solidFill>
                          <a:latin typeface="Helvetica Neue"/>
                        </a:rPr>
                        <a:t>Live — real product answers from the knowledge 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F2328"/>
                          </a:solidFill>
                          <a:latin typeface="Helvetica Neue"/>
                        </a:rPr>
                        <a:t>Web voice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F2328"/>
                          </a:solidFill>
                          <a:latin typeface="Helvetica Neue"/>
                        </a:rPr>
                        <a:t>Live — spoken replies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F2328"/>
                          </a:solidFill>
                          <a:latin typeface="Helvetica Neue"/>
                        </a:rPr>
                        <a:t>WhatsApp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F2328"/>
                          </a:solidFill>
                          <a:latin typeface="Helvetica Neue"/>
                        </a:rPr>
                        <a:t>Live — message the demo number and the AI answers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F2328"/>
                          </a:solidFill>
                          <a:latin typeface="Helvetica Neue"/>
                        </a:rPr>
                        <a:t>Phone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F2328"/>
                          </a:solidFill>
                          <a:latin typeface="Helvetica Neue"/>
                        </a:rPr>
                        <a:t>Live — call the demo number and talk to the AI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F2328"/>
                          </a:solidFill>
                          <a:latin typeface="Helvetica Neue"/>
                        </a:rPr>
                        <a:t>Email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F2328"/>
                          </a:solidFill>
                          <a:latin typeface="Helvetica Neue"/>
                        </a:rPr>
                        <a:t>Live — email the demo address, get an AI reply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F2328"/>
                          </a:solidFill>
                          <a:latin typeface="Helvetica Neue"/>
                        </a:rPr>
                        <a:t>Dashboard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F2328"/>
                          </a:solidFill>
                          <a:latin typeface="Helvetica Neue"/>
                        </a:rPr>
                        <a:t>Live — metrics visible in the management dashboard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709160"/>
            <a:ext cx="110642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450" b="0" i="0">
                <a:solidFill>
                  <a:srgbClr val="1F2328"/>
                </a:solidFill>
                <a:latin typeface="Helvetica Neue"/>
              </a:rPr>
              <a:t>Every channel above has been verified end-to-end with real messages, real calls and real emails on the cloud deployment — not a staged video.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F6368"/>
                </a:solidFill>
                <a:latin typeface="Helvetica Neue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B57D0"/>
                </a:solidFill>
                <a:latin typeface="Helvetica Neue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2328"/>
                </a:solidFill>
                <a:latin typeface="Helvetica Neue"/>
              </a:rPr>
              <a:t>From demo to your production launch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502920" cy="38100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670048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5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50" b="1" i="0">
                <a:solidFill>
                  <a:srgbClr val="0B57D0"/>
                </a:solidFill>
                <a:latin typeface="Helvetica Neue"/>
              </a:rPr>
              <a:t>1 · Brand it</a:t>
            </a:r>
          </a:p>
          <a:p>
            <a:pPr algn="ctr"/>
            <a:r>
              <a:rPr sz="1150" b="0" i="0">
                <a:solidFill>
                  <a:srgbClr val="5F6368"/>
                </a:solidFill>
                <a:latin typeface="Helvetica Neue"/>
              </a:rPr>
              <a:t>Your knowledge base onboarded; tone and languages tuned to your brand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18688" y="2834640"/>
            <a:ext cx="182880" cy="0"/>
          </a:xfrm>
          <a:prstGeom prst="line">
            <a:avLst/>
          </a:prstGeom>
          <a:ln w="2032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401568" y="1828800"/>
            <a:ext cx="2670048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5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50" b="1" i="0">
                <a:solidFill>
                  <a:srgbClr val="0B57D0"/>
                </a:solidFill>
                <a:latin typeface="Helvetica Neue"/>
              </a:rPr>
              <a:t>2 · Own the numbers</a:t>
            </a:r>
          </a:p>
          <a:p>
            <a:pPr algn="ctr"/>
            <a:r>
              <a:rPr sz="1150" b="0" i="0">
                <a:solidFill>
                  <a:srgbClr val="5F6368"/>
                </a:solidFill>
                <a:latin typeface="Helvetica Neue"/>
              </a:rPr>
              <a:t>Meta-verified WhatsApp sender and a phone number on your own brand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71616" y="2834640"/>
            <a:ext cx="182880" cy="0"/>
          </a:xfrm>
          <a:prstGeom prst="line">
            <a:avLst/>
          </a:prstGeom>
          <a:ln w="2032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254496" y="1828800"/>
            <a:ext cx="2670048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5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50" b="1" i="0">
                <a:solidFill>
                  <a:srgbClr val="0B57D0"/>
                </a:solidFill>
                <a:latin typeface="Helvetica Neue"/>
              </a:rPr>
              <a:t>3 · Wire your Zendesk</a:t>
            </a:r>
          </a:p>
          <a:p>
            <a:pPr algn="ctr"/>
            <a:r>
              <a:rPr sz="1150" b="0" i="0">
                <a:solidFill>
                  <a:srgbClr val="5F6368"/>
                </a:solidFill>
                <a:latin typeface="Helvetica Neue"/>
              </a:rPr>
              <a:t>Your (or a shared) Zendesk instance, your agents, your workflows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924544" y="2834640"/>
            <a:ext cx="182880" cy="0"/>
          </a:xfrm>
          <a:prstGeom prst="line">
            <a:avLst/>
          </a:prstGeom>
          <a:ln w="2032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107424" y="1828800"/>
            <a:ext cx="2670048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5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50" b="1" i="0">
                <a:solidFill>
                  <a:srgbClr val="0B57D0"/>
                </a:solidFill>
                <a:latin typeface="Helvetica Neue"/>
              </a:rPr>
              <a:t>4 · Launch &amp; measure</a:t>
            </a:r>
          </a:p>
          <a:p>
            <a:pPr algn="ctr"/>
            <a:r>
              <a:rPr sz="1150" b="0" i="0">
                <a:solidFill>
                  <a:srgbClr val="5F6368"/>
                </a:solidFill>
                <a:latin typeface="Helvetica Neue"/>
              </a:rPr>
              <a:t>Go live channel by channel; watch containment and CSAT from week 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97680"/>
            <a:ext cx="11064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500" b="0" i="0">
                <a:solidFill>
                  <a:srgbClr val="1F2328"/>
                </a:solidFill>
                <a:latin typeface="Helvetica Neue"/>
              </a:rPr>
              <a:t>The demo already exercises every moving part — production is configuration and branding, not a rebuild. A phased launch (e.g. WhatsApp first) de-risks adoption.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F6368"/>
                </a:solidFill>
                <a:latin typeface="Helvetica Neue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B57D0"/>
                </a:solidFill>
                <a:latin typeface="Helvetica Neue"/>
              </a:rP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2328"/>
                </a:solidFill>
                <a:latin typeface="Helvetica Neue"/>
              </a:rPr>
              <a:t>What you'll see in the live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502920" cy="38100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450" b="1" i="0">
                <a:solidFill>
                  <a:srgbClr val="1F2328"/>
                </a:solidFill>
                <a:latin typeface="Helvetica Neue"/>
              </a:rPr>
              <a:t>1 · Web chat — </a:t>
            </a:r>
            <a:r>
              <a:rPr sz="1450" b="0" i="0">
                <a:solidFill>
                  <a:srgbClr val="1F2328"/>
                </a:solidFill>
                <a:latin typeface="Helvetica Neue"/>
              </a:rPr>
              <a:t>Ask the website a detailed product question — watch it answer with specs and a product carousel.</a:t>
            </a:r>
          </a:p>
          <a:p>
            <a:pPr>
              <a:spcAft>
                <a:spcPts val="800"/>
              </a:spcAft>
            </a:pPr>
            <a:r>
              <a:rPr sz="14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450" b="1" i="0">
                <a:solidFill>
                  <a:srgbClr val="1F2328"/>
                </a:solidFill>
                <a:latin typeface="Helvetica Neue"/>
              </a:rPr>
              <a:t>2 · Web voice — </a:t>
            </a:r>
            <a:r>
              <a:rPr sz="1450" b="0" i="0">
                <a:solidFill>
                  <a:srgbClr val="1F2328"/>
                </a:solidFill>
                <a:latin typeface="Helvetica Neue"/>
              </a:rPr>
              <a:t>Ask the same thing by voice and hear the reply.</a:t>
            </a:r>
          </a:p>
          <a:p>
            <a:pPr>
              <a:spcAft>
                <a:spcPts val="800"/>
              </a:spcAft>
            </a:pPr>
            <a:r>
              <a:rPr sz="14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450" b="1" i="0">
                <a:solidFill>
                  <a:srgbClr val="1F2328"/>
                </a:solidFill>
                <a:latin typeface="Helvetica Neue"/>
              </a:rPr>
              <a:t>3 · WhatsApp — </a:t>
            </a:r>
            <a:r>
              <a:rPr sz="1450" b="0" i="0">
                <a:solidFill>
                  <a:srgbClr val="1F2328"/>
                </a:solidFill>
                <a:latin typeface="Helvetica Neue"/>
              </a:rPr>
              <a:t>Message the demo WhatsApp number from your own phone.</a:t>
            </a:r>
          </a:p>
          <a:p>
            <a:pPr>
              <a:spcAft>
                <a:spcPts val="800"/>
              </a:spcAft>
            </a:pPr>
            <a:r>
              <a:rPr sz="14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450" b="1" i="0">
                <a:solidFill>
                  <a:srgbClr val="1F2328"/>
                </a:solidFill>
                <a:latin typeface="Helvetica Neue"/>
              </a:rPr>
              <a:t>4 · Phone — </a:t>
            </a:r>
            <a:r>
              <a:rPr sz="1450" b="0" i="0">
                <a:solidFill>
                  <a:srgbClr val="1F2328"/>
                </a:solidFill>
                <a:latin typeface="Helvetica Neue"/>
              </a:rPr>
              <a:t>Call the demo number and have a spoken conversation with the AI.</a:t>
            </a:r>
          </a:p>
          <a:p>
            <a:pPr>
              <a:spcAft>
                <a:spcPts val="800"/>
              </a:spcAft>
            </a:pPr>
            <a:r>
              <a:rPr sz="14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450" b="1" i="0">
                <a:solidFill>
                  <a:srgbClr val="1F2328"/>
                </a:solidFill>
                <a:latin typeface="Helvetica Neue"/>
              </a:rPr>
              <a:t>5 · Handoff — </a:t>
            </a:r>
            <a:r>
              <a:rPr sz="1450" b="0" i="0">
                <a:solidFill>
                  <a:srgbClr val="1F2328"/>
                </a:solidFill>
                <a:latin typeface="Helvetica Neue"/>
              </a:rPr>
              <a:t>Type an angry message — watch a ticket appear in Zendesk, reply as the agent, and see the customer get it on their channel.</a:t>
            </a:r>
          </a:p>
          <a:p>
            <a:pPr>
              <a:spcAft>
                <a:spcPts val="800"/>
              </a:spcAft>
            </a:pPr>
            <a:r>
              <a:rPr sz="14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450" b="1" i="0">
                <a:solidFill>
                  <a:srgbClr val="1F2328"/>
                </a:solidFill>
                <a:latin typeface="Helvetica Neue"/>
              </a:rPr>
              <a:t>6 · Handback + CSAT — </a:t>
            </a:r>
            <a:r>
              <a:rPr sz="1450" b="0" i="0">
                <a:solidFill>
                  <a:srgbClr val="1F2328"/>
                </a:solidFill>
                <a:latin typeface="Helvetica Neue"/>
              </a:rPr>
              <a:t>Solve the ticket — the AI resumes and asks for a rating.</a:t>
            </a:r>
          </a:p>
          <a:p>
            <a:pPr>
              <a:spcAft>
                <a:spcPts val="800"/>
              </a:spcAft>
            </a:pPr>
            <a:r>
              <a:rPr sz="14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450" b="1" i="0">
                <a:solidFill>
                  <a:srgbClr val="1F2328"/>
                </a:solidFill>
                <a:latin typeface="Helvetica Neue"/>
              </a:rPr>
              <a:t>7 · Dashboard — </a:t>
            </a:r>
            <a:r>
              <a:rPr sz="1450" b="0" i="0">
                <a:solidFill>
                  <a:srgbClr val="1F2328"/>
                </a:solidFill>
                <a:latin typeface="Helvetica Neue"/>
              </a:rPr>
              <a:t>Open the metrics dashboard and see today's demo traffic in the numbers.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F6368"/>
                </a:solidFill>
                <a:latin typeface="Helvetica Neue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B57D0"/>
                </a:solidFill>
                <a:latin typeface="Helvetica Neue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2328"/>
                </a:solidFill>
                <a:latin typeface="Helvetica Neue"/>
              </a:rPr>
              <a:t>Where we go from here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502920" cy="38100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600" b="1" i="0">
                <a:solidFill>
                  <a:srgbClr val="1F2328"/>
                </a:solidFill>
                <a:latin typeface="Helvetica Neue"/>
              </a:rPr>
              <a:t>Decide — </a:t>
            </a:r>
            <a:r>
              <a:rPr sz="1600" b="0" i="0">
                <a:solidFill>
                  <a:srgbClr val="1F2328"/>
                </a:solidFill>
                <a:latin typeface="Helvetica Neue"/>
              </a:rPr>
              <a:t>Pick the launch channels and the first brand/market.</a:t>
            </a:r>
          </a:p>
          <a:p>
            <a:pPr>
              <a:spcAft>
                <a:spcPts val="1400"/>
              </a:spcAft>
            </a:pPr>
            <a:r>
              <a:rPr sz="160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600" b="1" i="0">
                <a:solidFill>
                  <a:srgbClr val="1F2328"/>
                </a:solidFill>
                <a:latin typeface="Helvetica Neue"/>
              </a:rPr>
              <a:t>Prepare — </a:t>
            </a:r>
            <a:r>
              <a:rPr sz="1600" b="0" i="0">
                <a:solidFill>
                  <a:srgbClr val="1F2328"/>
                </a:solidFill>
                <a:latin typeface="Helvetica Neue"/>
              </a:rPr>
              <a:t>Share your product content — we onboard the knowledge base and tune the brand voice.</a:t>
            </a:r>
          </a:p>
          <a:p>
            <a:pPr>
              <a:spcAft>
                <a:spcPts val="1400"/>
              </a:spcAft>
            </a:pPr>
            <a:r>
              <a:rPr sz="160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600" b="1" i="0">
                <a:solidFill>
                  <a:srgbClr val="1F2328"/>
                </a:solidFill>
                <a:latin typeface="Helvetica Neue"/>
              </a:rPr>
              <a:t>Pilot — </a:t>
            </a:r>
            <a:r>
              <a:rPr sz="1600" b="0" i="0">
                <a:solidFill>
                  <a:srgbClr val="1F2328"/>
                </a:solidFill>
                <a:latin typeface="Helvetica Neue"/>
              </a:rPr>
              <a:t>A pilot deployment on your accounts is roughly a one-day setup, then a measured pilot period with weekly numbers.</a:t>
            </a:r>
          </a:p>
          <a:p>
            <a:pPr>
              <a:spcAft>
                <a:spcPts val="1400"/>
              </a:spcAft>
            </a:pPr>
            <a:r>
              <a:rPr sz="160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600" b="1" i="0">
                <a:solidFill>
                  <a:srgbClr val="1F2328"/>
                </a:solidFill>
                <a:latin typeface="Helvetica Neue"/>
              </a:rPr>
              <a:t>Scale — </a:t>
            </a:r>
            <a:r>
              <a:rPr sz="1600" b="0" i="0">
                <a:solidFill>
                  <a:srgbClr val="1F2328"/>
                </a:solidFill>
                <a:latin typeface="Helvetica Neue"/>
              </a:rPr>
              <a:t>Review containment, CSAT and cost per conversation together — then scale to the remaining channels.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0B57D0"/>
                </a:solidFill>
                <a:latin typeface="Helvetica Neue"/>
              </a:rPr>
              <a:t>One AI agent. Five channels. Your team in control — and the numbers to prove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F6368"/>
                </a:solidFill>
                <a:latin typeface="Helvetica Neue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